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6294582" y="464311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" name="Text 1"/>
          <p:cNvSpPr txBox="1"/>
          <p:nvPr/>
        </p:nvSpPr>
        <p:spPr>
          <a:xfrm>
            <a:off x="2239976" y="1141512"/>
            <a:ext cx="4663900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x CINNOX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2602790" y="1817783"/>
            <a:ext cx="393812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智能客服解决方案</a:t>
            </a:r>
          </a:p>
        </p:txBody>
      </p:sp>
      <p:sp>
        <p:nvSpPr>
          <p:cNvPr id="23" name="Text 3"/>
          <p:cNvSpPr/>
          <p:nvPr/>
        </p:nvSpPr>
        <p:spPr>
          <a:xfrm>
            <a:off x="4063901" y="2608359"/>
            <a:ext cx="1015905" cy="25305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" name="Text 4"/>
          <p:cNvSpPr txBox="1"/>
          <p:nvPr/>
        </p:nvSpPr>
        <p:spPr>
          <a:xfrm>
            <a:off x="2550721" y="2887563"/>
            <a:ext cx="404241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3000"/>
              </a:spcBef>
              <a:defRPr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基于真实对话数据的 AI Agent 方案提案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4135563" y="3582887"/>
            <a:ext cx="87272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2026 年 3 月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2820783" y="4046339"/>
            <a:ext cx="3502286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0"/>
              </a:spcBef>
              <a:defRPr sz="14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 |  CINNOX / M800</a:t>
            </a:r>
          </a:p>
        </p:txBody>
      </p:sp>
      <p:sp>
        <p:nvSpPr>
          <p:cNvPr id="27" name="Text 7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" name="Text 1"/>
          <p:cNvSpPr/>
          <p:nvPr/>
        </p:nvSpPr>
        <p:spPr>
          <a:xfrm>
            <a:off x="380996" y="301674"/>
            <a:ext cx="1208194" cy="244377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" name="Text 2"/>
          <p:cNvSpPr txBox="1"/>
          <p:nvPr/>
        </p:nvSpPr>
        <p:spPr>
          <a:xfrm>
            <a:off x="533398" y="352424"/>
            <a:ext cx="92145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SITUATION</a:t>
            </a:r>
          </a:p>
        </p:txBody>
      </p:sp>
      <p:sp>
        <p:nvSpPr>
          <p:cNvPr id="32" name="Text 3"/>
          <p:cNvSpPr txBox="1"/>
          <p:nvPr/>
        </p:nvSpPr>
        <p:spPr>
          <a:xfrm>
            <a:off x="1792333" y="228600"/>
            <a:ext cx="2327323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平台概览</a:t>
            </a:r>
          </a:p>
        </p:txBody>
      </p:sp>
      <p:sp>
        <p:nvSpPr>
          <p:cNvPr id="33" name="Text 4"/>
          <p:cNvSpPr/>
          <p:nvPr/>
        </p:nvSpPr>
        <p:spPr>
          <a:xfrm>
            <a:off x="381000" y="1025425"/>
            <a:ext cx="4089352" cy="996555"/>
          </a:xfrm>
          <a:prstGeom prst="roundRect">
            <a:avLst>
              <a:gd name="adj" fmla="val 764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" name="Shape 5"/>
          <p:cNvSpPr/>
          <p:nvPr/>
        </p:nvSpPr>
        <p:spPr>
          <a:xfrm flipH="1">
            <a:off x="404813" y="1025425"/>
            <a:ext cx="4" cy="996555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606326" y="1190475"/>
            <a:ext cx="3760050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全渠道通信平台</a:t>
            </a:r>
          </a:p>
        </p:txBody>
      </p:sp>
      <p:sp>
        <p:nvSpPr>
          <p:cNvPr id="36" name="Text 7"/>
          <p:cNvSpPr txBox="1"/>
          <p:nvPr/>
        </p:nvSpPr>
        <p:spPr>
          <a:xfrm>
            <a:off x="606326" y="1476225"/>
            <a:ext cx="3760050" cy="3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是 M800 集团旗下企业级全渠道客户互动平台，整合即时通讯、语音通话、视频会议、社交媒体于一体。</a:t>
            </a:r>
          </a:p>
        </p:txBody>
      </p:sp>
      <p:sp>
        <p:nvSpPr>
          <p:cNvPr id="37" name="Text 8"/>
          <p:cNvSpPr/>
          <p:nvPr/>
        </p:nvSpPr>
        <p:spPr>
          <a:xfrm>
            <a:off x="381000" y="2123480"/>
            <a:ext cx="4089352" cy="1263108"/>
          </a:xfrm>
          <a:prstGeom prst="roundRect">
            <a:avLst>
              <a:gd name="adj" fmla="val 603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8" name="Shape 9"/>
          <p:cNvSpPr/>
          <p:nvPr/>
        </p:nvSpPr>
        <p:spPr>
          <a:xfrm flipH="1">
            <a:off x="404813" y="2123480"/>
            <a:ext cx="4" cy="1263108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" name="Text 10"/>
          <p:cNvSpPr txBox="1"/>
          <p:nvPr/>
        </p:nvSpPr>
        <p:spPr>
          <a:xfrm>
            <a:off x="606326" y="2288530"/>
            <a:ext cx="3760050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三档产品线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606326" y="2574280"/>
            <a:ext cx="3760050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defRPr b="1"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Digital Connect (DC)</a:t>
            </a:r>
            <a:r>
              <a:rPr b="0"/>
              <a:t> - 基础版全渠道客服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606326" y="2802731"/>
            <a:ext cx="3760050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defRPr b="1"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Omnichannel Contact Centre (OCC)</a:t>
            </a:r>
            <a:r>
              <a:rPr b="0"/>
              <a:t> - 专业联络中心</a:t>
            </a:r>
          </a:p>
        </p:txBody>
      </p:sp>
      <p:sp>
        <p:nvSpPr>
          <p:cNvPr id="42" name="Text 13"/>
          <p:cNvSpPr txBox="1"/>
          <p:nvPr/>
        </p:nvSpPr>
        <p:spPr>
          <a:xfrm>
            <a:off x="606326" y="3031182"/>
            <a:ext cx="3760050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defRPr b="1"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CX Hub</a:t>
            </a:r>
            <a:r>
              <a:rPr b="0"/>
              <a:t> - 企业级客户体验中心</a:t>
            </a:r>
          </a:p>
        </p:txBody>
      </p:sp>
      <p:sp>
        <p:nvSpPr>
          <p:cNvPr id="43" name="Text 14"/>
          <p:cNvSpPr/>
          <p:nvPr/>
        </p:nvSpPr>
        <p:spPr>
          <a:xfrm>
            <a:off x="381000" y="3488085"/>
            <a:ext cx="4089352" cy="996557"/>
          </a:xfrm>
          <a:prstGeom prst="roundRect">
            <a:avLst>
              <a:gd name="adj" fmla="val 764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" name="Shape 15"/>
          <p:cNvSpPr/>
          <p:nvPr/>
        </p:nvSpPr>
        <p:spPr>
          <a:xfrm flipH="1">
            <a:off x="404813" y="3488085"/>
            <a:ext cx="4" cy="996555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" name="Text 16"/>
          <p:cNvSpPr txBox="1"/>
          <p:nvPr/>
        </p:nvSpPr>
        <p:spPr>
          <a:xfrm>
            <a:off x="606326" y="3653135"/>
            <a:ext cx="3760050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全球电信能力</a:t>
            </a:r>
          </a:p>
        </p:txBody>
      </p:sp>
      <p:sp>
        <p:nvSpPr>
          <p:cNvPr id="46" name="Text 17"/>
          <p:cNvSpPr txBox="1"/>
          <p:nvPr/>
        </p:nvSpPr>
        <p:spPr>
          <a:xfrm>
            <a:off x="606326" y="3938885"/>
            <a:ext cx="3760050" cy="3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虚拟号码 (DID)、SMS/OTP、SIP 语音、WhatsApp Business 集成，覆盖全球 100+ 国家和地区。</a:t>
            </a:r>
          </a:p>
        </p:txBody>
      </p:sp>
      <p:sp>
        <p:nvSpPr>
          <p:cNvPr id="47" name="Text 18"/>
          <p:cNvSpPr/>
          <p:nvPr/>
        </p:nvSpPr>
        <p:spPr>
          <a:xfrm>
            <a:off x="4673501" y="1025425"/>
            <a:ext cx="4089499" cy="996555"/>
          </a:xfrm>
          <a:prstGeom prst="roundRect">
            <a:avLst>
              <a:gd name="adj" fmla="val 7646"/>
            </a:avLst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" name="Text 19"/>
          <p:cNvSpPr txBox="1"/>
          <p:nvPr/>
        </p:nvSpPr>
        <p:spPr>
          <a:xfrm>
            <a:off x="4851201" y="1190475"/>
            <a:ext cx="3808782" cy="192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Sales Bot</a:t>
            </a:r>
          </a:p>
        </p:txBody>
      </p:sp>
      <p:sp>
        <p:nvSpPr>
          <p:cNvPr id="49" name="Text 20"/>
          <p:cNvSpPr txBox="1"/>
          <p:nvPr/>
        </p:nvSpPr>
        <p:spPr>
          <a:xfrm>
            <a:off x="4851201" y="1476225"/>
            <a:ext cx="3808782" cy="3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M800 同步布局 AI 语音销售机器人产品线，支持外呼 (Outbound) 和呼入 (Inbound) 场景，与 CINNOX 平台深度集成。</a:t>
            </a:r>
          </a:p>
        </p:txBody>
      </p:sp>
      <p:sp>
        <p:nvSpPr>
          <p:cNvPr id="50" name="Text 21"/>
          <p:cNvSpPr/>
          <p:nvPr/>
        </p:nvSpPr>
        <p:spPr>
          <a:xfrm>
            <a:off x="4673501" y="2123480"/>
            <a:ext cx="4089499" cy="1948461"/>
          </a:xfrm>
          <a:prstGeom prst="roundRect">
            <a:avLst>
              <a:gd name="adj" fmla="val 391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" name="Shape 22"/>
          <p:cNvSpPr/>
          <p:nvPr/>
        </p:nvSpPr>
        <p:spPr>
          <a:xfrm>
            <a:off x="4697312" y="2123480"/>
            <a:ext cx="4" cy="1948461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" name="Text 23"/>
          <p:cNvSpPr txBox="1"/>
          <p:nvPr/>
        </p:nvSpPr>
        <p:spPr>
          <a:xfrm>
            <a:off x="4898827" y="2288530"/>
            <a:ext cx="3760202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核心服务能力</a:t>
            </a:r>
          </a:p>
        </p:txBody>
      </p:sp>
      <p:sp>
        <p:nvSpPr>
          <p:cNvPr id="53" name="Text 24"/>
          <p:cNvSpPr txBox="1"/>
          <p:nvPr/>
        </p:nvSpPr>
        <p:spPr>
          <a:xfrm>
            <a:off x="4898827" y="2574280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WhatsApp Business 集成</a:t>
            </a:r>
          </a:p>
        </p:txBody>
      </p:sp>
      <p:sp>
        <p:nvSpPr>
          <p:cNvPr id="54" name="Text 25"/>
          <p:cNvSpPr txBox="1"/>
          <p:nvPr/>
        </p:nvSpPr>
        <p:spPr>
          <a:xfrm>
            <a:off x="4898827" y="2802731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全球虚拟号码 (DID) 供应</a:t>
            </a:r>
          </a:p>
        </p:txBody>
      </p:sp>
      <p:sp>
        <p:nvSpPr>
          <p:cNvPr id="55" name="Text 26"/>
          <p:cNvSpPr txBox="1"/>
          <p:nvPr/>
        </p:nvSpPr>
        <p:spPr>
          <a:xfrm>
            <a:off x="4898827" y="3031182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SMS / OTP 验证服务</a:t>
            </a:r>
          </a:p>
        </p:txBody>
      </p:sp>
      <p:sp>
        <p:nvSpPr>
          <p:cNvPr id="56" name="Text 27"/>
          <p:cNvSpPr txBox="1"/>
          <p:nvPr/>
        </p:nvSpPr>
        <p:spPr>
          <a:xfrm>
            <a:off x="4898827" y="3259632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SIP 语音通话</a:t>
            </a:r>
          </a:p>
        </p:txBody>
      </p:sp>
      <p:sp>
        <p:nvSpPr>
          <p:cNvPr id="57" name="Text 28"/>
          <p:cNvSpPr txBox="1"/>
          <p:nvPr/>
        </p:nvSpPr>
        <p:spPr>
          <a:xfrm>
            <a:off x="4898827" y="3488085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 API 开放接口</a:t>
            </a:r>
          </a:p>
        </p:txBody>
      </p:sp>
      <p:sp>
        <p:nvSpPr>
          <p:cNvPr id="58" name="Text 29"/>
          <p:cNvSpPr txBox="1"/>
          <p:nvPr/>
        </p:nvSpPr>
        <p:spPr>
          <a:xfrm>
            <a:off x="4898827" y="3716535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IVR 语音导航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1" name="Text 1"/>
          <p:cNvSpPr/>
          <p:nvPr/>
        </p:nvSpPr>
        <p:spPr>
          <a:xfrm>
            <a:off x="380996" y="301674"/>
            <a:ext cx="1208194" cy="244377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2" name="Text 2"/>
          <p:cNvSpPr txBox="1"/>
          <p:nvPr/>
        </p:nvSpPr>
        <p:spPr>
          <a:xfrm>
            <a:off x="533398" y="352424"/>
            <a:ext cx="92145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SITUATION</a:t>
            </a:r>
          </a:p>
        </p:txBody>
      </p:sp>
      <p:sp>
        <p:nvSpPr>
          <p:cNvPr id="63" name="Text 3"/>
          <p:cNvSpPr txBox="1"/>
          <p:nvPr/>
        </p:nvSpPr>
        <p:spPr>
          <a:xfrm>
            <a:off x="1792334" y="228600"/>
            <a:ext cx="2723078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现有 AI 客服部署现状</a:t>
            </a:r>
          </a:p>
        </p:txBody>
      </p:sp>
      <p:sp>
        <p:nvSpPr>
          <p:cNvPr id="64" name="Text 4"/>
          <p:cNvSpPr/>
          <p:nvPr/>
        </p:nvSpPr>
        <p:spPr>
          <a:xfrm>
            <a:off x="381000" y="1000125"/>
            <a:ext cx="1556147" cy="812602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5" name="Shape 5"/>
          <p:cNvSpPr/>
          <p:nvPr/>
        </p:nvSpPr>
        <p:spPr>
          <a:xfrm>
            <a:off x="380997" y="1019175"/>
            <a:ext cx="1556152" cy="0"/>
          </a:xfrm>
          <a:prstGeom prst="line">
            <a:avLst/>
          </a:prstGeom>
          <a:ln w="38100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" name="Text 6"/>
          <p:cNvSpPr txBox="1"/>
          <p:nvPr/>
        </p:nvSpPr>
        <p:spPr>
          <a:xfrm>
            <a:off x="494927" y="1165175"/>
            <a:ext cx="1328293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" name="Text 7"/>
          <p:cNvSpPr txBox="1"/>
          <p:nvPr/>
        </p:nvSpPr>
        <p:spPr>
          <a:xfrm>
            <a:off x="494927" y="1542900"/>
            <a:ext cx="13282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机器人实例</a:t>
            </a:r>
          </a:p>
        </p:txBody>
      </p:sp>
      <p:sp>
        <p:nvSpPr>
          <p:cNvPr id="68" name="Text 8"/>
          <p:cNvSpPr/>
          <p:nvPr/>
        </p:nvSpPr>
        <p:spPr>
          <a:xfrm>
            <a:off x="2064097" y="1000125"/>
            <a:ext cx="1556300" cy="812602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" name="Shape 9"/>
          <p:cNvSpPr/>
          <p:nvPr/>
        </p:nvSpPr>
        <p:spPr>
          <a:xfrm>
            <a:off x="2064097" y="1019175"/>
            <a:ext cx="1556300" cy="0"/>
          </a:xfrm>
          <a:prstGeom prst="line">
            <a:avLst/>
          </a:prstGeom>
          <a:ln w="38100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" name="Text 10"/>
          <p:cNvSpPr txBox="1"/>
          <p:nvPr/>
        </p:nvSpPr>
        <p:spPr>
          <a:xfrm>
            <a:off x="2178024" y="1165175"/>
            <a:ext cx="1328447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71" name="Text 11"/>
          <p:cNvSpPr txBox="1"/>
          <p:nvPr/>
        </p:nvSpPr>
        <p:spPr>
          <a:xfrm>
            <a:off x="2178024" y="1542900"/>
            <a:ext cx="132844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咨询场景分类</a:t>
            </a:r>
          </a:p>
        </p:txBody>
      </p:sp>
      <p:sp>
        <p:nvSpPr>
          <p:cNvPr id="72" name="Text 12"/>
          <p:cNvSpPr/>
          <p:nvPr/>
        </p:nvSpPr>
        <p:spPr>
          <a:xfrm>
            <a:off x="3747341" y="1000125"/>
            <a:ext cx="1556300" cy="812602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" name="Shape 13"/>
          <p:cNvSpPr/>
          <p:nvPr/>
        </p:nvSpPr>
        <p:spPr>
          <a:xfrm>
            <a:off x="3747341" y="1019175"/>
            <a:ext cx="1556300" cy="0"/>
          </a:xfrm>
          <a:prstGeom prst="line">
            <a:avLst/>
          </a:prstGeom>
          <a:ln w="38100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" name="Text 14"/>
          <p:cNvSpPr txBox="1"/>
          <p:nvPr/>
        </p:nvSpPr>
        <p:spPr>
          <a:xfrm>
            <a:off x="3861270" y="1165175"/>
            <a:ext cx="1328447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75" name="Text 15"/>
          <p:cNvSpPr txBox="1"/>
          <p:nvPr/>
        </p:nvSpPr>
        <p:spPr>
          <a:xfrm>
            <a:off x="3861270" y="1542900"/>
            <a:ext cx="132844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分析对话样本</a:t>
            </a:r>
          </a:p>
        </p:txBody>
      </p:sp>
      <p:sp>
        <p:nvSpPr>
          <p:cNvPr id="76" name="Text 16"/>
          <p:cNvSpPr/>
          <p:nvPr/>
        </p:nvSpPr>
        <p:spPr>
          <a:xfrm>
            <a:off x="381000" y="1939675"/>
            <a:ext cx="4922640" cy="878238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7" name="Shape 17"/>
          <p:cNvSpPr/>
          <p:nvPr/>
        </p:nvSpPr>
        <p:spPr>
          <a:xfrm flipH="1">
            <a:off x="404813" y="1939675"/>
            <a:ext cx="4" cy="878238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" name="Text 18"/>
          <p:cNvSpPr txBox="1"/>
          <p:nvPr/>
        </p:nvSpPr>
        <p:spPr>
          <a:xfrm>
            <a:off x="581022" y="2091925"/>
            <a:ext cx="4661624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已部署 AI 机器人</a:t>
            </a:r>
          </a:p>
        </p:txBody>
      </p:sp>
      <p:sp>
        <p:nvSpPr>
          <p:cNvPr id="79" name="Text 19"/>
          <p:cNvSpPr txBox="1"/>
          <p:nvPr/>
        </p:nvSpPr>
        <p:spPr>
          <a:xfrm>
            <a:off x="581022" y="2320376"/>
            <a:ext cx="4661624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官网部署 Vega、Mira、Chihiro 三个 AI 实例处理客户咨询，覆盖 18 类场景。</a:t>
            </a:r>
          </a:p>
        </p:txBody>
      </p:sp>
      <p:sp>
        <p:nvSpPr>
          <p:cNvPr id="80" name="Text 20"/>
          <p:cNvSpPr txBox="1"/>
          <p:nvPr/>
        </p:nvSpPr>
        <p:spPr>
          <a:xfrm>
            <a:off x="581022" y="2505667"/>
            <a:ext cx="4661624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以 Broadcast Chat 广播模式运行，与人工客服并行。</a:t>
            </a:r>
          </a:p>
        </p:txBody>
      </p:sp>
      <p:sp>
        <p:nvSpPr>
          <p:cNvPr id="81" name="Text 21"/>
          <p:cNvSpPr/>
          <p:nvPr/>
        </p:nvSpPr>
        <p:spPr>
          <a:xfrm>
            <a:off x="381000" y="2919413"/>
            <a:ext cx="4922640" cy="692948"/>
          </a:xfrm>
          <a:prstGeom prst="roundRect">
            <a:avLst>
              <a:gd name="adj" fmla="val 1099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2" name="Shape 22"/>
          <p:cNvSpPr/>
          <p:nvPr/>
        </p:nvSpPr>
        <p:spPr>
          <a:xfrm flipH="1">
            <a:off x="404813" y="2919413"/>
            <a:ext cx="4" cy="692948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" name="Text 23"/>
          <p:cNvSpPr txBox="1"/>
          <p:nvPr/>
        </p:nvSpPr>
        <p:spPr>
          <a:xfrm>
            <a:off x="581022" y="3071664"/>
            <a:ext cx="4661624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人工客服团队</a:t>
            </a:r>
          </a:p>
        </p:txBody>
      </p:sp>
      <p:sp>
        <p:nvSpPr>
          <p:cNvPr id="84" name="Text 24"/>
          <p:cNvSpPr txBox="1"/>
          <p:nvPr/>
        </p:nvSpPr>
        <p:spPr>
          <a:xfrm>
            <a:off x="581022" y="3300114"/>
            <a:ext cx="4661624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 名人工客服参与 escalation 接管。Sandy Fan 为最高频接单人员。</a:t>
            </a:r>
          </a:p>
        </p:txBody>
      </p:sp>
      <p:sp>
        <p:nvSpPr>
          <p:cNvPr id="85" name="Text 25"/>
          <p:cNvSpPr/>
          <p:nvPr/>
        </p:nvSpPr>
        <p:spPr>
          <a:xfrm>
            <a:off x="5481339" y="1000125"/>
            <a:ext cx="3281661" cy="161940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" name="Shape 26"/>
          <p:cNvSpPr/>
          <p:nvPr/>
        </p:nvSpPr>
        <p:spPr>
          <a:xfrm>
            <a:off x="5505151" y="1000124"/>
            <a:ext cx="4" cy="1619404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" name="Text 27"/>
          <p:cNvSpPr txBox="1"/>
          <p:nvPr/>
        </p:nvSpPr>
        <p:spPr>
          <a:xfrm>
            <a:off x="5681364" y="1152375"/>
            <a:ext cx="2987824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咨询场景分布</a:t>
            </a:r>
          </a:p>
        </p:txBody>
      </p:sp>
      <p:sp>
        <p:nvSpPr>
          <p:cNvPr id="88" name="Text 28"/>
          <p:cNvSpPr txBox="1"/>
          <p:nvPr/>
        </p:nvSpPr>
        <p:spPr>
          <a:xfrm>
            <a:off x="5681364" y="1380825"/>
            <a:ext cx="2987824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sales / virtual number</a:t>
            </a:r>
          </a:p>
        </p:txBody>
      </p:sp>
      <p:sp>
        <p:nvSpPr>
          <p:cNvPr id="89" name="Text 29"/>
          <p:cNvSpPr txBox="1"/>
          <p:nvPr/>
        </p:nvSpPr>
        <p:spPr>
          <a:xfrm>
            <a:off x="5681364" y="1566117"/>
            <a:ext cx="2987824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 / SMS-OTP</a:t>
            </a:r>
          </a:p>
        </p:txBody>
      </p:sp>
      <p:sp>
        <p:nvSpPr>
          <p:cNvPr id="90" name="Text 30"/>
          <p:cNvSpPr txBox="1"/>
          <p:nvPr/>
        </p:nvSpPr>
        <p:spPr>
          <a:xfrm>
            <a:off x="5681364" y="1751408"/>
            <a:ext cx="2987824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upgrade / partnership</a:t>
            </a:r>
          </a:p>
        </p:txBody>
      </p:sp>
      <p:sp>
        <p:nvSpPr>
          <p:cNvPr id="91" name="Text 31"/>
          <p:cNvSpPr txBox="1"/>
          <p:nvPr/>
        </p:nvSpPr>
        <p:spPr>
          <a:xfrm>
            <a:off x="5681364" y="1936700"/>
            <a:ext cx="2987824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complaint / voice</a:t>
            </a:r>
          </a:p>
        </p:txBody>
      </p:sp>
      <p:sp>
        <p:nvSpPr>
          <p:cNvPr id="92" name="Text 32"/>
          <p:cNvSpPr txBox="1"/>
          <p:nvPr/>
        </p:nvSpPr>
        <p:spPr>
          <a:xfrm>
            <a:off x="5681364" y="2121991"/>
            <a:ext cx="2987824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demo / termination</a:t>
            </a:r>
          </a:p>
        </p:txBody>
      </p:sp>
      <p:sp>
        <p:nvSpPr>
          <p:cNvPr id="93" name="Text 33"/>
          <p:cNvSpPr txBox="1"/>
          <p:nvPr/>
        </p:nvSpPr>
        <p:spPr>
          <a:xfrm>
            <a:off x="5681364" y="2307282"/>
            <a:ext cx="2987824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chatbot / target China</a:t>
            </a:r>
          </a:p>
        </p:txBody>
      </p:sp>
      <p:sp>
        <p:nvSpPr>
          <p:cNvPr id="94" name="Text 34"/>
          <p:cNvSpPr/>
          <p:nvPr/>
        </p:nvSpPr>
        <p:spPr>
          <a:xfrm>
            <a:off x="5481339" y="2721024"/>
            <a:ext cx="3281661" cy="653657"/>
          </a:xfrm>
          <a:prstGeom prst="roundRect">
            <a:avLst>
              <a:gd name="adj" fmla="val 7772"/>
            </a:avLst>
          </a:prstGeom>
          <a:solidFill>
            <a:srgbClr val="E8F4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" name="Text 35"/>
          <p:cNvSpPr txBox="1"/>
          <p:nvPr/>
        </p:nvSpPr>
        <p:spPr>
          <a:xfrm>
            <a:off x="5608289" y="2835175"/>
            <a:ext cx="308831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数据来源</a:t>
            </a:r>
          </a:p>
        </p:txBody>
      </p:sp>
      <p:sp>
        <p:nvSpPr>
          <p:cNvPr id="96" name="Text 36"/>
          <p:cNvSpPr txBox="1"/>
          <p:nvPr/>
        </p:nvSpPr>
        <p:spPr>
          <a:xfrm>
            <a:off x="5608289" y="2990700"/>
            <a:ext cx="308831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提供的真实对话记录</a:t>
            </a:r>
          </a:p>
        </p:txBody>
      </p:sp>
      <p:sp>
        <p:nvSpPr>
          <p:cNvPr id="97" name="Text 37"/>
          <p:cNvSpPr txBox="1"/>
          <p:nvPr/>
        </p:nvSpPr>
        <p:spPr>
          <a:xfrm>
            <a:off x="5608289" y="3146225"/>
            <a:ext cx="3088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2025.12 - 2026.02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0" y="-2"/>
            <a:ext cx="9144000" cy="7968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0" name="Text 1"/>
          <p:cNvSpPr/>
          <p:nvPr/>
        </p:nvSpPr>
        <p:spPr>
          <a:xfrm>
            <a:off x="380998" y="276225"/>
            <a:ext cx="1117554" cy="244376"/>
          </a:xfrm>
          <a:prstGeom prst="rect">
            <a:avLst/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1" name="Text 2"/>
          <p:cNvSpPr txBox="1"/>
          <p:nvPr/>
        </p:nvSpPr>
        <p:spPr>
          <a:xfrm>
            <a:off x="533398" y="326975"/>
            <a:ext cx="8290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02" name="Text 3"/>
          <p:cNvSpPr txBox="1"/>
          <p:nvPr/>
        </p:nvSpPr>
        <p:spPr>
          <a:xfrm>
            <a:off x="1701700" y="203147"/>
            <a:ext cx="313461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对话数据分析：整体概览</a:t>
            </a:r>
          </a:p>
        </p:txBody>
      </p:sp>
      <p:sp>
        <p:nvSpPr>
          <p:cNvPr id="103" name="Text 4"/>
          <p:cNvSpPr/>
          <p:nvPr/>
        </p:nvSpPr>
        <p:spPr>
          <a:xfrm>
            <a:off x="381000" y="949225"/>
            <a:ext cx="4089352" cy="107305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4" name="Shape 5"/>
          <p:cNvSpPr/>
          <p:nvPr/>
        </p:nvSpPr>
        <p:spPr>
          <a:xfrm>
            <a:off x="380997" y="968275"/>
            <a:ext cx="4089357" cy="4"/>
          </a:xfrm>
          <a:prstGeom prst="line">
            <a:avLst/>
          </a:prstGeom>
          <a:ln w="38100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" name="Text 6"/>
          <p:cNvSpPr txBox="1"/>
          <p:nvPr/>
        </p:nvSpPr>
        <p:spPr>
          <a:xfrm>
            <a:off x="495551" y="1139724"/>
            <a:ext cx="3860248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6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61%</a:t>
            </a:r>
          </a:p>
        </p:txBody>
      </p:sp>
      <p:sp>
        <p:nvSpPr>
          <p:cNvPr id="106" name="Text 7"/>
          <p:cNvSpPr txBox="1"/>
          <p:nvPr/>
        </p:nvSpPr>
        <p:spPr>
          <a:xfrm>
            <a:off x="495551" y="1688900"/>
            <a:ext cx="386024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10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转人工率（100 条对话中 61 次）</a:t>
            </a:r>
          </a:p>
        </p:txBody>
      </p:sp>
      <p:sp>
        <p:nvSpPr>
          <p:cNvPr id="107" name="Text 8"/>
          <p:cNvSpPr/>
          <p:nvPr/>
        </p:nvSpPr>
        <p:spPr>
          <a:xfrm>
            <a:off x="381000" y="2123775"/>
            <a:ext cx="1993851" cy="666456"/>
          </a:xfrm>
          <a:prstGeom prst="roundRect">
            <a:avLst>
              <a:gd name="adj" fmla="val 1143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8" name="Text 9"/>
          <p:cNvSpPr txBox="1"/>
          <p:nvPr/>
        </p:nvSpPr>
        <p:spPr>
          <a:xfrm>
            <a:off x="464591" y="2225275"/>
            <a:ext cx="1826669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109" name="Text 10"/>
          <p:cNvSpPr txBox="1"/>
          <p:nvPr/>
        </p:nvSpPr>
        <p:spPr>
          <a:xfrm>
            <a:off x="464591" y="2545850"/>
            <a:ext cx="18266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异常/过早转人工</a:t>
            </a:r>
          </a:p>
        </p:txBody>
      </p:sp>
      <p:sp>
        <p:nvSpPr>
          <p:cNvPr id="110" name="Text 11"/>
          <p:cNvSpPr/>
          <p:nvPr/>
        </p:nvSpPr>
        <p:spPr>
          <a:xfrm>
            <a:off x="2476350" y="2123775"/>
            <a:ext cx="1994001" cy="666456"/>
          </a:xfrm>
          <a:prstGeom prst="roundRect">
            <a:avLst>
              <a:gd name="adj" fmla="val 1143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1" name="Text 12"/>
          <p:cNvSpPr txBox="1"/>
          <p:nvPr/>
        </p:nvSpPr>
        <p:spPr>
          <a:xfrm>
            <a:off x="2559942" y="2225275"/>
            <a:ext cx="1826818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36</a:t>
            </a:r>
          </a:p>
        </p:txBody>
      </p:sp>
      <p:sp>
        <p:nvSpPr>
          <p:cNvPr id="112" name="Text 13"/>
          <p:cNvSpPr txBox="1"/>
          <p:nvPr/>
        </p:nvSpPr>
        <p:spPr>
          <a:xfrm>
            <a:off x="2559942" y="2545850"/>
            <a:ext cx="182681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正常转人工</a:t>
            </a:r>
          </a:p>
        </p:txBody>
      </p:sp>
      <p:sp>
        <p:nvSpPr>
          <p:cNvPr id="113" name="Text 14"/>
          <p:cNvSpPr/>
          <p:nvPr/>
        </p:nvSpPr>
        <p:spPr>
          <a:xfrm>
            <a:off x="381000" y="2891730"/>
            <a:ext cx="4089352" cy="1300762"/>
          </a:xfrm>
          <a:prstGeom prst="roundRect">
            <a:avLst>
              <a:gd name="adj" fmla="val 585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4" name="Shape 15"/>
          <p:cNvSpPr/>
          <p:nvPr/>
        </p:nvSpPr>
        <p:spPr>
          <a:xfrm flipH="1">
            <a:off x="404813" y="2891730"/>
            <a:ext cx="4" cy="1300762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Text 16"/>
          <p:cNvSpPr txBox="1"/>
          <p:nvPr/>
        </p:nvSpPr>
        <p:spPr>
          <a:xfrm>
            <a:off x="581021" y="3043982"/>
            <a:ext cx="381167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异常转人工分类（25 例）</a:t>
            </a:r>
          </a:p>
        </p:txBody>
      </p:sp>
      <p:sp>
        <p:nvSpPr>
          <p:cNvPr id="116" name="Text 17"/>
          <p:cNvSpPr/>
          <p:nvPr/>
        </p:nvSpPr>
        <p:spPr>
          <a:xfrm>
            <a:off x="581025" y="3299519"/>
            <a:ext cx="711102" cy="164906"/>
          </a:xfrm>
          <a:prstGeom prst="roundRect">
            <a:avLst>
              <a:gd name="adj" fmla="val 23105"/>
            </a:avLst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7" name="Text 18"/>
          <p:cNvSpPr txBox="1"/>
          <p:nvPr/>
        </p:nvSpPr>
        <p:spPr>
          <a:xfrm>
            <a:off x="651637" y="3324819"/>
            <a:ext cx="5698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A</a:t>
            </a:r>
          </a:p>
        </p:txBody>
      </p:sp>
      <p:sp>
        <p:nvSpPr>
          <p:cNvPr id="118" name="Text 19"/>
          <p:cNvSpPr txBox="1"/>
          <p:nvPr/>
        </p:nvSpPr>
        <p:spPr>
          <a:xfrm>
            <a:off x="1368325" y="3301007"/>
            <a:ext cx="99128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23 例</a:t>
            </a:r>
            <a:r>
              <a:rPr b="0"/>
              <a:t> - AI 从未介入</a:t>
            </a:r>
          </a:p>
        </p:txBody>
      </p:sp>
      <p:sp>
        <p:nvSpPr>
          <p:cNvPr id="119" name="Text 20"/>
          <p:cNvSpPr/>
          <p:nvPr/>
        </p:nvSpPr>
        <p:spPr>
          <a:xfrm>
            <a:off x="581025" y="3562796"/>
            <a:ext cx="711102" cy="164906"/>
          </a:xfrm>
          <a:prstGeom prst="roundRect">
            <a:avLst>
              <a:gd name="adj" fmla="val 23105"/>
            </a:avLst>
          </a:prstGeom>
          <a:solidFill>
            <a:srgbClr val="E67E2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0" name="Text 21"/>
          <p:cNvSpPr txBox="1"/>
          <p:nvPr/>
        </p:nvSpPr>
        <p:spPr>
          <a:xfrm>
            <a:off x="651637" y="3588096"/>
            <a:ext cx="5698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</a:t>
            </a:r>
          </a:p>
        </p:txBody>
      </p:sp>
      <p:sp>
        <p:nvSpPr>
          <p:cNvPr id="121" name="Text 22"/>
          <p:cNvSpPr txBox="1"/>
          <p:nvPr/>
        </p:nvSpPr>
        <p:spPr>
          <a:xfrm>
            <a:off x="1368325" y="3564285"/>
            <a:ext cx="92646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 例</a:t>
            </a:r>
            <a:r>
              <a:rPr b="0"/>
              <a:t> - AI 过早退出</a:t>
            </a:r>
          </a:p>
        </p:txBody>
      </p:sp>
      <p:sp>
        <p:nvSpPr>
          <p:cNvPr id="122" name="Text 23"/>
          <p:cNvSpPr/>
          <p:nvPr/>
        </p:nvSpPr>
        <p:spPr>
          <a:xfrm>
            <a:off x="581025" y="3826073"/>
            <a:ext cx="711102" cy="164906"/>
          </a:xfrm>
          <a:prstGeom prst="roundRect">
            <a:avLst>
              <a:gd name="adj" fmla="val 23105"/>
            </a:avLst>
          </a:prstGeom>
          <a:solidFill>
            <a:srgbClr val="F1C40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3" name="Text 24"/>
          <p:cNvSpPr txBox="1"/>
          <p:nvPr/>
        </p:nvSpPr>
        <p:spPr>
          <a:xfrm>
            <a:off x="651637" y="3851373"/>
            <a:ext cx="5698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</a:t>
            </a:r>
          </a:p>
        </p:txBody>
      </p:sp>
      <p:sp>
        <p:nvSpPr>
          <p:cNvPr id="124" name="Text 25"/>
          <p:cNvSpPr txBox="1"/>
          <p:nvPr/>
        </p:nvSpPr>
        <p:spPr>
          <a:xfrm>
            <a:off x="1368324" y="3827562"/>
            <a:ext cx="7839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 例</a:t>
            </a:r>
            <a:r>
              <a:rPr b="0"/>
              <a:t> - 知识盲区</a:t>
            </a:r>
          </a:p>
        </p:txBody>
      </p:sp>
      <p:sp>
        <p:nvSpPr>
          <p:cNvPr id="125" name="Text 34"/>
          <p:cNvSpPr/>
          <p:nvPr/>
        </p:nvSpPr>
        <p:spPr>
          <a:xfrm>
            <a:off x="380999" y="4329855"/>
            <a:ext cx="4089352" cy="653657"/>
          </a:xfrm>
          <a:prstGeom prst="roundRect">
            <a:avLst>
              <a:gd name="adj" fmla="val 7772"/>
            </a:avLst>
          </a:prstGeom>
          <a:solidFill>
            <a:srgbClr val="E8F4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6" name="Text 35"/>
          <p:cNvSpPr txBox="1"/>
          <p:nvPr/>
        </p:nvSpPr>
        <p:spPr>
          <a:xfrm>
            <a:off x="507949" y="4444005"/>
            <a:ext cx="308831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数据来源</a:t>
            </a:r>
          </a:p>
        </p:txBody>
      </p:sp>
      <p:sp>
        <p:nvSpPr>
          <p:cNvPr id="127" name="Text 36"/>
          <p:cNvSpPr txBox="1"/>
          <p:nvPr/>
        </p:nvSpPr>
        <p:spPr>
          <a:xfrm>
            <a:off x="507949" y="4599530"/>
            <a:ext cx="308831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提供的真实对话记录</a:t>
            </a:r>
          </a:p>
        </p:txBody>
      </p:sp>
      <p:sp>
        <p:nvSpPr>
          <p:cNvPr id="128" name="Text 37"/>
          <p:cNvSpPr txBox="1"/>
          <p:nvPr/>
        </p:nvSpPr>
        <p:spPr>
          <a:xfrm>
            <a:off x="507949" y="4755057"/>
            <a:ext cx="30883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2025.12 - 2026.02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0" y="-2"/>
            <a:ext cx="9144000" cy="7587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1" name="Text 1"/>
          <p:cNvSpPr/>
          <p:nvPr/>
        </p:nvSpPr>
        <p:spPr>
          <a:xfrm>
            <a:off x="380998" y="257175"/>
            <a:ext cx="1117554" cy="244376"/>
          </a:xfrm>
          <a:prstGeom prst="rect">
            <a:avLst/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2" name="Text 2"/>
          <p:cNvSpPr txBox="1"/>
          <p:nvPr/>
        </p:nvSpPr>
        <p:spPr>
          <a:xfrm>
            <a:off x="533398" y="307925"/>
            <a:ext cx="8290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33" name="Text 3"/>
          <p:cNvSpPr txBox="1"/>
          <p:nvPr/>
        </p:nvSpPr>
        <p:spPr>
          <a:xfrm>
            <a:off x="1701698" y="203150"/>
            <a:ext cx="359792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A：AI 从未介入（23 例）</a:t>
            </a:r>
          </a:p>
        </p:txBody>
      </p:sp>
      <p:sp>
        <p:nvSpPr>
          <p:cNvPr id="134" name="Text 4"/>
          <p:cNvSpPr/>
          <p:nvPr/>
        </p:nvSpPr>
        <p:spPr>
          <a:xfrm>
            <a:off x="381000" y="885675"/>
            <a:ext cx="4089352" cy="802036"/>
          </a:xfrm>
          <a:prstGeom prst="roundRect">
            <a:avLst>
              <a:gd name="adj" fmla="val 950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5" name="Shape 5"/>
          <p:cNvSpPr/>
          <p:nvPr/>
        </p:nvSpPr>
        <p:spPr>
          <a:xfrm flipH="1">
            <a:off x="404813" y="885674"/>
            <a:ext cx="4" cy="802040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Text 6"/>
          <p:cNvSpPr txBox="1"/>
          <p:nvPr/>
        </p:nvSpPr>
        <p:spPr>
          <a:xfrm>
            <a:off x="581021" y="1012478"/>
            <a:ext cx="3811670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现象</a:t>
            </a:r>
          </a:p>
        </p:txBody>
      </p:sp>
      <p:sp>
        <p:nvSpPr>
          <p:cNvPr id="137" name="Text 7"/>
          <p:cNvSpPr txBox="1"/>
          <p:nvPr/>
        </p:nvSpPr>
        <p:spPr>
          <a:xfrm>
            <a:off x="581021" y="1240928"/>
            <a:ext cx="3811670" cy="313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客户打开聊天窗口后，AI 完全没有响应，人工在 </a:t>
            </a:r>
            <a:r>
              <a:rPr b="1"/>
              <a:t>0-2 秒内</a:t>
            </a:r>
            <a:r>
              <a:t> 直接接管。占全部异常转人工的 </a:t>
            </a:r>
            <a:r>
              <a:rPr b="1"/>
              <a:t>92%</a:t>
            </a:r>
            <a:r>
              <a:t>。</a:t>
            </a:r>
          </a:p>
        </p:txBody>
      </p:sp>
      <p:sp>
        <p:nvSpPr>
          <p:cNvPr id="138" name="Text 8"/>
          <p:cNvSpPr/>
          <p:nvPr/>
        </p:nvSpPr>
        <p:spPr>
          <a:xfrm>
            <a:off x="381000" y="1763908"/>
            <a:ext cx="4089352" cy="758581"/>
          </a:xfrm>
          <a:prstGeom prst="roundRect">
            <a:avLst>
              <a:gd name="adj" fmla="val 6697"/>
            </a:avLst>
          </a:prstGeom>
          <a:solidFill>
            <a:srgbClr val="2C3E5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9" name="Text 9"/>
          <p:cNvSpPr txBox="1"/>
          <p:nvPr/>
        </p:nvSpPr>
        <p:spPr>
          <a:xfrm>
            <a:off x="507950" y="1852759"/>
            <a:ext cx="39121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visitor.activated</a:t>
            </a:r>
          </a:p>
        </p:txBody>
      </p:sp>
      <p:sp>
        <p:nvSpPr>
          <p:cNvPr id="140" name="Text 10"/>
          <p:cNvSpPr txBox="1"/>
          <p:nvPr/>
        </p:nvSpPr>
        <p:spPr>
          <a:xfrm>
            <a:off x="507950" y="1979709"/>
            <a:ext cx="39121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TYPE_PRECHAT（客户进入）</a:t>
            </a:r>
          </a:p>
        </p:txBody>
      </p:sp>
      <p:sp>
        <p:nvSpPr>
          <p:cNvPr id="141" name="Text 11"/>
          <p:cNvSpPr txBox="1"/>
          <p:nvPr/>
        </p:nvSpPr>
        <p:spPr>
          <a:xfrm>
            <a:off x="507950" y="2135234"/>
            <a:ext cx="39121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Sandy Fan: room.join  &lt;-- 人工直接接管</a:t>
            </a:r>
          </a:p>
        </p:txBody>
      </p:sp>
      <p:sp>
        <p:nvSpPr>
          <p:cNvPr id="142" name="Text 12"/>
          <p:cNvSpPr txBox="1"/>
          <p:nvPr/>
        </p:nvSpPr>
        <p:spPr>
          <a:xfrm>
            <a:off x="507950" y="2290763"/>
            <a:ext cx="39121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（AI 从未出现）</a:t>
            </a:r>
          </a:p>
        </p:txBody>
      </p:sp>
      <p:sp>
        <p:nvSpPr>
          <p:cNvPr id="143" name="Text 13"/>
          <p:cNvSpPr/>
          <p:nvPr/>
        </p:nvSpPr>
        <p:spPr>
          <a:xfrm>
            <a:off x="381000" y="2573238"/>
            <a:ext cx="4089352" cy="802039"/>
          </a:xfrm>
          <a:prstGeom prst="roundRect">
            <a:avLst>
              <a:gd name="adj" fmla="val 950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4" name="Shape 14"/>
          <p:cNvSpPr/>
          <p:nvPr/>
        </p:nvSpPr>
        <p:spPr>
          <a:xfrm flipH="1">
            <a:off x="404813" y="2573238"/>
            <a:ext cx="4" cy="802039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Text 15"/>
          <p:cNvSpPr txBox="1"/>
          <p:nvPr/>
        </p:nvSpPr>
        <p:spPr>
          <a:xfrm>
            <a:off x="581021" y="2700040"/>
            <a:ext cx="3811670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根因分析</a:t>
            </a:r>
          </a:p>
        </p:txBody>
      </p:sp>
      <p:sp>
        <p:nvSpPr>
          <p:cNvPr id="146" name="Text 16"/>
          <p:cNvSpPr txBox="1"/>
          <p:nvPr/>
        </p:nvSpPr>
        <p:spPr>
          <a:xfrm>
            <a:off x="581021" y="2928491"/>
            <a:ext cx="3811670" cy="313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路由配置问题：当人工在线时 AI 被跳过。非 AI Bug，而是</a:t>
            </a:r>
            <a:r>
              <a:rPr b="1"/>
              <a:t>配置策略</a:t>
            </a:r>
            <a:r>
              <a:t>导致 AI 投资未产生价值。</a:t>
            </a:r>
          </a:p>
        </p:txBody>
      </p:sp>
      <p:sp>
        <p:nvSpPr>
          <p:cNvPr id="147" name="Text 17"/>
          <p:cNvSpPr/>
          <p:nvPr/>
        </p:nvSpPr>
        <p:spPr>
          <a:xfrm>
            <a:off x="381000" y="3451473"/>
            <a:ext cx="4089352" cy="1012631"/>
          </a:xfrm>
          <a:prstGeom prst="roundRect">
            <a:avLst>
              <a:gd name="adj" fmla="val 752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8" name="Shape 18"/>
          <p:cNvSpPr/>
          <p:nvPr/>
        </p:nvSpPr>
        <p:spPr>
          <a:xfrm flipH="1">
            <a:off x="404813" y="3451473"/>
            <a:ext cx="4" cy="1012630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" name="Text 19"/>
          <p:cNvSpPr txBox="1"/>
          <p:nvPr/>
        </p:nvSpPr>
        <p:spPr>
          <a:xfrm>
            <a:off x="581021" y="3578273"/>
            <a:ext cx="3811670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关键影响</a:t>
            </a:r>
          </a:p>
        </p:txBody>
      </p:sp>
      <p:sp>
        <p:nvSpPr>
          <p:cNvPr id="150" name="Text 20"/>
          <p:cNvSpPr txBox="1"/>
          <p:nvPr/>
        </p:nvSpPr>
        <p:spPr>
          <a:xfrm>
            <a:off x="581021" y="3806726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销售咨询 70% 被 AI 跳过</a:t>
            </a:r>
          </a:p>
        </p:txBody>
      </p:sp>
      <p:sp>
        <p:nvSpPr>
          <p:cNvPr id="151" name="Text 21"/>
          <p:cNvSpPr txBox="1"/>
          <p:nvPr/>
        </p:nvSpPr>
        <p:spPr>
          <a:xfrm>
            <a:off x="581021" y="3992017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中国市场 67% 未经 AI 筛选</a:t>
            </a:r>
          </a:p>
        </p:txBody>
      </p:sp>
      <p:sp>
        <p:nvSpPr>
          <p:cNvPr id="152" name="Text 22"/>
          <p:cNvSpPr txBox="1"/>
          <p:nvPr/>
        </p:nvSpPr>
        <p:spPr>
          <a:xfrm>
            <a:off x="581021" y="4177307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客服管理 71% 异常率</a:t>
            </a:r>
          </a:p>
        </p:txBody>
      </p:sp>
      <p:sp>
        <p:nvSpPr>
          <p:cNvPr id="153" name="Text 23"/>
          <p:cNvSpPr/>
          <p:nvPr/>
        </p:nvSpPr>
        <p:spPr>
          <a:xfrm>
            <a:off x="4673501" y="885675"/>
            <a:ext cx="4089499" cy="1749178"/>
          </a:xfrm>
          <a:prstGeom prst="roundRect">
            <a:avLst>
              <a:gd name="adj" fmla="val 435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4" name="Text 24"/>
          <p:cNvSpPr txBox="1"/>
          <p:nvPr/>
        </p:nvSpPr>
        <p:spPr>
          <a:xfrm>
            <a:off x="4800451" y="987175"/>
            <a:ext cx="391231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高发话题 - 异常率排行</a:t>
            </a:r>
          </a:p>
        </p:txBody>
      </p:sp>
      <p:sp>
        <p:nvSpPr>
          <p:cNvPr id="155" name="Text 25"/>
          <p:cNvSpPr/>
          <p:nvPr/>
        </p:nvSpPr>
        <p:spPr>
          <a:xfrm>
            <a:off x="4800451" y="1218900"/>
            <a:ext cx="3835599" cy="228604"/>
          </a:xfrm>
          <a:prstGeom prst="rect">
            <a:avLst/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6" name="Shape 26"/>
          <p:cNvSpPr/>
          <p:nvPr/>
        </p:nvSpPr>
        <p:spPr>
          <a:xfrm>
            <a:off x="4800451" y="1442740"/>
            <a:ext cx="3835599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" name="Text 27"/>
          <p:cNvSpPr txBox="1"/>
          <p:nvPr/>
        </p:nvSpPr>
        <p:spPr>
          <a:xfrm>
            <a:off x="4800451" y="1257000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话题分类</a:t>
            </a:r>
          </a:p>
        </p:txBody>
      </p:sp>
      <p:sp>
        <p:nvSpPr>
          <p:cNvPr id="158" name="Text 28"/>
          <p:cNvSpPr txBox="1"/>
          <p:nvPr/>
        </p:nvSpPr>
        <p:spPr>
          <a:xfrm>
            <a:off x="6708661" y="12570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escalation</a:t>
            </a:r>
          </a:p>
        </p:txBody>
      </p:sp>
      <p:sp>
        <p:nvSpPr>
          <p:cNvPr id="159" name="Text 29"/>
          <p:cNvSpPr txBox="1"/>
          <p:nvPr/>
        </p:nvSpPr>
        <p:spPr>
          <a:xfrm>
            <a:off x="7667559" y="1257000"/>
            <a:ext cx="9780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异常率</a:t>
            </a:r>
          </a:p>
        </p:txBody>
      </p:sp>
      <p:sp>
        <p:nvSpPr>
          <p:cNvPr id="160" name="Shape 30"/>
          <p:cNvSpPr/>
          <p:nvPr/>
        </p:nvSpPr>
        <p:spPr>
          <a:xfrm>
            <a:off x="4800451" y="1671340"/>
            <a:ext cx="3835599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" name="Text 31"/>
          <p:cNvSpPr txBox="1"/>
          <p:nvPr/>
        </p:nvSpPr>
        <p:spPr>
          <a:xfrm>
            <a:off x="4800451" y="1485600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agent（客服相关）</a:t>
            </a:r>
          </a:p>
        </p:txBody>
      </p:sp>
      <p:sp>
        <p:nvSpPr>
          <p:cNvPr id="162" name="Text 32"/>
          <p:cNvSpPr txBox="1"/>
          <p:nvPr/>
        </p:nvSpPr>
        <p:spPr>
          <a:xfrm>
            <a:off x="6708661" y="14856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3" name="Text 33"/>
          <p:cNvSpPr txBox="1"/>
          <p:nvPr/>
        </p:nvSpPr>
        <p:spPr>
          <a:xfrm>
            <a:off x="7667559" y="14856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71%</a:t>
            </a:r>
          </a:p>
        </p:txBody>
      </p:sp>
      <p:sp>
        <p:nvSpPr>
          <p:cNvPr id="164" name="Shape 34"/>
          <p:cNvSpPr/>
          <p:nvPr/>
        </p:nvSpPr>
        <p:spPr>
          <a:xfrm>
            <a:off x="4800451" y="1899940"/>
            <a:ext cx="3835599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" name="Text 35"/>
          <p:cNvSpPr txBox="1"/>
          <p:nvPr/>
        </p:nvSpPr>
        <p:spPr>
          <a:xfrm>
            <a:off x="4800451" y="1714200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sales（销售咨询）</a:t>
            </a:r>
          </a:p>
        </p:txBody>
      </p:sp>
      <p:sp>
        <p:nvSpPr>
          <p:cNvPr id="166" name="Text 36"/>
          <p:cNvSpPr txBox="1"/>
          <p:nvPr/>
        </p:nvSpPr>
        <p:spPr>
          <a:xfrm>
            <a:off x="6708661" y="17142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67" name="Text 37"/>
          <p:cNvSpPr txBox="1"/>
          <p:nvPr/>
        </p:nvSpPr>
        <p:spPr>
          <a:xfrm>
            <a:off x="7667559" y="17142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70%</a:t>
            </a:r>
          </a:p>
        </p:txBody>
      </p:sp>
      <p:sp>
        <p:nvSpPr>
          <p:cNvPr id="168" name="Shape 38"/>
          <p:cNvSpPr/>
          <p:nvPr/>
        </p:nvSpPr>
        <p:spPr>
          <a:xfrm>
            <a:off x="4800451" y="2099965"/>
            <a:ext cx="3835599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Text 39"/>
          <p:cNvSpPr txBox="1"/>
          <p:nvPr/>
        </p:nvSpPr>
        <p:spPr>
          <a:xfrm>
            <a:off x="4800451" y="1942800"/>
            <a:ext cx="19561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target_China</a:t>
            </a:r>
          </a:p>
        </p:txBody>
      </p:sp>
      <p:sp>
        <p:nvSpPr>
          <p:cNvPr id="170" name="Text 40"/>
          <p:cNvSpPr txBox="1"/>
          <p:nvPr/>
        </p:nvSpPr>
        <p:spPr>
          <a:xfrm>
            <a:off x="6708661" y="19428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1" name="Text 41"/>
          <p:cNvSpPr txBox="1"/>
          <p:nvPr/>
        </p:nvSpPr>
        <p:spPr>
          <a:xfrm>
            <a:off x="7667559" y="19428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67%</a:t>
            </a:r>
          </a:p>
        </p:txBody>
      </p:sp>
      <p:sp>
        <p:nvSpPr>
          <p:cNvPr id="172" name="Shape 42"/>
          <p:cNvSpPr/>
          <p:nvPr/>
        </p:nvSpPr>
        <p:spPr>
          <a:xfrm>
            <a:off x="4800451" y="2328565"/>
            <a:ext cx="3835599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Text 43"/>
          <p:cNvSpPr txBox="1"/>
          <p:nvPr/>
        </p:nvSpPr>
        <p:spPr>
          <a:xfrm>
            <a:off x="4800451" y="2142825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complaint（投诉）</a:t>
            </a:r>
          </a:p>
        </p:txBody>
      </p:sp>
      <p:sp>
        <p:nvSpPr>
          <p:cNvPr id="174" name="Text 44"/>
          <p:cNvSpPr txBox="1"/>
          <p:nvPr/>
        </p:nvSpPr>
        <p:spPr>
          <a:xfrm>
            <a:off x="6708661" y="21428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5" name="Text 45"/>
          <p:cNvSpPr txBox="1"/>
          <p:nvPr/>
        </p:nvSpPr>
        <p:spPr>
          <a:xfrm>
            <a:off x="7667559" y="21428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50%</a:t>
            </a:r>
          </a:p>
        </p:txBody>
      </p:sp>
      <p:sp>
        <p:nvSpPr>
          <p:cNvPr id="176" name="Shape 46"/>
          <p:cNvSpPr/>
          <p:nvPr/>
        </p:nvSpPr>
        <p:spPr>
          <a:xfrm>
            <a:off x="4800451" y="2528590"/>
            <a:ext cx="3835599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Text 47"/>
          <p:cNvSpPr txBox="1"/>
          <p:nvPr/>
        </p:nvSpPr>
        <p:spPr>
          <a:xfrm>
            <a:off x="4800451" y="2371425"/>
            <a:ext cx="19561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partnership</a:t>
            </a:r>
          </a:p>
        </p:txBody>
      </p:sp>
      <p:sp>
        <p:nvSpPr>
          <p:cNvPr id="178" name="Text 48"/>
          <p:cNvSpPr txBox="1"/>
          <p:nvPr/>
        </p:nvSpPr>
        <p:spPr>
          <a:xfrm>
            <a:off x="6708661" y="23714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9" name="Text 49"/>
          <p:cNvSpPr txBox="1"/>
          <p:nvPr/>
        </p:nvSpPr>
        <p:spPr>
          <a:xfrm>
            <a:off x="7667559" y="23714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180" name="Text 8"/>
          <p:cNvSpPr/>
          <p:nvPr/>
        </p:nvSpPr>
        <p:spPr>
          <a:xfrm>
            <a:off x="4673648" y="3417094"/>
            <a:ext cx="4089354" cy="1081389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1" name="Shape 9"/>
          <p:cNvSpPr/>
          <p:nvPr/>
        </p:nvSpPr>
        <p:spPr>
          <a:xfrm>
            <a:off x="4697462" y="3417094"/>
            <a:ext cx="4" cy="1081389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" name="Text 10"/>
          <p:cNvSpPr txBox="1"/>
          <p:nvPr/>
        </p:nvSpPr>
        <p:spPr>
          <a:xfrm>
            <a:off x="4873671" y="3569344"/>
            <a:ext cx="3811669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运营成本影响</a:t>
            </a:r>
          </a:p>
        </p:txBody>
      </p:sp>
      <p:sp>
        <p:nvSpPr>
          <p:cNvPr id="183" name="Text 11"/>
          <p:cNvSpPr txBox="1"/>
          <p:nvPr/>
        </p:nvSpPr>
        <p:spPr>
          <a:xfrm>
            <a:off x="4873671" y="3815655"/>
            <a:ext cx="3811669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异常转人工将</a:t>
            </a:r>
            <a:r>
              <a:rPr b="1"/>
              <a:t>本可自动化的工单</a:t>
            </a:r>
            <a:r>
              <a:t>压到人工队列。</a:t>
            </a:r>
          </a:p>
        </p:txBody>
      </p:sp>
      <p:sp>
        <p:nvSpPr>
          <p:cNvPr id="184" name="Text 12"/>
          <p:cNvSpPr txBox="1"/>
          <p:nvPr/>
        </p:nvSpPr>
        <p:spPr>
          <a:xfrm>
            <a:off x="4873671" y="4000946"/>
            <a:ext cx="3811669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高频接单人员工作负荷集中，覆盖多类话题。</a:t>
            </a:r>
          </a:p>
        </p:txBody>
      </p:sp>
      <p:sp>
        <p:nvSpPr>
          <p:cNvPr id="185" name="Text 13"/>
          <p:cNvSpPr txBox="1"/>
          <p:nvPr/>
        </p:nvSpPr>
        <p:spPr>
          <a:xfrm>
            <a:off x="4873671" y="4186237"/>
            <a:ext cx="3811669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随业务增长人工压力</a:t>
            </a:r>
            <a:r>
              <a:rPr b="1"/>
              <a:t>线性增加</a:t>
            </a:r>
            <a:r>
              <a:t>，AI 投资未释放效能。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0" y="-2"/>
            <a:ext cx="9144000" cy="7206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8" name="Text 1"/>
          <p:cNvSpPr/>
          <p:nvPr/>
        </p:nvSpPr>
        <p:spPr>
          <a:xfrm>
            <a:off x="380998" y="238125"/>
            <a:ext cx="1117554" cy="244376"/>
          </a:xfrm>
          <a:prstGeom prst="rect">
            <a:avLst/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9" name="Text 2"/>
          <p:cNvSpPr txBox="1"/>
          <p:nvPr/>
        </p:nvSpPr>
        <p:spPr>
          <a:xfrm>
            <a:off x="533398" y="288875"/>
            <a:ext cx="8290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90" name="Text 3"/>
          <p:cNvSpPr txBox="1"/>
          <p:nvPr/>
        </p:nvSpPr>
        <p:spPr>
          <a:xfrm>
            <a:off x="1701701" y="203150"/>
            <a:ext cx="441569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B：AI 过早退出</a:t>
            </a:r>
          </a:p>
        </p:txBody>
      </p:sp>
      <p:sp>
        <p:nvSpPr>
          <p:cNvPr id="191" name="Text 4"/>
          <p:cNvSpPr/>
          <p:nvPr/>
        </p:nvSpPr>
        <p:spPr>
          <a:xfrm>
            <a:off x="381000" y="847575"/>
            <a:ext cx="4089352" cy="333379"/>
          </a:xfrm>
          <a:prstGeom prst="roundRect">
            <a:avLst>
              <a:gd name="adj" fmla="val 22857"/>
            </a:avLst>
          </a:prstGeom>
          <a:solidFill>
            <a:srgbClr val="E67E2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2" name="Text 5"/>
          <p:cNvSpPr txBox="1"/>
          <p:nvPr/>
        </p:nvSpPr>
        <p:spPr>
          <a:xfrm>
            <a:off x="533397" y="923775"/>
            <a:ext cx="386024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B：AI 提问后不等回答（5 例）</a:t>
            </a:r>
          </a:p>
        </p:txBody>
      </p:sp>
      <p:sp>
        <p:nvSpPr>
          <p:cNvPr id="193" name="Text 6"/>
          <p:cNvSpPr/>
          <p:nvPr/>
        </p:nvSpPr>
        <p:spPr>
          <a:xfrm>
            <a:off x="380999" y="1180949"/>
            <a:ext cx="4089352" cy="4135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4" name="Shape 7"/>
          <p:cNvSpPr/>
          <p:nvPr/>
        </p:nvSpPr>
        <p:spPr>
          <a:xfrm flipH="1">
            <a:off x="404813" y="1180949"/>
            <a:ext cx="4" cy="413598"/>
          </a:xfrm>
          <a:prstGeom prst="line">
            <a:avLst/>
          </a:prstGeom>
          <a:ln w="47625">
            <a:solidFill>
              <a:srgbClr val="E67E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" name="Text 8"/>
          <p:cNvSpPr txBox="1"/>
          <p:nvPr/>
        </p:nvSpPr>
        <p:spPr>
          <a:xfrm>
            <a:off x="581021" y="1307753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提出澄清问题后，</a:t>
            </a:r>
            <a:r>
              <a:rPr b="1"/>
              <a:t>未等客户回复</a:t>
            </a:r>
            <a:r>
              <a:t>就触发 room.leave。</a:t>
            </a:r>
          </a:p>
        </p:txBody>
      </p:sp>
      <p:sp>
        <p:nvSpPr>
          <p:cNvPr id="196" name="Text 9"/>
          <p:cNvSpPr/>
          <p:nvPr/>
        </p:nvSpPr>
        <p:spPr>
          <a:xfrm>
            <a:off x="381000" y="1670742"/>
            <a:ext cx="4089352" cy="574481"/>
          </a:xfrm>
          <a:prstGeom prst="roundRect">
            <a:avLst>
              <a:gd name="adj" fmla="val 8843"/>
            </a:avLst>
          </a:prstGeom>
          <a:solidFill>
            <a:srgbClr val="2C3E5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7" name="Text 10"/>
          <p:cNvSpPr txBox="1"/>
          <p:nvPr/>
        </p:nvSpPr>
        <p:spPr>
          <a:xfrm>
            <a:off x="482499" y="1759592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客户：请问有印度bc的营销通道吗</a:t>
            </a:r>
          </a:p>
        </p:txBody>
      </p:sp>
      <p:sp>
        <p:nvSpPr>
          <p:cNvPr id="198" name="Text 11"/>
          <p:cNvSpPr txBox="1"/>
          <p:nvPr/>
        </p:nvSpPr>
        <p:spPr>
          <a:xfrm>
            <a:off x="482499" y="1896067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Vega：您能否解释一下"bc"指的是什么？</a:t>
            </a:r>
          </a:p>
        </p:txBody>
      </p:sp>
      <p:sp>
        <p:nvSpPr>
          <p:cNvPr id="199" name="Text 12"/>
          <p:cNvSpPr txBox="1"/>
          <p:nvPr/>
        </p:nvSpPr>
        <p:spPr>
          <a:xfrm>
            <a:off x="482499" y="2032546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[room.leave] &lt;-- 不等回答</a:t>
            </a:r>
          </a:p>
        </p:txBody>
      </p:sp>
      <p:sp>
        <p:nvSpPr>
          <p:cNvPr id="200" name="Text 13"/>
          <p:cNvSpPr/>
          <p:nvPr/>
        </p:nvSpPr>
        <p:spPr>
          <a:xfrm>
            <a:off x="381000" y="2295971"/>
            <a:ext cx="4089352" cy="574481"/>
          </a:xfrm>
          <a:prstGeom prst="roundRect">
            <a:avLst>
              <a:gd name="adj" fmla="val 8843"/>
            </a:avLst>
          </a:prstGeom>
          <a:solidFill>
            <a:srgbClr val="2C3E5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1" name="Text 14"/>
          <p:cNvSpPr txBox="1"/>
          <p:nvPr/>
        </p:nvSpPr>
        <p:spPr>
          <a:xfrm>
            <a:off x="482499" y="2384822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客户：I would like to schedule a demo</a:t>
            </a:r>
          </a:p>
        </p:txBody>
      </p:sp>
      <p:sp>
        <p:nvSpPr>
          <p:cNvPr id="202" name="Text 15"/>
          <p:cNvSpPr txBox="1"/>
          <p:nvPr/>
        </p:nvSpPr>
        <p:spPr>
          <a:xfrm>
            <a:off x="482499" y="2521297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BDC3C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Vega：To schedule a demo, follow steps...</a:t>
            </a:r>
          </a:p>
        </p:txBody>
      </p:sp>
      <p:sp>
        <p:nvSpPr>
          <p:cNvPr id="203" name="Text 16"/>
          <p:cNvSpPr txBox="1"/>
          <p:nvPr/>
        </p:nvSpPr>
        <p:spPr>
          <a:xfrm>
            <a:off x="482499" y="2657773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E67E2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[room.leave] &lt;-- 模板回复后离开</a:t>
            </a:r>
          </a:p>
        </p:txBody>
      </p:sp>
      <p:sp>
        <p:nvSpPr>
          <p:cNvPr id="204" name="Text 17"/>
          <p:cNvSpPr/>
          <p:nvPr/>
        </p:nvSpPr>
        <p:spPr>
          <a:xfrm>
            <a:off x="380999" y="2921198"/>
            <a:ext cx="4089352" cy="4135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5" name="Shape 18"/>
          <p:cNvSpPr/>
          <p:nvPr/>
        </p:nvSpPr>
        <p:spPr>
          <a:xfrm flipH="1">
            <a:off x="404813" y="2921198"/>
            <a:ext cx="4" cy="413597"/>
          </a:xfrm>
          <a:prstGeom prst="line">
            <a:avLst/>
          </a:prstGeom>
          <a:ln w="47625">
            <a:solidFill>
              <a:srgbClr val="E67E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" name="Text 19"/>
          <p:cNvSpPr txBox="1"/>
          <p:nvPr/>
        </p:nvSpPr>
        <p:spPr>
          <a:xfrm>
            <a:off x="581021" y="3047999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根因</a:t>
            </a:r>
            <a:r>
              <a:rPr b="0"/>
              <a:t>：会话生命周期 Bug — 等待超时过短，一次回复后即结束。</a:t>
            </a:r>
          </a:p>
        </p:txBody>
      </p:sp>
      <p:sp>
        <p:nvSpPr>
          <p:cNvPr id="207" name="Text 8"/>
          <p:cNvSpPr/>
          <p:nvPr/>
        </p:nvSpPr>
        <p:spPr>
          <a:xfrm>
            <a:off x="4677304" y="847575"/>
            <a:ext cx="4089352" cy="1081388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8" name="Shape 9"/>
          <p:cNvSpPr/>
          <p:nvPr/>
        </p:nvSpPr>
        <p:spPr>
          <a:xfrm>
            <a:off x="4701118" y="847574"/>
            <a:ext cx="4" cy="1081390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" name="Text 10"/>
          <p:cNvSpPr txBox="1"/>
          <p:nvPr/>
        </p:nvSpPr>
        <p:spPr>
          <a:xfrm>
            <a:off x="4877327" y="999825"/>
            <a:ext cx="3811666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运营成本影响</a:t>
            </a:r>
          </a:p>
        </p:txBody>
      </p:sp>
      <p:sp>
        <p:nvSpPr>
          <p:cNvPr id="210" name="Text 11"/>
          <p:cNvSpPr txBox="1"/>
          <p:nvPr/>
        </p:nvSpPr>
        <p:spPr>
          <a:xfrm>
            <a:off x="4877327" y="1246137"/>
            <a:ext cx="3811666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异常转人工将</a:t>
            </a:r>
            <a:r>
              <a:rPr b="1"/>
              <a:t>本可自动化的工单</a:t>
            </a:r>
            <a:r>
              <a:t>压到人工队列。</a:t>
            </a:r>
          </a:p>
        </p:txBody>
      </p:sp>
      <p:sp>
        <p:nvSpPr>
          <p:cNvPr id="211" name="Text 12"/>
          <p:cNvSpPr txBox="1"/>
          <p:nvPr/>
        </p:nvSpPr>
        <p:spPr>
          <a:xfrm>
            <a:off x="4877327" y="1431429"/>
            <a:ext cx="3811666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高频接单人员工作负荷集中，覆盖多类话题。</a:t>
            </a:r>
          </a:p>
        </p:txBody>
      </p:sp>
      <p:sp>
        <p:nvSpPr>
          <p:cNvPr id="212" name="Text 13"/>
          <p:cNvSpPr txBox="1"/>
          <p:nvPr/>
        </p:nvSpPr>
        <p:spPr>
          <a:xfrm>
            <a:off x="4877327" y="1616720"/>
            <a:ext cx="3811666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随业务增长人工压力</a:t>
            </a:r>
            <a:r>
              <a:rPr b="1"/>
              <a:t>线性增加</a:t>
            </a:r>
            <a:r>
              <a:t>，AI 投资未释放效能。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0" y="-2"/>
            <a:ext cx="9144000" cy="7206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" name="Text 1"/>
          <p:cNvSpPr/>
          <p:nvPr/>
        </p:nvSpPr>
        <p:spPr>
          <a:xfrm>
            <a:off x="381000" y="238125"/>
            <a:ext cx="1117551" cy="244376"/>
          </a:xfrm>
          <a:prstGeom prst="rect">
            <a:avLst/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6" name="Text 2"/>
          <p:cNvSpPr txBox="1"/>
          <p:nvPr/>
        </p:nvSpPr>
        <p:spPr>
          <a:xfrm>
            <a:off x="533400" y="288875"/>
            <a:ext cx="82900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217" name="Text 3"/>
          <p:cNvSpPr txBox="1"/>
          <p:nvPr/>
        </p:nvSpPr>
        <p:spPr>
          <a:xfrm>
            <a:off x="1701700" y="203150"/>
            <a:ext cx="441569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C：知识盲区</a:t>
            </a:r>
          </a:p>
        </p:txBody>
      </p:sp>
      <p:sp>
        <p:nvSpPr>
          <p:cNvPr id="218" name="Text 20"/>
          <p:cNvSpPr/>
          <p:nvPr/>
        </p:nvSpPr>
        <p:spPr>
          <a:xfrm>
            <a:off x="381000" y="847575"/>
            <a:ext cx="4089500" cy="333379"/>
          </a:xfrm>
          <a:prstGeom prst="roundRect">
            <a:avLst>
              <a:gd name="adj" fmla="val 22857"/>
            </a:avLst>
          </a:prstGeom>
          <a:solidFill>
            <a:srgbClr val="F1C40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9" name="Text 21"/>
          <p:cNvSpPr txBox="1"/>
          <p:nvPr/>
        </p:nvSpPr>
        <p:spPr>
          <a:xfrm>
            <a:off x="533397" y="923775"/>
            <a:ext cx="386039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C：AI 对自家产品说"不知道"（5 例）</a:t>
            </a:r>
          </a:p>
        </p:txBody>
      </p:sp>
      <p:sp>
        <p:nvSpPr>
          <p:cNvPr id="220" name="Text 22"/>
          <p:cNvSpPr/>
          <p:nvPr/>
        </p:nvSpPr>
        <p:spPr>
          <a:xfrm>
            <a:off x="381000" y="1180949"/>
            <a:ext cx="4089500" cy="4135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" name="Shape 23"/>
          <p:cNvSpPr/>
          <p:nvPr/>
        </p:nvSpPr>
        <p:spPr>
          <a:xfrm flipH="1">
            <a:off x="404810" y="1180949"/>
            <a:ext cx="4" cy="413598"/>
          </a:xfrm>
          <a:prstGeom prst="line">
            <a:avLst/>
          </a:prstGeom>
          <a:ln w="47625">
            <a:solidFill>
              <a:srgbClr val="F1C40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" name="Text 24"/>
          <p:cNvSpPr txBox="1"/>
          <p:nvPr/>
        </p:nvSpPr>
        <p:spPr>
          <a:xfrm>
            <a:off x="581023" y="1307753"/>
            <a:ext cx="3811823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客户询问</a:t>
            </a:r>
            <a:r>
              <a:rPr b="1"/>
              <a:t>核心产品功能</a:t>
            </a:r>
            <a:r>
              <a:t>，AI 回答"没有相关信息"。</a:t>
            </a:r>
          </a:p>
        </p:txBody>
      </p:sp>
      <p:sp>
        <p:nvSpPr>
          <p:cNvPr id="223" name="Text 25"/>
          <p:cNvSpPr/>
          <p:nvPr/>
        </p:nvSpPr>
        <p:spPr>
          <a:xfrm>
            <a:off x="381000" y="1670742"/>
            <a:ext cx="4089500" cy="1344963"/>
          </a:xfrm>
          <a:prstGeom prst="roundRect">
            <a:avLst>
              <a:gd name="adj" fmla="val 566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4" name="Text 26"/>
          <p:cNvSpPr txBox="1"/>
          <p:nvPr/>
        </p:nvSpPr>
        <p:spPr>
          <a:xfrm>
            <a:off x="507947" y="1772242"/>
            <a:ext cx="391231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9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典型失败案例</a:t>
            </a:r>
          </a:p>
        </p:txBody>
      </p:sp>
      <p:sp>
        <p:nvSpPr>
          <p:cNvPr id="225" name="Shape 27"/>
          <p:cNvSpPr/>
          <p:nvPr/>
        </p:nvSpPr>
        <p:spPr>
          <a:xfrm>
            <a:off x="507948" y="2154583"/>
            <a:ext cx="383560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6" name="Text 28"/>
          <p:cNvSpPr txBox="1"/>
          <p:nvPr/>
        </p:nvSpPr>
        <p:spPr>
          <a:xfrm>
            <a:off x="507948" y="2010221"/>
            <a:ext cx="1564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Denmark toll free</a:t>
            </a:r>
          </a:p>
        </p:txBody>
      </p:sp>
      <p:sp>
        <p:nvSpPr>
          <p:cNvPr id="227" name="Text 29"/>
          <p:cNvSpPr txBox="1"/>
          <p:nvPr/>
        </p:nvSpPr>
        <p:spPr>
          <a:xfrm>
            <a:off x="2042217" y="2010221"/>
            <a:ext cx="234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 don't have specific information"</a:t>
            </a:r>
          </a:p>
        </p:txBody>
      </p:sp>
      <p:sp>
        <p:nvSpPr>
          <p:cNvPr id="228" name="Shape 30"/>
          <p:cNvSpPr/>
          <p:nvPr/>
        </p:nvSpPr>
        <p:spPr>
          <a:xfrm>
            <a:off x="507948" y="2329009"/>
            <a:ext cx="383560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" name="Text 31"/>
          <p:cNvSpPr txBox="1"/>
          <p:nvPr/>
        </p:nvSpPr>
        <p:spPr>
          <a:xfrm>
            <a:off x="507948" y="2184648"/>
            <a:ext cx="1564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VoIP services</a:t>
            </a:r>
          </a:p>
        </p:txBody>
      </p:sp>
      <p:sp>
        <p:nvSpPr>
          <p:cNvPr id="230" name="Text 32"/>
          <p:cNvSpPr txBox="1"/>
          <p:nvPr/>
        </p:nvSpPr>
        <p:spPr>
          <a:xfrm>
            <a:off x="2042217" y="2184648"/>
            <a:ext cx="234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 don't have information about services"</a:t>
            </a:r>
          </a:p>
        </p:txBody>
      </p:sp>
      <p:sp>
        <p:nvSpPr>
          <p:cNvPr id="231" name="Shape 33"/>
          <p:cNvSpPr/>
          <p:nvPr/>
        </p:nvSpPr>
        <p:spPr>
          <a:xfrm>
            <a:off x="507948" y="2532013"/>
            <a:ext cx="383560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" name="Text 34"/>
          <p:cNvSpPr txBox="1"/>
          <p:nvPr/>
        </p:nvSpPr>
        <p:spPr>
          <a:xfrm>
            <a:off x="507948" y="2359074"/>
            <a:ext cx="15649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Turkey 号码</a:t>
            </a:r>
          </a:p>
        </p:txBody>
      </p:sp>
      <p:sp>
        <p:nvSpPr>
          <p:cNvPr id="233" name="Text 35"/>
          <p:cNvSpPr txBox="1"/>
          <p:nvPr/>
        </p:nvSpPr>
        <p:spPr>
          <a:xfrm>
            <a:off x="2042217" y="2359074"/>
            <a:ext cx="234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 don't have the capability"</a:t>
            </a:r>
          </a:p>
        </p:txBody>
      </p:sp>
      <p:sp>
        <p:nvSpPr>
          <p:cNvPr id="234" name="Shape 36"/>
          <p:cNvSpPr/>
          <p:nvPr/>
        </p:nvSpPr>
        <p:spPr>
          <a:xfrm>
            <a:off x="507948" y="2706439"/>
            <a:ext cx="383560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" name="Text 37"/>
          <p:cNvSpPr txBox="1"/>
          <p:nvPr/>
        </p:nvSpPr>
        <p:spPr>
          <a:xfrm>
            <a:off x="507948" y="2562075"/>
            <a:ext cx="1564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API rate limit</a:t>
            </a:r>
          </a:p>
        </p:txBody>
      </p:sp>
      <p:sp>
        <p:nvSpPr>
          <p:cNvPr id="236" name="Text 38"/>
          <p:cNvSpPr txBox="1"/>
          <p:nvPr/>
        </p:nvSpPr>
        <p:spPr>
          <a:xfrm>
            <a:off x="2042217" y="2562075"/>
            <a:ext cx="234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"I'm not sure about the rate limit"</a:t>
            </a:r>
          </a:p>
        </p:txBody>
      </p:sp>
      <p:sp>
        <p:nvSpPr>
          <p:cNvPr id="237" name="Shape 39"/>
          <p:cNvSpPr/>
          <p:nvPr/>
        </p:nvSpPr>
        <p:spPr>
          <a:xfrm>
            <a:off x="507948" y="2909441"/>
            <a:ext cx="383560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Text 40"/>
          <p:cNvSpPr txBox="1"/>
          <p:nvPr/>
        </p:nvSpPr>
        <p:spPr>
          <a:xfrm>
            <a:off x="507948" y="2736500"/>
            <a:ext cx="1564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SIP Voice</a:t>
            </a:r>
          </a:p>
        </p:txBody>
      </p:sp>
      <p:sp>
        <p:nvSpPr>
          <p:cNvPr id="239" name="Text 41"/>
          <p:cNvSpPr txBox="1"/>
          <p:nvPr/>
        </p:nvSpPr>
        <p:spPr>
          <a:xfrm>
            <a:off x="2042217" y="2736500"/>
            <a:ext cx="23473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承认无具体信息，转人工</a:t>
            </a:r>
          </a:p>
        </p:txBody>
      </p:sp>
      <p:sp>
        <p:nvSpPr>
          <p:cNvPr id="240" name="Text 42"/>
          <p:cNvSpPr/>
          <p:nvPr/>
        </p:nvSpPr>
        <p:spPr>
          <a:xfrm>
            <a:off x="381000" y="3091901"/>
            <a:ext cx="4089500" cy="57358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1" name="Shape 43"/>
          <p:cNvSpPr/>
          <p:nvPr/>
        </p:nvSpPr>
        <p:spPr>
          <a:xfrm flipH="1">
            <a:off x="404810" y="3091901"/>
            <a:ext cx="4" cy="573588"/>
          </a:xfrm>
          <a:prstGeom prst="line">
            <a:avLst/>
          </a:prstGeom>
          <a:ln w="47625">
            <a:solidFill>
              <a:srgbClr val="F1C40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" name="Text 44"/>
          <p:cNvSpPr txBox="1"/>
          <p:nvPr/>
        </p:nvSpPr>
        <p:spPr>
          <a:xfrm>
            <a:off x="581023" y="3218706"/>
            <a:ext cx="3811823" cy="313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根因</a:t>
            </a:r>
            <a:r>
              <a:rPr b="0"/>
              <a:t>：知识库覆盖不足 — 对 toll-free、VoIP、DID、API 等核心产品缺乏知识。</a:t>
            </a:r>
          </a:p>
        </p:txBody>
      </p:sp>
      <p:sp>
        <p:nvSpPr>
          <p:cNvPr id="243" name="Text 14"/>
          <p:cNvSpPr/>
          <p:nvPr/>
        </p:nvSpPr>
        <p:spPr>
          <a:xfrm>
            <a:off x="4673501" y="885675"/>
            <a:ext cx="4089499" cy="896096"/>
          </a:xfrm>
          <a:prstGeom prst="roundRect">
            <a:avLst>
              <a:gd name="adj" fmla="val 85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4" name="Shape 15"/>
          <p:cNvSpPr/>
          <p:nvPr/>
        </p:nvSpPr>
        <p:spPr>
          <a:xfrm>
            <a:off x="4697312" y="885674"/>
            <a:ext cx="4" cy="896098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" name="Text 16"/>
          <p:cNvSpPr txBox="1"/>
          <p:nvPr/>
        </p:nvSpPr>
        <p:spPr>
          <a:xfrm>
            <a:off x="4873526" y="1037925"/>
            <a:ext cx="3811820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品牌信任影响</a:t>
            </a:r>
          </a:p>
        </p:txBody>
      </p:sp>
      <p:sp>
        <p:nvSpPr>
          <p:cNvPr id="246" name="Text 17"/>
          <p:cNvSpPr txBox="1"/>
          <p:nvPr/>
        </p:nvSpPr>
        <p:spPr>
          <a:xfrm>
            <a:off x="4873526" y="1284237"/>
            <a:ext cx="381182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对核心产品回答 "I don't know" — </a:t>
            </a:r>
            <a:r>
              <a:rPr b="1"/>
              <a:t>损害品牌专业形象</a:t>
            </a:r>
            <a:r>
              <a:t>。</a:t>
            </a:r>
          </a:p>
        </p:txBody>
      </p:sp>
      <p:sp>
        <p:nvSpPr>
          <p:cNvPr id="247" name="Text 18"/>
          <p:cNvSpPr txBox="1"/>
          <p:nvPr/>
        </p:nvSpPr>
        <p:spPr>
          <a:xfrm>
            <a:off x="4873526" y="1469529"/>
            <a:ext cx="381182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客户第一次接触就对 AI 产生怀疑，信任重建成本极高。</a:t>
            </a:r>
          </a:p>
        </p:txBody>
      </p:sp>
      <p:sp>
        <p:nvSpPr>
          <p:cNvPr id="248" name="Text 19"/>
          <p:cNvSpPr/>
          <p:nvPr/>
        </p:nvSpPr>
        <p:spPr>
          <a:xfrm>
            <a:off x="4673501" y="1883271"/>
            <a:ext cx="4089499" cy="1081389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9" name="Shape 20"/>
          <p:cNvSpPr/>
          <p:nvPr/>
        </p:nvSpPr>
        <p:spPr>
          <a:xfrm>
            <a:off x="4697312" y="1883267"/>
            <a:ext cx="4" cy="1081389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" name="Text 21"/>
          <p:cNvSpPr txBox="1"/>
          <p:nvPr/>
        </p:nvSpPr>
        <p:spPr>
          <a:xfrm>
            <a:off x="4873526" y="2035522"/>
            <a:ext cx="3811820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商机流失影响</a:t>
            </a:r>
          </a:p>
        </p:txBody>
      </p:sp>
      <p:sp>
        <p:nvSpPr>
          <p:cNvPr id="251" name="Text 22"/>
          <p:cNvSpPr txBox="1"/>
          <p:nvPr/>
        </p:nvSpPr>
        <p:spPr>
          <a:xfrm>
            <a:off x="4873526" y="2281833"/>
            <a:ext cx="381182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销售咨询 </a:t>
            </a:r>
            <a:r>
              <a:rPr b="1"/>
              <a:t>70% 被 AI 跳过</a:t>
            </a:r>
            <a:r>
              <a:t> — 商机在第一接触点流失。</a:t>
            </a:r>
          </a:p>
        </p:txBody>
      </p:sp>
      <p:sp>
        <p:nvSpPr>
          <p:cNvPr id="252" name="Text 23"/>
          <p:cNvSpPr txBox="1"/>
          <p:nvPr/>
        </p:nvSpPr>
        <p:spPr>
          <a:xfrm>
            <a:off x="4873526" y="2467124"/>
            <a:ext cx="381182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无线索收集机制 — 客户流失后无法跟进。</a:t>
            </a:r>
          </a:p>
        </p:txBody>
      </p:sp>
      <p:sp>
        <p:nvSpPr>
          <p:cNvPr id="253" name="Text 24"/>
          <p:cNvSpPr txBox="1"/>
          <p:nvPr/>
        </p:nvSpPr>
        <p:spPr>
          <a:xfrm>
            <a:off x="4873526" y="2652415"/>
            <a:ext cx="381182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核心产品被告知"不知道"后客户可能转向竞品。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0" y="-2"/>
            <a:ext cx="9144000" cy="7587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6" name="Text 1"/>
          <p:cNvSpPr/>
          <p:nvPr/>
        </p:nvSpPr>
        <p:spPr>
          <a:xfrm>
            <a:off x="381000" y="257175"/>
            <a:ext cx="1400026" cy="244376"/>
          </a:xfrm>
          <a:prstGeom prst="rect">
            <a:avLst/>
          </a:prstGeom>
          <a:solidFill>
            <a:srgbClr val="8E44A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7" name="Text 2"/>
          <p:cNvSpPr txBox="1"/>
          <p:nvPr/>
        </p:nvSpPr>
        <p:spPr>
          <a:xfrm>
            <a:off x="533397" y="307925"/>
            <a:ext cx="111713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IMPLICATION</a:t>
            </a:r>
          </a:p>
        </p:txBody>
      </p:sp>
      <p:sp>
        <p:nvSpPr>
          <p:cNvPr id="258" name="Text 3"/>
          <p:cNvSpPr txBox="1"/>
          <p:nvPr/>
        </p:nvSpPr>
        <p:spPr>
          <a:xfrm>
            <a:off x="1984174" y="203150"/>
            <a:ext cx="3626315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商业影响：运营成本与商机流失</a:t>
            </a:r>
          </a:p>
        </p:txBody>
      </p:sp>
      <p:sp>
        <p:nvSpPr>
          <p:cNvPr id="259" name="Text 14"/>
          <p:cNvSpPr/>
          <p:nvPr/>
        </p:nvSpPr>
        <p:spPr>
          <a:xfrm>
            <a:off x="4673501" y="885675"/>
            <a:ext cx="4089499" cy="896096"/>
          </a:xfrm>
          <a:prstGeom prst="roundRect">
            <a:avLst>
              <a:gd name="adj" fmla="val 85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0" name="Shape 15"/>
          <p:cNvSpPr/>
          <p:nvPr/>
        </p:nvSpPr>
        <p:spPr>
          <a:xfrm>
            <a:off x="4697312" y="885674"/>
            <a:ext cx="4" cy="896098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1" name="Text 16"/>
          <p:cNvSpPr txBox="1"/>
          <p:nvPr/>
        </p:nvSpPr>
        <p:spPr>
          <a:xfrm>
            <a:off x="4873526" y="1037925"/>
            <a:ext cx="3811820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品牌信任影响</a:t>
            </a:r>
          </a:p>
        </p:txBody>
      </p:sp>
      <p:sp>
        <p:nvSpPr>
          <p:cNvPr id="262" name="Text 17"/>
          <p:cNvSpPr txBox="1"/>
          <p:nvPr/>
        </p:nvSpPr>
        <p:spPr>
          <a:xfrm>
            <a:off x="4873526" y="1284237"/>
            <a:ext cx="381182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对核心产品回答 "I don't know" — </a:t>
            </a:r>
            <a:r>
              <a:rPr b="1"/>
              <a:t>损害品牌专业形象</a:t>
            </a:r>
            <a:r>
              <a:t>。</a:t>
            </a:r>
          </a:p>
        </p:txBody>
      </p:sp>
      <p:sp>
        <p:nvSpPr>
          <p:cNvPr id="263" name="Text 18"/>
          <p:cNvSpPr txBox="1"/>
          <p:nvPr/>
        </p:nvSpPr>
        <p:spPr>
          <a:xfrm>
            <a:off x="4873526" y="1469529"/>
            <a:ext cx="381182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客户第一次接触就对 AI 产生怀疑，信任重建成本极高。</a:t>
            </a:r>
          </a:p>
        </p:txBody>
      </p:sp>
      <p:sp>
        <p:nvSpPr>
          <p:cNvPr id="264" name="Text 19"/>
          <p:cNvSpPr/>
          <p:nvPr/>
        </p:nvSpPr>
        <p:spPr>
          <a:xfrm>
            <a:off x="4673501" y="1883271"/>
            <a:ext cx="4089499" cy="1081389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5" name="Shape 20"/>
          <p:cNvSpPr/>
          <p:nvPr/>
        </p:nvSpPr>
        <p:spPr>
          <a:xfrm>
            <a:off x="4697312" y="1883271"/>
            <a:ext cx="4" cy="1081389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6" name="Text 21"/>
          <p:cNvSpPr txBox="1"/>
          <p:nvPr/>
        </p:nvSpPr>
        <p:spPr>
          <a:xfrm>
            <a:off x="4873526" y="2035522"/>
            <a:ext cx="3811820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商机流失影响</a:t>
            </a:r>
          </a:p>
        </p:txBody>
      </p:sp>
      <p:sp>
        <p:nvSpPr>
          <p:cNvPr id="267" name="Text 22"/>
          <p:cNvSpPr txBox="1"/>
          <p:nvPr/>
        </p:nvSpPr>
        <p:spPr>
          <a:xfrm>
            <a:off x="4873526" y="2281833"/>
            <a:ext cx="381182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销售咨询 </a:t>
            </a:r>
            <a:r>
              <a:rPr b="1"/>
              <a:t>70% 被 AI 跳过</a:t>
            </a:r>
            <a:r>
              <a:t> — 商机在第一接触点流失。</a:t>
            </a:r>
          </a:p>
        </p:txBody>
      </p:sp>
      <p:sp>
        <p:nvSpPr>
          <p:cNvPr id="268" name="Text 23"/>
          <p:cNvSpPr txBox="1"/>
          <p:nvPr/>
        </p:nvSpPr>
        <p:spPr>
          <a:xfrm>
            <a:off x="4873526" y="2467124"/>
            <a:ext cx="381182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无线索收集机制 — 客户流失后无法跟进。</a:t>
            </a:r>
          </a:p>
        </p:txBody>
      </p:sp>
      <p:sp>
        <p:nvSpPr>
          <p:cNvPr id="269" name="Text 24"/>
          <p:cNvSpPr txBox="1"/>
          <p:nvPr/>
        </p:nvSpPr>
        <p:spPr>
          <a:xfrm>
            <a:off x="4873526" y="2652415"/>
            <a:ext cx="381182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核心产品被告知"不知道"后客户可能转向竞品。</a:t>
            </a:r>
          </a:p>
        </p:txBody>
      </p:sp>
      <p:sp>
        <p:nvSpPr>
          <p:cNvPr id="270" name="Text 25"/>
          <p:cNvSpPr/>
          <p:nvPr/>
        </p:nvSpPr>
        <p:spPr>
          <a:xfrm>
            <a:off x="4673501" y="3066157"/>
            <a:ext cx="4089499" cy="1332756"/>
          </a:xfrm>
          <a:prstGeom prst="roundRect">
            <a:avLst>
              <a:gd name="adj" fmla="val 5717"/>
            </a:avLst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1" name="Text 26"/>
          <p:cNvSpPr txBox="1"/>
          <p:nvPr/>
        </p:nvSpPr>
        <p:spPr>
          <a:xfrm>
            <a:off x="4844951" y="3212008"/>
            <a:ext cx="3821532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典型反面案例 INQ-002EK2</a:t>
            </a:r>
          </a:p>
        </p:txBody>
      </p:sp>
      <p:sp>
        <p:nvSpPr>
          <p:cNvPr id="272" name="Text 27"/>
          <p:cNvSpPr txBox="1"/>
          <p:nvPr/>
        </p:nvSpPr>
        <p:spPr>
          <a:xfrm>
            <a:off x="4844951" y="3440460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客户：I need Denmark toll free</a:t>
            </a:r>
          </a:p>
        </p:txBody>
      </p:sp>
      <p:sp>
        <p:nvSpPr>
          <p:cNvPr id="273" name="Text 28"/>
          <p:cNvSpPr txBox="1"/>
          <p:nvPr/>
        </p:nvSpPr>
        <p:spPr>
          <a:xfrm>
            <a:off x="4844951" y="3608039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AI：I don't have specific information...</a:t>
            </a:r>
          </a:p>
        </p:txBody>
      </p:sp>
      <p:sp>
        <p:nvSpPr>
          <p:cNvPr id="274" name="Text 29"/>
          <p:cNvSpPr txBox="1"/>
          <p:nvPr/>
        </p:nvSpPr>
        <p:spPr>
          <a:xfrm>
            <a:off x="4844951" y="3775621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客户：May I talk to sales team</a:t>
            </a:r>
          </a:p>
        </p:txBody>
      </p:sp>
      <p:sp>
        <p:nvSpPr>
          <p:cNvPr id="275" name="Text 30"/>
          <p:cNvSpPr txBox="1"/>
          <p:nvPr/>
        </p:nvSpPr>
        <p:spPr>
          <a:xfrm>
            <a:off x="4844951" y="3943201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AI：All agents unavailable. Please try again later.</a:t>
            </a:r>
          </a:p>
        </p:txBody>
      </p:sp>
      <p:sp>
        <p:nvSpPr>
          <p:cNvPr id="276" name="Text 31"/>
          <p:cNvSpPr txBox="1"/>
          <p:nvPr/>
        </p:nvSpPr>
        <p:spPr>
          <a:xfrm>
            <a:off x="4844951" y="4110782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KB 缺失 + 转人工失败 + 客户等待 2 分钟</a:t>
            </a:r>
          </a:p>
        </p:txBody>
      </p:sp>
      <p:sp>
        <p:nvSpPr>
          <p:cNvPr id="277" name="Text 4"/>
          <p:cNvSpPr/>
          <p:nvPr/>
        </p:nvSpPr>
        <p:spPr>
          <a:xfrm>
            <a:off x="381000" y="885675"/>
            <a:ext cx="4089352" cy="1314155"/>
          </a:xfrm>
          <a:prstGeom prst="roundRect">
            <a:avLst>
              <a:gd name="adj" fmla="val 5798"/>
            </a:avLst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8" name="Text 5"/>
          <p:cNvSpPr txBox="1"/>
          <p:nvPr/>
        </p:nvSpPr>
        <p:spPr>
          <a:xfrm>
            <a:off x="521359" y="1063375"/>
            <a:ext cx="380863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0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 次 / 样本</a:t>
            </a:r>
          </a:p>
        </p:txBody>
      </p:sp>
      <p:sp>
        <p:nvSpPr>
          <p:cNvPr id="279" name="Text 6"/>
          <p:cNvSpPr txBox="1"/>
          <p:nvPr/>
        </p:nvSpPr>
        <p:spPr>
          <a:xfrm>
            <a:off x="521359" y="1647525"/>
            <a:ext cx="380863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sz="9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异常转人工 = 本可自动处理的工单</a:t>
            </a:r>
          </a:p>
        </p:txBody>
      </p:sp>
      <p:sp>
        <p:nvSpPr>
          <p:cNvPr id="280" name="Text 7"/>
          <p:cNvSpPr txBox="1"/>
          <p:nvPr/>
        </p:nvSpPr>
        <p:spPr>
          <a:xfrm>
            <a:off x="521359" y="1860200"/>
            <a:ext cx="380863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sz="9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月均浪费 6+ 小时高级客服时间</a:t>
            </a:r>
          </a:p>
        </p:txBody>
      </p:sp>
      <p:sp>
        <p:nvSpPr>
          <p:cNvPr id="281" name="Text 8"/>
          <p:cNvSpPr/>
          <p:nvPr/>
        </p:nvSpPr>
        <p:spPr>
          <a:xfrm>
            <a:off x="381000" y="2301326"/>
            <a:ext cx="4089352" cy="1081388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2" name="Shape 9"/>
          <p:cNvSpPr/>
          <p:nvPr/>
        </p:nvSpPr>
        <p:spPr>
          <a:xfrm flipH="1">
            <a:off x="404813" y="2301325"/>
            <a:ext cx="4" cy="1081389"/>
          </a:xfrm>
          <a:prstGeom prst="line">
            <a:avLst/>
          </a:prstGeom>
          <a:ln w="47625">
            <a:solidFill>
              <a:srgbClr val="8E44A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3" name="Text 10"/>
          <p:cNvSpPr txBox="1"/>
          <p:nvPr/>
        </p:nvSpPr>
        <p:spPr>
          <a:xfrm>
            <a:off x="581021" y="2453580"/>
            <a:ext cx="3811670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运营成本影响</a:t>
            </a:r>
          </a:p>
        </p:txBody>
      </p:sp>
      <p:sp>
        <p:nvSpPr>
          <p:cNvPr id="284" name="Text 11"/>
          <p:cNvSpPr txBox="1"/>
          <p:nvPr/>
        </p:nvSpPr>
        <p:spPr>
          <a:xfrm>
            <a:off x="581021" y="2699891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异常转人工将</a:t>
            </a:r>
            <a:r>
              <a:rPr b="1"/>
              <a:t>本可自动化的工单</a:t>
            </a:r>
            <a:r>
              <a:t>压到人工队列。</a:t>
            </a:r>
          </a:p>
        </p:txBody>
      </p:sp>
      <p:sp>
        <p:nvSpPr>
          <p:cNvPr id="285" name="Text 12"/>
          <p:cNvSpPr txBox="1"/>
          <p:nvPr/>
        </p:nvSpPr>
        <p:spPr>
          <a:xfrm>
            <a:off x="581021" y="2885182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高频接单人员工作负荷集中，覆盖多类话题。</a:t>
            </a:r>
          </a:p>
        </p:txBody>
      </p:sp>
      <p:sp>
        <p:nvSpPr>
          <p:cNvPr id="286" name="Text 13"/>
          <p:cNvSpPr txBox="1"/>
          <p:nvPr/>
        </p:nvSpPr>
        <p:spPr>
          <a:xfrm>
            <a:off x="581021" y="3070473"/>
            <a:ext cx="3811670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随业务增长人工压力</a:t>
            </a:r>
            <a:r>
              <a:rPr b="1"/>
              <a:t>线性增加</a:t>
            </a:r>
            <a:r>
              <a:t>，AI 投资未释放效能。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0" y="-2"/>
            <a:ext cx="9144000" cy="7968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9" name="Text 1"/>
          <p:cNvSpPr/>
          <p:nvPr/>
        </p:nvSpPr>
        <p:spPr>
          <a:xfrm>
            <a:off x="381000" y="276225"/>
            <a:ext cx="1473101" cy="244376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0" name="Text 2"/>
          <p:cNvSpPr txBox="1"/>
          <p:nvPr/>
        </p:nvSpPr>
        <p:spPr>
          <a:xfrm>
            <a:off x="533400" y="326975"/>
            <a:ext cx="119166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NEED-PAYOFF</a:t>
            </a:r>
          </a:p>
        </p:txBody>
      </p:sp>
      <p:sp>
        <p:nvSpPr>
          <p:cNvPr id="291" name="Text 3"/>
          <p:cNvSpPr txBox="1"/>
          <p:nvPr/>
        </p:nvSpPr>
        <p:spPr>
          <a:xfrm>
            <a:off x="2057251" y="203147"/>
            <a:ext cx="2960343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解决方案概述</a:t>
            </a:r>
          </a:p>
        </p:txBody>
      </p:sp>
      <p:sp>
        <p:nvSpPr>
          <p:cNvPr id="292" name="Text 4"/>
          <p:cNvSpPr/>
          <p:nvPr/>
        </p:nvSpPr>
        <p:spPr>
          <a:xfrm>
            <a:off x="381000" y="923775"/>
            <a:ext cx="8382000" cy="568229"/>
          </a:xfrm>
          <a:prstGeom prst="roundRect">
            <a:avLst>
              <a:gd name="adj" fmla="val 1341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3" name="Text 5"/>
          <p:cNvSpPr/>
          <p:nvPr/>
        </p:nvSpPr>
        <p:spPr>
          <a:xfrm>
            <a:off x="2094607" y="1050727"/>
            <a:ext cx="431606" cy="314329"/>
          </a:xfrm>
          <a:prstGeom prst="roundRect">
            <a:avLst>
              <a:gd name="adj" fmla="val 16162"/>
            </a:avLst>
          </a:prstGeom>
          <a:solidFill>
            <a:srgbClr val="3498D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4" name="Text 6"/>
          <p:cNvSpPr txBox="1"/>
          <p:nvPr/>
        </p:nvSpPr>
        <p:spPr>
          <a:xfrm>
            <a:off x="2193818" y="1126927"/>
            <a:ext cx="23317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</a:t>
            </a:r>
          </a:p>
        </p:txBody>
      </p:sp>
      <p:sp>
        <p:nvSpPr>
          <p:cNvPr id="295" name="Text 7"/>
          <p:cNvSpPr txBox="1"/>
          <p:nvPr/>
        </p:nvSpPr>
        <p:spPr>
          <a:xfrm>
            <a:off x="2576958" y="1122162"/>
            <a:ext cx="142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296" name="Text 8"/>
          <p:cNvSpPr/>
          <p:nvPr/>
        </p:nvSpPr>
        <p:spPr>
          <a:xfrm>
            <a:off x="2767458" y="1065012"/>
            <a:ext cx="806354" cy="285754"/>
          </a:xfrm>
          <a:prstGeom prst="roundRect">
            <a:avLst>
              <a:gd name="adj" fmla="val 17778"/>
            </a:avLst>
          </a:prstGeom>
          <a:solidFill>
            <a:srgbClr val="2C3E5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7" name="Text 9"/>
          <p:cNvSpPr txBox="1"/>
          <p:nvPr/>
        </p:nvSpPr>
        <p:spPr>
          <a:xfrm>
            <a:off x="2862926" y="1141212"/>
            <a:ext cx="6154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IM</a:t>
            </a:r>
          </a:p>
        </p:txBody>
      </p:sp>
      <p:sp>
        <p:nvSpPr>
          <p:cNvPr id="298" name="Text 10"/>
          <p:cNvSpPr txBox="1"/>
          <p:nvPr/>
        </p:nvSpPr>
        <p:spPr>
          <a:xfrm>
            <a:off x="3624560" y="1122162"/>
            <a:ext cx="142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299" name="Text 11"/>
          <p:cNvSpPr/>
          <p:nvPr/>
        </p:nvSpPr>
        <p:spPr>
          <a:xfrm>
            <a:off x="3815060" y="1065012"/>
            <a:ext cx="673005" cy="285754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0" name="Text 12"/>
          <p:cNvSpPr txBox="1"/>
          <p:nvPr/>
        </p:nvSpPr>
        <p:spPr>
          <a:xfrm>
            <a:off x="3911860" y="1141212"/>
            <a:ext cx="4793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</a:t>
            </a:r>
          </a:p>
        </p:txBody>
      </p:sp>
      <p:sp>
        <p:nvSpPr>
          <p:cNvPr id="301" name="Text 13"/>
          <p:cNvSpPr txBox="1"/>
          <p:nvPr/>
        </p:nvSpPr>
        <p:spPr>
          <a:xfrm>
            <a:off x="4538810" y="1122162"/>
            <a:ext cx="142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302" name="Text 14"/>
          <p:cNvSpPr/>
          <p:nvPr/>
        </p:nvSpPr>
        <p:spPr>
          <a:xfrm>
            <a:off x="4729310" y="1050727"/>
            <a:ext cx="831656" cy="314329"/>
          </a:xfrm>
          <a:prstGeom prst="roundRect">
            <a:avLst>
              <a:gd name="adj" fmla="val 16162"/>
            </a:avLst>
          </a:prstGeom>
          <a:solidFill>
            <a:srgbClr val="8E44A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3" name="Text 15"/>
          <p:cNvSpPr txBox="1"/>
          <p:nvPr/>
        </p:nvSpPr>
        <p:spPr>
          <a:xfrm>
            <a:off x="4824526" y="1126927"/>
            <a:ext cx="64122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知识库 RAG</a:t>
            </a:r>
          </a:p>
        </p:txBody>
      </p:sp>
      <p:sp>
        <p:nvSpPr>
          <p:cNvPr id="304" name="Text 16"/>
          <p:cNvSpPr txBox="1"/>
          <p:nvPr/>
        </p:nvSpPr>
        <p:spPr>
          <a:xfrm>
            <a:off x="5611712" y="1122162"/>
            <a:ext cx="4038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|</a:t>
            </a:r>
          </a:p>
        </p:txBody>
      </p:sp>
      <p:sp>
        <p:nvSpPr>
          <p:cNvPr id="305" name="Text 17"/>
          <p:cNvSpPr/>
          <p:nvPr/>
        </p:nvSpPr>
        <p:spPr>
          <a:xfrm>
            <a:off x="5702051" y="1050727"/>
            <a:ext cx="545906" cy="314329"/>
          </a:xfrm>
          <a:prstGeom prst="roundRect">
            <a:avLst>
              <a:gd name="adj" fmla="val 16162"/>
            </a:avLst>
          </a:prstGeom>
          <a:solidFill>
            <a:srgbClr val="E67E2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6" name="Text 18"/>
          <p:cNvSpPr txBox="1"/>
          <p:nvPr/>
        </p:nvSpPr>
        <p:spPr>
          <a:xfrm>
            <a:off x="5800123" y="1126927"/>
            <a:ext cx="3497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转人工</a:t>
            </a:r>
          </a:p>
        </p:txBody>
      </p:sp>
      <p:sp>
        <p:nvSpPr>
          <p:cNvPr id="307" name="Text 19"/>
          <p:cNvSpPr txBox="1"/>
          <p:nvPr/>
        </p:nvSpPr>
        <p:spPr>
          <a:xfrm>
            <a:off x="6298703" y="1122162"/>
            <a:ext cx="4038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|</a:t>
            </a:r>
          </a:p>
        </p:txBody>
      </p:sp>
      <p:sp>
        <p:nvSpPr>
          <p:cNvPr id="308" name="Text 20"/>
          <p:cNvSpPr/>
          <p:nvPr/>
        </p:nvSpPr>
        <p:spPr>
          <a:xfrm>
            <a:off x="6389042" y="1050727"/>
            <a:ext cx="660206" cy="314329"/>
          </a:xfrm>
          <a:prstGeom prst="roundRect">
            <a:avLst>
              <a:gd name="adj" fmla="val 16162"/>
            </a:avLst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9" name="Text 21"/>
          <p:cNvSpPr txBox="1"/>
          <p:nvPr/>
        </p:nvSpPr>
        <p:spPr>
          <a:xfrm>
            <a:off x="6485971" y="1126927"/>
            <a:ext cx="46634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线索收集</a:t>
            </a:r>
          </a:p>
        </p:txBody>
      </p:sp>
      <p:sp>
        <p:nvSpPr>
          <p:cNvPr id="310" name="Text 22"/>
          <p:cNvSpPr/>
          <p:nvPr/>
        </p:nvSpPr>
        <p:spPr>
          <a:xfrm>
            <a:off x="381000" y="1593503"/>
            <a:ext cx="2709267" cy="291852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1" name="Shape 23"/>
          <p:cNvSpPr/>
          <p:nvPr/>
        </p:nvSpPr>
        <p:spPr>
          <a:xfrm>
            <a:off x="380998" y="1612553"/>
            <a:ext cx="2709271" cy="4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" name="Text 24"/>
          <p:cNvSpPr txBox="1"/>
          <p:nvPr/>
        </p:nvSpPr>
        <p:spPr>
          <a:xfrm>
            <a:off x="533398" y="1783850"/>
            <a:ext cx="2452561" cy="185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始终在线</a:t>
            </a:r>
          </a:p>
        </p:txBody>
      </p:sp>
      <p:sp>
        <p:nvSpPr>
          <p:cNvPr id="313" name="Text 25"/>
          <p:cNvSpPr txBox="1"/>
          <p:nvPr/>
        </p:nvSpPr>
        <p:spPr>
          <a:xfrm>
            <a:off x="533398" y="2012305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 7x24 小时待命</a:t>
            </a:r>
          </a:p>
        </p:txBody>
      </p:sp>
      <p:sp>
        <p:nvSpPr>
          <p:cNvPr id="314" name="Text 26"/>
          <p:cNvSpPr txBox="1"/>
          <p:nvPr/>
        </p:nvSpPr>
        <p:spPr>
          <a:xfrm>
            <a:off x="533398" y="2179883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不受路由配置影响</a:t>
            </a:r>
          </a:p>
        </p:txBody>
      </p:sp>
      <p:sp>
        <p:nvSpPr>
          <p:cNvPr id="315" name="Text 27"/>
          <p:cNvSpPr txBox="1"/>
          <p:nvPr/>
        </p:nvSpPr>
        <p:spPr>
          <a:xfrm>
            <a:off x="533398" y="2347466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先收集线索再分流</a:t>
            </a:r>
          </a:p>
        </p:txBody>
      </p:sp>
      <p:sp>
        <p:nvSpPr>
          <p:cNvPr id="316" name="Text 28"/>
          <p:cNvSpPr txBox="1"/>
          <p:nvPr/>
        </p:nvSpPr>
        <p:spPr>
          <a:xfrm>
            <a:off x="533398" y="2515046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合理等待机制</a:t>
            </a:r>
          </a:p>
        </p:txBody>
      </p:sp>
      <p:sp>
        <p:nvSpPr>
          <p:cNvPr id="317" name="Text 29"/>
          <p:cNvSpPr/>
          <p:nvPr/>
        </p:nvSpPr>
        <p:spPr>
          <a:xfrm>
            <a:off x="3217216" y="1593503"/>
            <a:ext cx="2709418" cy="291852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8" name="Shape 30"/>
          <p:cNvSpPr/>
          <p:nvPr/>
        </p:nvSpPr>
        <p:spPr>
          <a:xfrm>
            <a:off x="3217216" y="1612553"/>
            <a:ext cx="2709420" cy="4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9" name="Text 31"/>
          <p:cNvSpPr txBox="1"/>
          <p:nvPr/>
        </p:nvSpPr>
        <p:spPr>
          <a:xfrm>
            <a:off x="3369617" y="1783850"/>
            <a:ext cx="2452712" cy="185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精准回答</a:t>
            </a:r>
          </a:p>
        </p:txBody>
      </p:sp>
      <p:sp>
        <p:nvSpPr>
          <p:cNvPr id="320" name="Text 32"/>
          <p:cNvSpPr txBox="1"/>
          <p:nvPr/>
        </p:nvSpPr>
        <p:spPr>
          <a:xfrm>
            <a:off x="3369617" y="2012305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 知识库覆盖全产品线</a:t>
            </a:r>
          </a:p>
        </p:txBody>
      </p:sp>
      <p:sp>
        <p:nvSpPr>
          <p:cNvPr id="321" name="Text 33"/>
          <p:cNvSpPr txBox="1"/>
          <p:nvPr/>
        </p:nvSpPr>
        <p:spPr>
          <a:xfrm>
            <a:off x="3369617" y="2179883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反幻觉：查不到不编造</a:t>
            </a:r>
          </a:p>
        </p:txBody>
      </p:sp>
      <p:sp>
        <p:nvSpPr>
          <p:cNvPr id="322" name="Text 34"/>
          <p:cNvSpPr txBox="1"/>
          <p:nvPr/>
        </p:nvSpPr>
        <p:spPr>
          <a:xfrm>
            <a:off x="3369617" y="2347466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精准定价：不捏造价格</a:t>
            </a:r>
          </a:p>
        </p:txBody>
      </p:sp>
      <p:sp>
        <p:nvSpPr>
          <p:cNvPr id="323" name="Text 35"/>
          <p:cNvSpPr txBox="1"/>
          <p:nvPr/>
        </p:nvSpPr>
        <p:spPr>
          <a:xfrm>
            <a:off x="3369617" y="2515046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多轮对话上下文记忆</a:t>
            </a:r>
          </a:p>
        </p:txBody>
      </p:sp>
      <p:sp>
        <p:nvSpPr>
          <p:cNvPr id="324" name="Text 36"/>
          <p:cNvSpPr/>
          <p:nvPr/>
        </p:nvSpPr>
        <p:spPr>
          <a:xfrm>
            <a:off x="6053582" y="1593503"/>
            <a:ext cx="2709418" cy="291852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5" name="Shape 37"/>
          <p:cNvSpPr/>
          <p:nvPr/>
        </p:nvSpPr>
        <p:spPr>
          <a:xfrm>
            <a:off x="6053580" y="1612553"/>
            <a:ext cx="2709422" cy="4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" name="Text 38"/>
          <p:cNvSpPr txBox="1"/>
          <p:nvPr/>
        </p:nvSpPr>
        <p:spPr>
          <a:xfrm>
            <a:off x="6205982" y="1783850"/>
            <a:ext cx="2452712" cy="185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智能分流</a:t>
            </a:r>
          </a:p>
        </p:txBody>
      </p:sp>
      <p:sp>
        <p:nvSpPr>
          <p:cNvPr id="327" name="Text 39"/>
          <p:cNvSpPr txBox="1"/>
          <p:nvPr/>
        </p:nvSpPr>
        <p:spPr>
          <a:xfrm>
            <a:off x="6205982" y="2012305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自动识别客户类型</a:t>
            </a:r>
          </a:p>
        </p:txBody>
      </p:sp>
      <p:sp>
        <p:nvSpPr>
          <p:cNvPr id="328" name="Text 40"/>
          <p:cNvSpPr txBox="1"/>
          <p:nvPr/>
        </p:nvSpPr>
        <p:spPr>
          <a:xfrm>
            <a:off x="6205982" y="2179883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区分场景智能路由</a:t>
            </a:r>
          </a:p>
        </p:txBody>
      </p:sp>
      <p:sp>
        <p:nvSpPr>
          <p:cNvPr id="329" name="Text 41"/>
          <p:cNvSpPr txBox="1"/>
          <p:nvPr/>
        </p:nvSpPr>
        <p:spPr>
          <a:xfrm>
            <a:off x="6205982" y="2347466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即时响应转人工请求</a:t>
            </a:r>
          </a:p>
        </p:txBody>
      </p:sp>
      <p:sp>
        <p:nvSpPr>
          <p:cNvPr id="330" name="Text 42"/>
          <p:cNvSpPr txBox="1"/>
          <p:nvPr/>
        </p:nvSpPr>
        <p:spPr>
          <a:xfrm>
            <a:off x="6205982" y="2515046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拼写错误自动理解</a:t>
            </a:r>
          </a:p>
        </p:txBody>
      </p:sp>
      <p:sp>
        <p:nvSpPr>
          <p:cNvPr id="331" name="Text 43"/>
          <p:cNvSpPr/>
          <p:nvPr/>
        </p:nvSpPr>
        <p:spPr>
          <a:xfrm>
            <a:off x="381000" y="4613523"/>
            <a:ext cx="8382000" cy="403031"/>
          </a:xfrm>
          <a:prstGeom prst="roundRect">
            <a:avLst>
              <a:gd name="adj" fmla="val 18907"/>
            </a:avLst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2" name="Text 44"/>
          <p:cNvSpPr txBox="1"/>
          <p:nvPr/>
        </p:nvSpPr>
        <p:spPr>
          <a:xfrm>
            <a:off x="478435" y="4715023"/>
            <a:ext cx="818712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核心理念：AI 不只是"回答问题"，而是完整的客户旅程管理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 0"/>
          <p:cNvSpPr/>
          <p:nvPr/>
        </p:nvSpPr>
        <p:spPr>
          <a:xfrm>
            <a:off x="0" y="-2"/>
            <a:ext cx="9144000" cy="7587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5" name="Text 1"/>
          <p:cNvSpPr/>
          <p:nvPr/>
        </p:nvSpPr>
        <p:spPr>
          <a:xfrm>
            <a:off x="381000" y="257175"/>
            <a:ext cx="1473101" cy="244376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6" name="Text 2"/>
          <p:cNvSpPr txBox="1"/>
          <p:nvPr/>
        </p:nvSpPr>
        <p:spPr>
          <a:xfrm>
            <a:off x="533400" y="307925"/>
            <a:ext cx="119166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NEED-PAYOFF</a:t>
            </a:r>
          </a:p>
        </p:txBody>
      </p:sp>
      <p:sp>
        <p:nvSpPr>
          <p:cNvPr id="337" name="Text 3"/>
          <p:cNvSpPr txBox="1"/>
          <p:nvPr/>
        </p:nvSpPr>
        <p:spPr>
          <a:xfrm>
            <a:off x="2057249" y="203150"/>
            <a:ext cx="431247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UAT 已验证能力 - 3 轮 19 项全部通过</a:t>
            </a:r>
          </a:p>
        </p:txBody>
      </p:sp>
      <p:sp>
        <p:nvSpPr>
          <p:cNvPr id="338" name="Text 4"/>
          <p:cNvSpPr/>
          <p:nvPr/>
        </p:nvSpPr>
        <p:spPr>
          <a:xfrm>
            <a:off x="381000" y="885675"/>
            <a:ext cx="3281661" cy="869754"/>
          </a:xfrm>
          <a:prstGeom prst="roundRect">
            <a:avLst>
              <a:gd name="adj" fmla="val 8761"/>
            </a:avLst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9" name="Text 5"/>
          <p:cNvSpPr txBox="1"/>
          <p:nvPr/>
        </p:nvSpPr>
        <p:spPr>
          <a:xfrm>
            <a:off x="477673" y="1012627"/>
            <a:ext cx="3088316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 / 19</a:t>
            </a:r>
          </a:p>
        </p:txBody>
      </p:sp>
      <p:sp>
        <p:nvSpPr>
          <p:cNvPr id="340" name="Text 6"/>
          <p:cNvSpPr txBox="1"/>
          <p:nvPr/>
        </p:nvSpPr>
        <p:spPr>
          <a:xfrm>
            <a:off x="477673" y="1447500"/>
            <a:ext cx="308831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测试用例 100% 通过</a:t>
            </a:r>
          </a:p>
        </p:txBody>
      </p:sp>
      <p:sp>
        <p:nvSpPr>
          <p:cNvPr id="341" name="Text 7"/>
          <p:cNvSpPr/>
          <p:nvPr/>
        </p:nvSpPr>
        <p:spPr>
          <a:xfrm>
            <a:off x="381000" y="1831625"/>
            <a:ext cx="3281661" cy="88687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2" name="Shape 8"/>
          <p:cNvSpPr/>
          <p:nvPr/>
        </p:nvSpPr>
        <p:spPr>
          <a:xfrm flipH="1">
            <a:off x="404813" y="1831625"/>
            <a:ext cx="4" cy="886870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3" name="Text 9"/>
          <p:cNvSpPr txBox="1"/>
          <p:nvPr/>
        </p:nvSpPr>
        <p:spPr>
          <a:xfrm>
            <a:off x="555573" y="1958426"/>
            <a:ext cx="3039743" cy="150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轮迭代优化</a:t>
            </a:r>
          </a:p>
        </p:txBody>
      </p:sp>
      <p:sp>
        <p:nvSpPr>
          <p:cNvPr id="344" name="Text 10"/>
          <p:cNvSpPr txBox="1"/>
          <p:nvPr/>
        </p:nvSpPr>
        <p:spPr>
          <a:xfrm>
            <a:off x="555573" y="2145058"/>
            <a:ext cx="3039743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R1</a:t>
            </a:r>
            <a:r>
              <a:rPr b="0"/>
              <a:t>：基础功能验证</a:t>
            </a:r>
          </a:p>
        </p:txBody>
      </p:sp>
      <p:sp>
        <p:nvSpPr>
          <p:cNvPr id="345" name="Text 11"/>
          <p:cNvSpPr txBox="1"/>
          <p:nvPr/>
        </p:nvSpPr>
        <p:spPr>
          <a:xfrm>
            <a:off x="555573" y="2302371"/>
            <a:ext cx="3039743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R2</a:t>
            </a:r>
            <a:r>
              <a:rPr b="0"/>
              <a:t>：修复路由、身份验证、来源引用</a:t>
            </a:r>
          </a:p>
        </p:txBody>
      </p:sp>
      <p:sp>
        <p:nvSpPr>
          <p:cNvPr id="346" name="Text 12"/>
          <p:cNvSpPr txBox="1"/>
          <p:nvPr/>
        </p:nvSpPr>
        <p:spPr>
          <a:xfrm>
            <a:off x="555573" y="2459682"/>
            <a:ext cx="3039743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R3</a:t>
            </a:r>
            <a:r>
              <a:rPr b="0"/>
              <a:t>：修复模糊请求、添加 Discovery Phase</a:t>
            </a:r>
          </a:p>
        </p:txBody>
      </p:sp>
      <p:sp>
        <p:nvSpPr>
          <p:cNvPr id="347" name="Text 13"/>
          <p:cNvSpPr/>
          <p:nvPr/>
        </p:nvSpPr>
        <p:spPr>
          <a:xfrm>
            <a:off x="381000" y="2794692"/>
            <a:ext cx="3281661" cy="88687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8" name="Shape 14"/>
          <p:cNvSpPr/>
          <p:nvPr/>
        </p:nvSpPr>
        <p:spPr>
          <a:xfrm flipH="1">
            <a:off x="404813" y="2794692"/>
            <a:ext cx="4" cy="886868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9" name="Text 15"/>
          <p:cNvSpPr txBox="1"/>
          <p:nvPr/>
        </p:nvSpPr>
        <p:spPr>
          <a:xfrm>
            <a:off x="555573" y="2921496"/>
            <a:ext cx="3039743" cy="150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关键回归验证</a:t>
            </a:r>
          </a:p>
        </p:txBody>
      </p:sp>
      <p:sp>
        <p:nvSpPr>
          <p:cNvPr id="350" name="Text 16"/>
          <p:cNvSpPr txBox="1"/>
          <p:nvPr/>
        </p:nvSpPr>
        <p:spPr>
          <a:xfrm>
            <a:off x="555573" y="3108125"/>
            <a:ext cx="3039743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TC-A2 现有客户识别 PASS</a:t>
            </a:r>
          </a:p>
        </p:txBody>
      </p:sp>
      <p:sp>
        <p:nvSpPr>
          <p:cNvPr id="351" name="Text 17"/>
          <p:cNvSpPr txBox="1"/>
          <p:nvPr/>
        </p:nvSpPr>
        <p:spPr>
          <a:xfrm>
            <a:off x="555573" y="3265437"/>
            <a:ext cx="3039743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TC-B1 WhatsApp 咨询 PASS</a:t>
            </a:r>
          </a:p>
        </p:txBody>
      </p:sp>
      <p:sp>
        <p:nvSpPr>
          <p:cNvPr id="352" name="Text 18"/>
          <p:cNvSpPr txBox="1"/>
          <p:nvPr/>
        </p:nvSpPr>
        <p:spPr>
          <a:xfrm>
            <a:off x="555573" y="3422748"/>
            <a:ext cx="3039743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TC-H2 模糊请求处理 PASS</a:t>
            </a:r>
          </a:p>
        </p:txBody>
      </p:sp>
      <p:sp>
        <p:nvSpPr>
          <p:cNvPr id="353" name="Text 19"/>
          <p:cNvSpPr/>
          <p:nvPr/>
        </p:nvSpPr>
        <p:spPr>
          <a:xfrm>
            <a:off x="3840360" y="885675"/>
            <a:ext cx="4922640" cy="2815234"/>
          </a:xfrm>
          <a:prstGeom prst="roundRect">
            <a:avLst>
              <a:gd name="adj" fmla="val 270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4" name="Text 20"/>
          <p:cNvSpPr txBox="1"/>
          <p:nvPr/>
        </p:nvSpPr>
        <p:spPr>
          <a:xfrm>
            <a:off x="3992761" y="1012627"/>
            <a:ext cx="471019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defRPr b="1" sz="11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能力验证矩阵</a:t>
            </a:r>
          </a:p>
        </p:txBody>
      </p:sp>
      <p:sp>
        <p:nvSpPr>
          <p:cNvPr id="355" name="Text 21"/>
          <p:cNvSpPr/>
          <p:nvPr/>
        </p:nvSpPr>
        <p:spPr>
          <a:xfrm>
            <a:off x="3992760" y="1288852"/>
            <a:ext cx="4617840" cy="253905"/>
          </a:xfrm>
          <a:prstGeom prst="roundRect">
            <a:avLst>
              <a:gd name="adj" fmla="val 15006"/>
            </a:avLst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6" name="Shape 22"/>
          <p:cNvSpPr/>
          <p:nvPr/>
        </p:nvSpPr>
        <p:spPr>
          <a:xfrm>
            <a:off x="3992760" y="1537990"/>
            <a:ext cx="461784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7" name="Text 23"/>
          <p:cNvSpPr txBox="1"/>
          <p:nvPr/>
        </p:nvSpPr>
        <p:spPr>
          <a:xfrm>
            <a:off x="3992760" y="1339600"/>
            <a:ext cx="14873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能力</a:t>
            </a:r>
          </a:p>
        </p:txBody>
      </p:sp>
      <p:sp>
        <p:nvSpPr>
          <p:cNvPr id="358" name="Text 24"/>
          <p:cNvSpPr txBox="1"/>
          <p:nvPr/>
        </p:nvSpPr>
        <p:spPr>
          <a:xfrm>
            <a:off x="5450978" y="1339600"/>
            <a:ext cx="2479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说明</a:t>
            </a:r>
          </a:p>
        </p:txBody>
      </p:sp>
      <p:sp>
        <p:nvSpPr>
          <p:cNvPr id="359" name="Text 25"/>
          <p:cNvSpPr txBox="1"/>
          <p:nvPr/>
        </p:nvSpPr>
        <p:spPr>
          <a:xfrm>
            <a:off x="7874199" y="1339600"/>
            <a:ext cx="74369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测试</a:t>
            </a:r>
          </a:p>
        </p:txBody>
      </p:sp>
      <p:sp>
        <p:nvSpPr>
          <p:cNvPr id="360" name="Shape 26"/>
          <p:cNvSpPr/>
          <p:nvPr/>
        </p:nvSpPr>
        <p:spPr>
          <a:xfrm>
            <a:off x="3992760" y="1791891"/>
            <a:ext cx="461784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1" name="Text 27"/>
          <p:cNvSpPr txBox="1"/>
          <p:nvPr/>
        </p:nvSpPr>
        <p:spPr>
          <a:xfrm>
            <a:off x="3992760" y="1593503"/>
            <a:ext cx="14873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客户识别</a:t>
            </a:r>
          </a:p>
        </p:txBody>
      </p:sp>
      <p:sp>
        <p:nvSpPr>
          <p:cNvPr id="362" name="Text 28"/>
          <p:cNvSpPr txBox="1"/>
          <p:nvPr/>
        </p:nvSpPr>
        <p:spPr>
          <a:xfrm>
            <a:off x="5450978" y="1593503"/>
            <a:ext cx="2479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新客户/老客户/合作伙伴自动分流</a:t>
            </a:r>
          </a:p>
        </p:txBody>
      </p:sp>
      <p:sp>
        <p:nvSpPr>
          <p:cNvPr id="363" name="Text 29"/>
          <p:cNvSpPr txBox="1"/>
          <p:nvPr/>
        </p:nvSpPr>
        <p:spPr>
          <a:xfrm>
            <a:off x="7874199" y="1593503"/>
            <a:ext cx="7436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TC-A</a:t>
            </a:r>
          </a:p>
        </p:txBody>
      </p:sp>
      <p:sp>
        <p:nvSpPr>
          <p:cNvPr id="364" name="Shape 30"/>
          <p:cNvSpPr/>
          <p:nvPr/>
        </p:nvSpPr>
        <p:spPr>
          <a:xfrm>
            <a:off x="3992760" y="2045791"/>
            <a:ext cx="461784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5" name="Text 31"/>
          <p:cNvSpPr txBox="1"/>
          <p:nvPr/>
        </p:nvSpPr>
        <p:spPr>
          <a:xfrm>
            <a:off x="3992760" y="1847400"/>
            <a:ext cx="14873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产品问答</a:t>
            </a:r>
          </a:p>
        </p:txBody>
      </p:sp>
      <p:sp>
        <p:nvSpPr>
          <p:cNvPr id="366" name="Text 32"/>
          <p:cNvSpPr txBox="1"/>
          <p:nvPr/>
        </p:nvSpPr>
        <p:spPr>
          <a:xfrm>
            <a:off x="5450978" y="1847400"/>
            <a:ext cx="2479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 知识库检索 + 来源引用</a:t>
            </a:r>
          </a:p>
        </p:txBody>
      </p:sp>
      <p:sp>
        <p:nvSpPr>
          <p:cNvPr id="367" name="Text 33"/>
          <p:cNvSpPr txBox="1"/>
          <p:nvPr/>
        </p:nvSpPr>
        <p:spPr>
          <a:xfrm>
            <a:off x="7874199" y="1847400"/>
            <a:ext cx="7436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TC-B</a:t>
            </a:r>
          </a:p>
        </p:txBody>
      </p:sp>
      <p:sp>
        <p:nvSpPr>
          <p:cNvPr id="368" name="Shape 34"/>
          <p:cNvSpPr/>
          <p:nvPr/>
        </p:nvSpPr>
        <p:spPr>
          <a:xfrm>
            <a:off x="3992760" y="2299691"/>
            <a:ext cx="461784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9" name="Text 35"/>
          <p:cNvSpPr txBox="1"/>
          <p:nvPr/>
        </p:nvSpPr>
        <p:spPr>
          <a:xfrm>
            <a:off x="3992760" y="2101300"/>
            <a:ext cx="14873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精准定价</a:t>
            </a:r>
          </a:p>
        </p:txBody>
      </p:sp>
      <p:sp>
        <p:nvSpPr>
          <p:cNvPr id="370" name="Text 36"/>
          <p:cNvSpPr txBox="1"/>
          <p:nvPr/>
        </p:nvSpPr>
        <p:spPr>
          <a:xfrm>
            <a:off x="5450978" y="2101300"/>
            <a:ext cx="2479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不编造价格，未知价格主动说明</a:t>
            </a:r>
          </a:p>
        </p:txBody>
      </p:sp>
      <p:sp>
        <p:nvSpPr>
          <p:cNvPr id="371" name="Text 37"/>
          <p:cNvSpPr txBox="1"/>
          <p:nvPr/>
        </p:nvSpPr>
        <p:spPr>
          <a:xfrm>
            <a:off x="7874199" y="2101300"/>
            <a:ext cx="7436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TC-C</a:t>
            </a:r>
          </a:p>
        </p:txBody>
      </p:sp>
      <p:sp>
        <p:nvSpPr>
          <p:cNvPr id="372" name="Shape 38"/>
          <p:cNvSpPr/>
          <p:nvPr/>
        </p:nvSpPr>
        <p:spPr>
          <a:xfrm>
            <a:off x="3992760" y="2553591"/>
            <a:ext cx="461784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3" name="Text 39"/>
          <p:cNvSpPr txBox="1"/>
          <p:nvPr/>
        </p:nvSpPr>
        <p:spPr>
          <a:xfrm>
            <a:off x="3992760" y="2355205"/>
            <a:ext cx="14873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线索收集</a:t>
            </a:r>
          </a:p>
        </p:txBody>
      </p:sp>
      <p:sp>
        <p:nvSpPr>
          <p:cNvPr id="374" name="Text 40"/>
          <p:cNvSpPr txBox="1"/>
          <p:nvPr/>
        </p:nvSpPr>
        <p:spPr>
          <a:xfrm>
            <a:off x="5450978" y="2355205"/>
            <a:ext cx="2479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姓名/公司/邮箱/电话四要素</a:t>
            </a:r>
          </a:p>
        </p:txBody>
      </p:sp>
      <p:sp>
        <p:nvSpPr>
          <p:cNvPr id="375" name="Text 41"/>
          <p:cNvSpPr txBox="1"/>
          <p:nvPr/>
        </p:nvSpPr>
        <p:spPr>
          <a:xfrm>
            <a:off x="7874199" y="2355205"/>
            <a:ext cx="7436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TC-D</a:t>
            </a:r>
          </a:p>
        </p:txBody>
      </p:sp>
      <p:sp>
        <p:nvSpPr>
          <p:cNvPr id="376" name="Shape 42"/>
          <p:cNvSpPr/>
          <p:nvPr/>
        </p:nvSpPr>
        <p:spPr>
          <a:xfrm>
            <a:off x="3992760" y="2807492"/>
            <a:ext cx="461784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Text 43"/>
          <p:cNvSpPr txBox="1"/>
          <p:nvPr/>
        </p:nvSpPr>
        <p:spPr>
          <a:xfrm>
            <a:off x="3992760" y="2609106"/>
            <a:ext cx="14873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智能转人工</a:t>
            </a:r>
          </a:p>
        </p:txBody>
      </p:sp>
      <p:sp>
        <p:nvSpPr>
          <p:cNvPr id="378" name="Text 44"/>
          <p:cNvSpPr txBox="1"/>
          <p:nvPr/>
        </p:nvSpPr>
        <p:spPr>
          <a:xfrm>
            <a:off x="5450978" y="2609106"/>
            <a:ext cx="2479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区分账务/技术/销售/合作场景</a:t>
            </a:r>
          </a:p>
        </p:txBody>
      </p:sp>
      <p:sp>
        <p:nvSpPr>
          <p:cNvPr id="379" name="Text 45"/>
          <p:cNvSpPr txBox="1"/>
          <p:nvPr/>
        </p:nvSpPr>
        <p:spPr>
          <a:xfrm>
            <a:off x="7874199" y="2609106"/>
            <a:ext cx="7436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TC-E/F</a:t>
            </a:r>
          </a:p>
        </p:txBody>
      </p:sp>
      <p:sp>
        <p:nvSpPr>
          <p:cNvPr id="380" name="Shape 46"/>
          <p:cNvSpPr/>
          <p:nvPr/>
        </p:nvSpPr>
        <p:spPr>
          <a:xfrm>
            <a:off x="3992760" y="3061392"/>
            <a:ext cx="461784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Text 47"/>
          <p:cNvSpPr txBox="1"/>
          <p:nvPr/>
        </p:nvSpPr>
        <p:spPr>
          <a:xfrm>
            <a:off x="3992760" y="2863007"/>
            <a:ext cx="14873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上下文记忆</a:t>
            </a:r>
          </a:p>
        </p:txBody>
      </p:sp>
      <p:sp>
        <p:nvSpPr>
          <p:cNvPr id="382" name="Text 48"/>
          <p:cNvSpPr txBox="1"/>
          <p:nvPr/>
        </p:nvSpPr>
        <p:spPr>
          <a:xfrm>
            <a:off x="5450978" y="2863007"/>
            <a:ext cx="2479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多轮对话价格查询连贯</a:t>
            </a:r>
          </a:p>
        </p:txBody>
      </p:sp>
      <p:sp>
        <p:nvSpPr>
          <p:cNvPr id="383" name="Text 49"/>
          <p:cNvSpPr txBox="1"/>
          <p:nvPr/>
        </p:nvSpPr>
        <p:spPr>
          <a:xfrm>
            <a:off x="7874199" y="2863007"/>
            <a:ext cx="7436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TC-G</a:t>
            </a:r>
          </a:p>
        </p:txBody>
      </p:sp>
      <p:sp>
        <p:nvSpPr>
          <p:cNvPr id="384" name="Shape 50"/>
          <p:cNvSpPr/>
          <p:nvPr/>
        </p:nvSpPr>
        <p:spPr>
          <a:xfrm>
            <a:off x="3992760" y="3315294"/>
            <a:ext cx="461784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Text 51"/>
          <p:cNvSpPr txBox="1"/>
          <p:nvPr/>
        </p:nvSpPr>
        <p:spPr>
          <a:xfrm>
            <a:off x="3992760" y="3116907"/>
            <a:ext cx="14873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容错能力</a:t>
            </a:r>
          </a:p>
        </p:txBody>
      </p:sp>
      <p:sp>
        <p:nvSpPr>
          <p:cNvPr id="386" name="Text 52"/>
          <p:cNvSpPr txBox="1"/>
          <p:nvPr/>
        </p:nvSpPr>
        <p:spPr>
          <a:xfrm>
            <a:off x="5450978" y="3116907"/>
            <a:ext cx="2479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拼写错误、模糊表述均可理解</a:t>
            </a:r>
          </a:p>
        </p:txBody>
      </p:sp>
      <p:sp>
        <p:nvSpPr>
          <p:cNvPr id="387" name="Text 53"/>
          <p:cNvSpPr txBox="1"/>
          <p:nvPr/>
        </p:nvSpPr>
        <p:spPr>
          <a:xfrm>
            <a:off x="7874199" y="3116907"/>
            <a:ext cx="7436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TC-H</a:t>
            </a:r>
          </a:p>
        </p:txBody>
      </p:sp>
      <p:sp>
        <p:nvSpPr>
          <p:cNvPr id="388" name="Shape 54"/>
          <p:cNvSpPr/>
          <p:nvPr/>
        </p:nvSpPr>
        <p:spPr>
          <a:xfrm>
            <a:off x="3992760" y="3569196"/>
            <a:ext cx="4617843" cy="4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9" name="Text 55"/>
          <p:cNvSpPr txBox="1"/>
          <p:nvPr/>
        </p:nvSpPr>
        <p:spPr>
          <a:xfrm>
            <a:off x="3992760" y="3370807"/>
            <a:ext cx="14873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反幻觉</a:t>
            </a:r>
          </a:p>
        </p:txBody>
      </p:sp>
      <p:sp>
        <p:nvSpPr>
          <p:cNvPr id="390" name="Text 56"/>
          <p:cNvSpPr txBox="1"/>
          <p:nvPr/>
        </p:nvSpPr>
        <p:spPr>
          <a:xfrm>
            <a:off x="5450978" y="3370807"/>
            <a:ext cx="247912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不存在功能坚定否认，零编造</a:t>
            </a:r>
          </a:p>
        </p:txBody>
      </p:sp>
      <p:sp>
        <p:nvSpPr>
          <p:cNvPr id="391" name="Text 57"/>
          <p:cNvSpPr txBox="1"/>
          <p:nvPr/>
        </p:nvSpPr>
        <p:spPr>
          <a:xfrm>
            <a:off x="7874199" y="3370807"/>
            <a:ext cx="7436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TC-B3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4" name="Text 1"/>
          <p:cNvSpPr/>
          <p:nvPr/>
        </p:nvSpPr>
        <p:spPr>
          <a:xfrm>
            <a:off x="381000" y="301674"/>
            <a:ext cx="1473101" cy="244377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5" name="Text 2"/>
          <p:cNvSpPr txBox="1"/>
          <p:nvPr/>
        </p:nvSpPr>
        <p:spPr>
          <a:xfrm>
            <a:off x="533400" y="352424"/>
            <a:ext cx="119166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NEED-PAYOFF</a:t>
            </a:r>
          </a:p>
        </p:txBody>
      </p:sp>
      <p:sp>
        <p:nvSpPr>
          <p:cNvPr id="396" name="Text 3"/>
          <p:cNvSpPr txBox="1"/>
          <p:nvPr/>
        </p:nvSpPr>
        <p:spPr>
          <a:xfrm>
            <a:off x="2057250" y="228600"/>
            <a:ext cx="2279652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问题对照解决方案</a:t>
            </a:r>
          </a:p>
        </p:txBody>
      </p:sp>
      <p:sp>
        <p:nvSpPr>
          <p:cNvPr id="397" name="Text 4"/>
          <p:cNvSpPr/>
          <p:nvPr/>
        </p:nvSpPr>
        <p:spPr>
          <a:xfrm>
            <a:off x="381000" y="1050875"/>
            <a:ext cx="3511897" cy="1257301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8" name="Shape 5"/>
          <p:cNvSpPr/>
          <p:nvPr/>
        </p:nvSpPr>
        <p:spPr>
          <a:xfrm flipH="1">
            <a:off x="404813" y="1050874"/>
            <a:ext cx="4" cy="1257304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Text 6"/>
          <p:cNvSpPr txBox="1"/>
          <p:nvPr/>
        </p:nvSpPr>
        <p:spPr>
          <a:xfrm>
            <a:off x="606323" y="1241375"/>
            <a:ext cx="3171053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A：AI 从未介入</a:t>
            </a:r>
          </a:p>
        </p:txBody>
      </p:sp>
      <p:sp>
        <p:nvSpPr>
          <p:cNvPr id="400" name="Text 7"/>
          <p:cNvSpPr txBox="1"/>
          <p:nvPr/>
        </p:nvSpPr>
        <p:spPr>
          <a:xfrm>
            <a:off x="606323" y="152712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路由配置导致有人工在线时 AI 被跳过</a:t>
            </a:r>
          </a:p>
        </p:txBody>
      </p:sp>
      <p:sp>
        <p:nvSpPr>
          <p:cNvPr id="401" name="Text 8"/>
          <p:cNvSpPr txBox="1"/>
          <p:nvPr/>
        </p:nvSpPr>
        <p:spPr>
          <a:xfrm>
            <a:off x="606323" y="173667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销售咨询 70% 未经 AI 处理</a:t>
            </a:r>
          </a:p>
        </p:txBody>
      </p:sp>
      <p:sp>
        <p:nvSpPr>
          <p:cNvPr id="402" name="Text 9"/>
          <p:cNvSpPr txBox="1"/>
          <p:nvPr/>
        </p:nvSpPr>
        <p:spPr>
          <a:xfrm>
            <a:off x="606323" y="194622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无线索收集，商机直接流失</a:t>
            </a:r>
          </a:p>
        </p:txBody>
      </p:sp>
      <p:sp>
        <p:nvSpPr>
          <p:cNvPr id="403" name="Text 10"/>
          <p:cNvSpPr txBox="1"/>
          <p:nvPr/>
        </p:nvSpPr>
        <p:spPr>
          <a:xfrm>
            <a:off x="4102298" y="1531887"/>
            <a:ext cx="32380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--&gt;</a:t>
            </a:r>
          </a:p>
        </p:txBody>
      </p:sp>
      <p:sp>
        <p:nvSpPr>
          <p:cNvPr id="404" name="Text 11"/>
          <p:cNvSpPr/>
          <p:nvPr/>
        </p:nvSpPr>
        <p:spPr>
          <a:xfrm>
            <a:off x="4629298" y="1050875"/>
            <a:ext cx="4133702" cy="1257301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5" name="Shape 12"/>
          <p:cNvSpPr/>
          <p:nvPr/>
        </p:nvSpPr>
        <p:spPr>
          <a:xfrm>
            <a:off x="4653110" y="1050874"/>
            <a:ext cx="4" cy="1257304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Text 13"/>
          <p:cNvSpPr txBox="1"/>
          <p:nvPr/>
        </p:nvSpPr>
        <p:spPr>
          <a:xfrm>
            <a:off x="4854625" y="1241375"/>
            <a:ext cx="3805288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始终在线</a:t>
            </a:r>
          </a:p>
        </p:txBody>
      </p:sp>
      <p:sp>
        <p:nvSpPr>
          <p:cNvPr id="407" name="Text 14"/>
          <p:cNvSpPr txBox="1"/>
          <p:nvPr/>
        </p:nvSpPr>
        <p:spPr>
          <a:xfrm>
            <a:off x="4854625" y="152712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Agent 独立运行，</a:t>
            </a:r>
            <a:r>
              <a:rPr b="1"/>
              <a:t>不受路由配置影响</a:t>
            </a:r>
          </a:p>
        </p:txBody>
      </p:sp>
      <p:sp>
        <p:nvSpPr>
          <p:cNvPr id="408" name="Text 15"/>
          <p:cNvSpPr txBox="1"/>
          <p:nvPr/>
        </p:nvSpPr>
        <p:spPr>
          <a:xfrm>
            <a:off x="4854625" y="173667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每个访客先经过 AI 收集线索再分流</a:t>
            </a:r>
          </a:p>
        </p:txBody>
      </p:sp>
      <p:sp>
        <p:nvSpPr>
          <p:cNvPr id="409" name="Text 16"/>
          <p:cNvSpPr txBox="1"/>
          <p:nvPr/>
        </p:nvSpPr>
        <p:spPr>
          <a:xfrm>
            <a:off x="4854625" y="194622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即使转人工，客户信息已完整记录</a:t>
            </a:r>
          </a:p>
        </p:txBody>
      </p:sp>
      <p:sp>
        <p:nvSpPr>
          <p:cNvPr id="410" name="Text 17"/>
          <p:cNvSpPr/>
          <p:nvPr/>
        </p:nvSpPr>
        <p:spPr>
          <a:xfrm>
            <a:off x="381000" y="2435125"/>
            <a:ext cx="3511897" cy="1120975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1" name="Shape 18"/>
          <p:cNvSpPr/>
          <p:nvPr/>
        </p:nvSpPr>
        <p:spPr>
          <a:xfrm flipH="1">
            <a:off x="404813" y="2435124"/>
            <a:ext cx="4" cy="1120976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2" name="Text 19"/>
          <p:cNvSpPr txBox="1"/>
          <p:nvPr/>
        </p:nvSpPr>
        <p:spPr>
          <a:xfrm>
            <a:off x="606323" y="2625625"/>
            <a:ext cx="3171053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B：AI 过早退出</a:t>
            </a:r>
          </a:p>
        </p:txBody>
      </p:sp>
      <p:sp>
        <p:nvSpPr>
          <p:cNvPr id="413" name="Text 20"/>
          <p:cNvSpPr txBox="1"/>
          <p:nvPr/>
        </p:nvSpPr>
        <p:spPr>
          <a:xfrm>
            <a:off x="606323" y="291137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提问后等待超时过短就离开</a:t>
            </a:r>
          </a:p>
        </p:txBody>
      </p:sp>
      <p:sp>
        <p:nvSpPr>
          <p:cNvPr id="414" name="Text 21"/>
          <p:cNvSpPr txBox="1"/>
          <p:nvPr/>
        </p:nvSpPr>
        <p:spPr>
          <a:xfrm>
            <a:off x="606323" y="312092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一次模板回复后即结束对话</a:t>
            </a:r>
          </a:p>
        </p:txBody>
      </p:sp>
      <p:sp>
        <p:nvSpPr>
          <p:cNvPr id="415" name="Text 22"/>
          <p:cNvSpPr txBox="1"/>
          <p:nvPr/>
        </p:nvSpPr>
        <p:spPr>
          <a:xfrm>
            <a:off x="4102298" y="2847974"/>
            <a:ext cx="32380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--&gt;</a:t>
            </a:r>
          </a:p>
        </p:txBody>
      </p:sp>
      <p:sp>
        <p:nvSpPr>
          <p:cNvPr id="416" name="Text 23"/>
          <p:cNvSpPr/>
          <p:nvPr/>
        </p:nvSpPr>
        <p:spPr>
          <a:xfrm>
            <a:off x="4629298" y="2435125"/>
            <a:ext cx="4133702" cy="1120975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17" name="Shape 24"/>
          <p:cNvSpPr/>
          <p:nvPr/>
        </p:nvSpPr>
        <p:spPr>
          <a:xfrm>
            <a:off x="4653110" y="2435124"/>
            <a:ext cx="4" cy="1120976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8" name="Text 25"/>
          <p:cNvSpPr txBox="1"/>
          <p:nvPr/>
        </p:nvSpPr>
        <p:spPr>
          <a:xfrm>
            <a:off x="4854625" y="2625625"/>
            <a:ext cx="3805288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合理等待机制</a:t>
            </a:r>
          </a:p>
        </p:txBody>
      </p:sp>
      <p:sp>
        <p:nvSpPr>
          <p:cNvPr id="419" name="Text 26"/>
          <p:cNvSpPr txBox="1"/>
          <p:nvPr/>
        </p:nvSpPr>
        <p:spPr>
          <a:xfrm>
            <a:off x="4854625" y="291137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b="1"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不因客户未即时回复就退出</a:t>
            </a:r>
          </a:p>
        </p:txBody>
      </p:sp>
      <p:sp>
        <p:nvSpPr>
          <p:cNvPr id="420" name="Text 27"/>
          <p:cNvSpPr txBox="1"/>
          <p:nvPr/>
        </p:nvSpPr>
        <p:spPr>
          <a:xfrm>
            <a:off x="4854625" y="312092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多轮对话持续跟进，直到客户满意或主动要求转人工</a:t>
            </a:r>
          </a:p>
        </p:txBody>
      </p:sp>
      <p:sp>
        <p:nvSpPr>
          <p:cNvPr id="421" name="Text 28"/>
          <p:cNvSpPr/>
          <p:nvPr/>
        </p:nvSpPr>
        <p:spPr>
          <a:xfrm>
            <a:off x="381000" y="3683048"/>
            <a:ext cx="3511897" cy="12573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2" name="Shape 29"/>
          <p:cNvSpPr/>
          <p:nvPr/>
        </p:nvSpPr>
        <p:spPr>
          <a:xfrm flipH="1">
            <a:off x="404813" y="3683048"/>
            <a:ext cx="4" cy="1257305"/>
          </a:xfrm>
          <a:prstGeom prst="line">
            <a:avLst/>
          </a:prstGeom>
          <a:ln w="47625">
            <a:solidFill>
              <a:srgbClr val="E74C3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Text 30"/>
          <p:cNvSpPr txBox="1"/>
          <p:nvPr/>
        </p:nvSpPr>
        <p:spPr>
          <a:xfrm>
            <a:off x="606323" y="3873548"/>
            <a:ext cx="3171053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C：知识盲区</a:t>
            </a:r>
          </a:p>
        </p:txBody>
      </p:sp>
      <p:sp>
        <p:nvSpPr>
          <p:cNvPr id="424" name="Text 31"/>
          <p:cNvSpPr txBox="1"/>
          <p:nvPr/>
        </p:nvSpPr>
        <p:spPr>
          <a:xfrm>
            <a:off x="606323" y="4159298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对自家核心产品说"不知道"</a:t>
            </a:r>
          </a:p>
        </p:txBody>
      </p:sp>
      <p:sp>
        <p:nvSpPr>
          <p:cNvPr id="425" name="Text 32"/>
          <p:cNvSpPr txBox="1"/>
          <p:nvPr/>
        </p:nvSpPr>
        <p:spPr>
          <a:xfrm>
            <a:off x="606323" y="4368848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toll-free、VoIP、API 等基础问题无法回答</a:t>
            </a:r>
          </a:p>
        </p:txBody>
      </p:sp>
      <p:sp>
        <p:nvSpPr>
          <p:cNvPr id="426" name="Text 33"/>
          <p:cNvSpPr txBox="1"/>
          <p:nvPr/>
        </p:nvSpPr>
        <p:spPr>
          <a:xfrm>
            <a:off x="4102298" y="4164062"/>
            <a:ext cx="32380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--&gt;</a:t>
            </a:r>
          </a:p>
        </p:txBody>
      </p:sp>
      <p:sp>
        <p:nvSpPr>
          <p:cNvPr id="427" name="Text 34"/>
          <p:cNvSpPr/>
          <p:nvPr/>
        </p:nvSpPr>
        <p:spPr>
          <a:xfrm>
            <a:off x="4629298" y="3683048"/>
            <a:ext cx="4133702" cy="12573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8" name="Shape 35"/>
          <p:cNvSpPr/>
          <p:nvPr/>
        </p:nvSpPr>
        <p:spPr>
          <a:xfrm>
            <a:off x="4653110" y="3683048"/>
            <a:ext cx="4" cy="1257305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" name="Text 36"/>
          <p:cNvSpPr txBox="1"/>
          <p:nvPr/>
        </p:nvSpPr>
        <p:spPr>
          <a:xfrm>
            <a:off x="4854625" y="3873548"/>
            <a:ext cx="3805288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 知识库 + 反幻觉</a:t>
            </a:r>
          </a:p>
        </p:txBody>
      </p:sp>
      <p:sp>
        <p:nvSpPr>
          <p:cNvPr id="430" name="Text 37"/>
          <p:cNvSpPr txBox="1"/>
          <p:nvPr/>
        </p:nvSpPr>
        <p:spPr>
          <a:xfrm>
            <a:off x="4854625" y="4159298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知识库覆盖全产品线（已验证 TC-B/C）</a:t>
            </a:r>
          </a:p>
        </p:txBody>
      </p:sp>
      <p:sp>
        <p:nvSpPr>
          <p:cNvPr id="431" name="Text 38"/>
          <p:cNvSpPr txBox="1"/>
          <p:nvPr/>
        </p:nvSpPr>
        <p:spPr>
          <a:xfrm>
            <a:off x="4854625" y="4368848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查不到不编造，</a:t>
            </a:r>
            <a:r>
              <a:rPr b="1"/>
              <a:t>优雅引导转人工</a:t>
            </a:r>
          </a:p>
        </p:txBody>
      </p:sp>
      <p:sp>
        <p:nvSpPr>
          <p:cNvPr id="432" name="Text 39"/>
          <p:cNvSpPr txBox="1"/>
          <p:nvPr/>
        </p:nvSpPr>
        <p:spPr>
          <a:xfrm>
            <a:off x="4854625" y="4578398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价格信息精准，不捏造不存在的数据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 0"/>
          <p:cNvSpPr/>
          <p:nvPr/>
        </p:nvSpPr>
        <p:spPr>
          <a:xfrm>
            <a:off x="380998" y="276225"/>
            <a:ext cx="1231854" cy="244376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5" name="Text 1"/>
          <p:cNvSpPr txBox="1"/>
          <p:nvPr/>
        </p:nvSpPr>
        <p:spPr>
          <a:xfrm>
            <a:off x="533398" y="326975"/>
            <a:ext cx="94559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436" name="Text 2"/>
          <p:cNvSpPr txBox="1"/>
          <p:nvPr/>
        </p:nvSpPr>
        <p:spPr>
          <a:xfrm>
            <a:off x="1815999" y="203147"/>
            <a:ext cx="113990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现场演示</a:t>
            </a:r>
          </a:p>
        </p:txBody>
      </p:sp>
      <p:sp>
        <p:nvSpPr>
          <p:cNvPr id="437" name="Text 3"/>
          <p:cNvSpPr txBox="1"/>
          <p:nvPr/>
        </p:nvSpPr>
        <p:spPr>
          <a:xfrm>
            <a:off x="380999" y="669875"/>
            <a:ext cx="85496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Demo 界面进行实际演示</a:t>
            </a:r>
          </a:p>
        </p:txBody>
      </p:sp>
      <p:sp>
        <p:nvSpPr>
          <p:cNvPr id="438" name="Text 4"/>
          <p:cNvSpPr/>
          <p:nvPr/>
        </p:nvSpPr>
        <p:spPr>
          <a:xfrm>
            <a:off x="381000" y="971400"/>
            <a:ext cx="2709267" cy="1098950"/>
          </a:xfrm>
          <a:prstGeom prst="roundRect">
            <a:avLst>
              <a:gd name="adj" fmla="val 6934"/>
            </a:avLst>
          </a:prstGeom>
          <a:solidFill>
            <a:srgbClr val="24344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9" name="Shape 5"/>
          <p:cNvSpPr/>
          <p:nvPr/>
        </p:nvSpPr>
        <p:spPr>
          <a:xfrm flipH="1">
            <a:off x="400049" y="971399"/>
            <a:ext cx="5" cy="1098953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" name="Text 6"/>
          <p:cNvSpPr txBox="1"/>
          <p:nvPr/>
        </p:nvSpPr>
        <p:spPr>
          <a:xfrm>
            <a:off x="571500" y="1098352"/>
            <a:ext cx="2413695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41" name="Text 7"/>
          <p:cNvSpPr txBox="1"/>
          <p:nvPr/>
        </p:nvSpPr>
        <p:spPr>
          <a:xfrm>
            <a:off x="571500" y="1387671"/>
            <a:ext cx="2413695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新客户咨询产品</a:t>
            </a:r>
          </a:p>
        </p:txBody>
      </p:sp>
      <p:sp>
        <p:nvSpPr>
          <p:cNvPr id="442" name="Text 8"/>
          <p:cNvSpPr txBox="1"/>
          <p:nvPr/>
        </p:nvSpPr>
        <p:spPr>
          <a:xfrm>
            <a:off x="571500" y="1603325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模拟新访客询问 WhatsApp 集成</a:t>
            </a:r>
          </a:p>
        </p:txBody>
      </p:sp>
      <p:sp>
        <p:nvSpPr>
          <p:cNvPr id="443" name="Text 9"/>
          <p:cNvSpPr txBox="1"/>
          <p:nvPr/>
        </p:nvSpPr>
        <p:spPr>
          <a:xfrm>
            <a:off x="571500" y="1786084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线索收集 + RAG 产品问答</a:t>
            </a:r>
          </a:p>
        </p:txBody>
      </p:sp>
      <p:sp>
        <p:nvSpPr>
          <p:cNvPr id="444" name="Text 10"/>
          <p:cNvSpPr/>
          <p:nvPr/>
        </p:nvSpPr>
        <p:spPr>
          <a:xfrm>
            <a:off x="3217216" y="971400"/>
            <a:ext cx="2709418" cy="1098950"/>
          </a:xfrm>
          <a:prstGeom prst="roundRect">
            <a:avLst>
              <a:gd name="adj" fmla="val 6934"/>
            </a:avLst>
          </a:prstGeom>
          <a:solidFill>
            <a:srgbClr val="24344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5" name="Shape 11"/>
          <p:cNvSpPr/>
          <p:nvPr/>
        </p:nvSpPr>
        <p:spPr>
          <a:xfrm flipH="1">
            <a:off x="3236266" y="971399"/>
            <a:ext cx="4" cy="1098953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6" name="Text 12"/>
          <p:cNvSpPr txBox="1"/>
          <p:nvPr/>
        </p:nvSpPr>
        <p:spPr>
          <a:xfrm>
            <a:off x="3407717" y="1098352"/>
            <a:ext cx="2413851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47" name="Text 13"/>
          <p:cNvSpPr txBox="1"/>
          <p:nvPr/>
        </p:nvSpPr>
        <p:spPr>
          <a:xfrm>
            <a:off x="3407717" y="1387671"/>
            <a:ext cx="2413851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精准定价查询</a:t>
            </a:r>
          </a:p>
        </p:txBody>
      </p:sp>
      <p:sp>
        <p:nvSpPr>
          <p:cNvPr id="448" name="Text 14"/>
          <p:cNvSpPr txBox="1"/>
          <p:nvPr/>
        </p:nvSpPr>
        <p:spPr>
          <a:xfrm>
            <a:off x="3407717" y="1603325"/>
            <a:ext cx="2413851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客户询问多国 DID 价格</a:t>
            </a:r>
          </a:p>
        </p:txBody>
      </p:sp>
      <p:sp>
        <p:nvSpPr>
          <p:cNvPr id="449" name="Text 15"/>
          <p:cNvSpPr txBox="1"/>
          <p:nvPr/>
        </p:nvSpPr>
        <p:spPr>
          <a:xfrm>
            <a:off x="3407717" y="1786084"/>
            <a:ext cx="2413851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多轮上下文 + 不编造价格</a:t>
            </a:r>
          </a:p>
        </p:txBody>
      </p:sp>
      <p:sp>
        <p:nvSpPr>
          <p:cNvPr id="450" name="Text 16"/>
          <p:cNvSpPr/>
          <p:nvPr/>
        </p:nvSpPr>
        <p:spPr>
          <a:xfrm>
            <a:off x="6053582" y="971400"/>
            <a:ext cx="2709418" cy="1098950"/>
          </a:xfrm>
          <a:prstGeom prst="roundRect">
            <a:avLst>
              <a:gd name="adj" fmla="val 6934"/>
            </a:avLst>
          </a:prstGeom>
          <a:solidFill>
            <a:srgbClr val="24344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1" name="Shape 17"/>
          <p:cNvSpPr/>
          <p:nvPr/>
        </p:nvSpPr>
        <p:spPr>
          <a:xfrm>
            <a:off x="6072632" y="971399"/>
            <a:ext cx="4" cy="1098953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2" name="Text 18"/>
          <p:cNvSpPr txBox="1"/>
          <p:nvPr/>
        </p:nvSpPr>
        <p:spPr>
          <a:xfrm>
            <a:off x="6244082" y="1098352"/>
            <a:ext cx="2413851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53" name="Text 19"/>
          <p:cNvSpPr txBox="1"/>
          <p:nvPr/>
        </p:nvSpPr>
        <p:spPr>
          <a:xfrm>
            <a:off x="6244082" y="1387671"/>
            <a:ext cx="2413851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反幻觉测试</a:t>
            </a:r>
          </a:p>
        </p:txBody>
      </p:sp>
      <p:sp>
        <p:nvSpPr>
          <p:cNvPr id="454" name="Text 20"/>
          <p:cNvSpPr txBox="1"/>
          <p:nvPr/>
        </p:nvSpPr>
        <p:spPr>
          <a:xfrm>
            <a:off x="6244082" y="1603325"/>
            <a:ext cx="2413851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询问不存在的功能（全息投影）</a:t>
            </a:r>
          </a:p>
        </p:txBody>
      </p:sp>
      <p:sp>
        <p:nvSpPr>
          <p:cNvPr id="455" name="Text 21"/>
          <p:cNvSpPr txBox="1"/>
          <p:nvPr/>
        </p:nvSpPr>
        <p:spPr>
          <a:xfrm>
            <a:off x="6244082" y="1786084"/>
            <a:ext cx="2413851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坚定否认，零编造</a:t>
            </a:r>
          </a:p>
        </p:txBody>
      </p:sp>
      <p:sp>
        <p:nvSpPr>
          <p:cNvPr id="456" name="Text 22"/>
          <p:cNvSpPr/>
          <p:nvPr/>
        </p:nvSpPr>
        <p:spPr>
          <a:xfrm>
            <a:off x="381000" y="2171849"/>
            <a:ext cx="2709267" cy="1098947"/>
          </a:xfrm>
          <a:prstGeom prst="roundRect">
            <a:avLst>
              <a:gd name="adj" fmla="val 6934"/>
            </a:avLst>
          </a:prstGeom>
          <a:solidFill>
            <a:srgbClr val="24344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7" name="Shape 23"/>
          <p:cNvSpPr/>
          <p:nvPr/>
        </p:nvSpPr>
        <p:spPr>
          <a:xfrm flipH="1">
            <a:off x="400049" y="2171849"/>
            <a:ext cx="5" cy="1098951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8" name="Text 24"/>
          <p:cNvSpPr txBox="1"/>
          <p:nvPr/>
        </p:nvSpPr>
        <p:spPr>
          <a:xfrm>
            <a:off x="571500" y="2298799"/>
            <a:ext cx="2413695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59" name="Text 25"/>
          <p:cNvSpPr txBox="1"/>
          <p:nvPr/>
        </p:nvSpPr>
        <p:spPr>
          <a:xfrm>
            <a:off x="571500" y="2588121"/>
            <a:ext cx="2413695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智能转人工</a:t>
            </a:r>
          </a:p>
        </p:txBody>
      </p:sp>
      <p:sp>
        <p:nvSpPr>
          <p:cNvPr id="460" name="Text 26"/>
          <p:cNvSpPr txBox="1"/>
          <p:nvPr/>
        </p:nvSpPr>
        <p:spPr>
          <a:xfrm>
            <a:off x="571500" y="2803773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客户明确要求"我要和人说话"</a:t>
            </a:r>
          </a:p>
        </p:txBody>
      </p:sp>
      <p:sp>
        <p:nvSpPr>
          <p:cNvPr id="461" name="Text 27"/>
          <p:cNvSpPr txBox="1"/>
          <p:nvPr/>
        </p:nvSpPr>
        <p:spPr>
          <a:xfrm>
            <a:off x="571500" y="2986533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零追问，即时转接</a:t>
            </a:r>
          </a:p>
        </p:txBody>
      </p:sp>
      <p:sp>
        <p:nvSpPr>
          <p:cNvPr id="462" name="Text 28"/>
          <p:cNvSpPr/>
          <p:nvPr/>
        </p:nvSpPr>
        <p:spPr>
          <a:xfrm>
            <a:off x="3217216" y="2171849"/>
            <a:ext cx="2709418" cy="1098947"/>
          </a:xfrm>
          <a:prstGeom prst="roundRect">
            <a:avLst>
              <a:gd name="adj" fmla="val 6934"/>
            </a:avLst>
          </a:prstGeom>
          <a:solidFill>
            <a:srgbClr val="24344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3" name="Shape 29"/>
          <p:cNvSpPr/>
          <p:nvPr/>
        </p:nvSpPr>
        <p:spPr>
          <a:xfrm flipH="1">
            <a:off x="3236266" y="2171849"/>
            <a:ext cx="4" cy="1098951"/>
          </a:xfrm>
          <a:prstGeom prst="line">
            <a:avLst/>
          </a:prstGeom>
          <a:ln w="38100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" name="Text 30"/>
          <p:cNvSpPr txBox="1"/>
          <p:nvPr/>
        </p:nvSpPr>
        <p:spPr>
          <a:xfrm>
            <a:off x="3407717" y="2298799"/>
            <a:ext cx="2413851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65" name="Text 31"/>
          <p:cNvSpPr txBox="1"/>
          <p:nvPr/>
        </p:nvSpPr>
        <p:spPr>
          <a:xfrm>
            <a:off x="3407717" y="2588121"/>
            <a:ext cx="2413851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容错能力</a:t>
            </a:r>
          </a:p>
        </p:txBody>
      </p:sp>
      <p:sp>
        <p:nvSpPr>
          <p:cNvPr id="466" name="Text 32"/>
          <p:cNvSpPr txBox="1"/>
          <p:nvPr/>
        </p:nvSpPr>
        <p:spPr>
          <a:xfrm>
            <a:off x="3407717" y="2803773"/>
            <a:ext cx="2413851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拼写错误 "whtsapp intergration"</a:t>
            </a:r>
          </a:p>
        </p:txBody>
      </p:sp>
      <p:sp>
        <p:nvSpPr>
          <p:cNvPr id="467" name="Text 33"/>
          <p:cNvSpPr txBox="1"/>
          <p:nvPr/>
        </p:nvSpPr>
        <p:spPr>
          <a:xfrm>
            <a:off x="3407717" y="2986533"/>
            <a:ext cx="2413851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自动纠错理解</a:t>
            </a:r>
          </a:p>
        </p:txBody>
      </p:sp>
      <p:sp>
        <p:nvSpPr>
          <p:cNvPr id="468" name="Text 36"/>
          <p:cNvSpPr txBox="1"/>
          <p:nvPr/>
        </p:nvSpPr>
        <p:spPr>
          <a:xfrm>
            <a:off x="297179" y="3423046"/>
            <a:ext cx="85496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演示工具：EZAgent /cinnox-demo 或 Web Demo 界面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1" name="Text 1"/>
          <p:cNvSpPr txBox="1"/>
          <p:nvPr/>
        </p:nvSpPr>
        <p:spPr>
          <a:xfrm>
            <a:off x="320040" y="55877"/>
            <a:ext cx="8138160" cy="345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19 TC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测试结果总表</a:t>
            </a:r>
          </a:p>
        </p:txBody>
      </p:sp>
      <p:graphicFrame>
        <p:nvGraphicFramePr>
          <p:cNvPr id="472" name="Table 0"/>
          <p:cNvGraphicFramePr/>
          <p:nvPr/>
        </p:nvGraphicFramePr>
        <p:xfrm>
          <a:off x="182879" y="502919"/>
          <a:ext cx="8778240" cy="35021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05839"/>
                <a:gridCol w="1097280"/>
                <a:gridCol w="1645920"/>
                <a:gridCol w="548640"/>
                <a:gridCol w="4480560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FFFFFF"/>
                          </a:solidFill>
                        </a:rPr>
                        <a:t>TC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类别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名称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结果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关键备注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TC-A1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Customer Type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New Customer ID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500">
                          <a:solidFill>
                            <a:srgbClr val="7F8C8D"/>
                          </a:solidFill>
                        </a:rPr>
                        <a:t>4 fields + confirmation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TC-A2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Customer Type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Existing Customer ID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Email </a:t>
                      </a:r>
                      <a:r>
                        <a:t>规格回退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TC-A3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Customer Type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Partner ID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路由至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Partnership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TC-A4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Customer Type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Existing Product Q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</a:defRPr>
                      </a:pPr>
                      <a:r>
                        <a:t>RAG +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来源引用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TC-B1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Product/RAG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WhatsApp Integration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路由问题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→Lead→</a:t>
                      </a:r>
                      <a:r>
                        <a:t>回答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TC-B2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Product/RAG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High Vol Banking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</a:defRPr>
                      </a:pPr>
                      <a:r>
                        <a:t>OCC/CXHub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推荐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TC-B3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Product/RAG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Non-Existent Feature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</a:defRPr>
                      </a:pPr>
                      <a:r>
                        <a:t>CRITICAL: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零幻觉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TC-C1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Pricing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DID Number Price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</a:defRPr>
                      </a:pPr>
                      <a:r>
                        <a:t>US DID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不在 </a:t>
                      </a:r>
                      <a:r>
                        <a:t>KB →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转销售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TC-C2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Pricing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50-Agent Volume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不虚构总价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→ </a:t>
                      </a:r>
                      <a:r>
                        <a:t>转销售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TC-C3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Pricing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False Price Correct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纠正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$5/min x2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TC-D1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Data Collection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Demo Request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</a:defRPr>
                      </a:pPr>
                      <a:r>
                        <a:t>4 fields + demo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确认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TC-D2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Data Collection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Phone Refused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接受拒绝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→ email </a:t>
                      </a:r>
                      <a:r>
                        <a:t>替代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TC-E1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Existing Cust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Billing Issue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计费分流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+ </a:t>
                      </a:r>
                      <a:r>
                        <a:t>升级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TC-E2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Existing Cust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Tech Issue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技术分流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+ </a:t>
                      </a:r>
                      <a:r>
                        <a:t>升级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TC-F1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Human Handoff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Knowledge Boundary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知识边界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→ </a:t>
                      </a:r>
                      <a:r>
                        <a:t>转专家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TC-F2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Human Handoff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Immediate Human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</a:defRPr>
                      </a:pPr>
                      <a:r>
                        <a:t>CRITICAL: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零追问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TC-G1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Context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Multi-Turn DID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500">
                          <a:solidFill>
                            <a:srgbClr val="7F8C8D"/>
                          </a:solidFill>
                        </a:rPr>
                        <a:t>UK/DE $19, HK $25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TC-H1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Error Tolerance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Spelling Errors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500">
                          <a:solidFill>
                            <a:srgbClr val="7F8C8D"/>
                          </a:solidFill>
                        </a:rPr>
                        <a:t>"whtsapp intergration" OK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2C3E50"/>
                          </a:solidFill>
                        </a:rPr>
                        <a:t>TC-H2 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olidFill>
                            <a:srgbClr val="7F8C8D"/>
                          </a:solidFill>
                        </a:rPr>
                        <a:t>Error Tolerance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/>
                        <a:t>Vague Request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600">
                          <a:solidFill>
                            <a:srgbClr val="27AE60"/>
                          </a:solidFill>
                        </a:rPr>
                        <a:t>PASS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500">
                          <a:solidFill>
                            <a:srgbClr val="7F8C8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Calibri"/>
                        </a:rPr>
                        <a:t>Discovery Phase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5" name="Text 1"/>
          <p:cNvSpPr txBox="1"/>
          <p:nvPr/>
        </p:nvSpPr>
        <p:spPr>
          <a:xfrm>
            <a:off x="548640" y="294640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E293B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阶梯报价表</a:t>
            </a:r>
          </a:p>
        </p:txBody>
      </p:sp>
      <p:graphicFrame>
        <p:nvGraphicFramePr>
          <p:cNvPr id="476" name="Table 0"/>
          <p:cNvGraphicFramePr/>
          <p:nvPr/>
        </p:nvGraphicFramePr>
        <p:xfrm>
          <a:off x="548640" y="1051560"/>
          <a:ext cx="8046720" cy="194767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月资源点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defRPr>
                      </a:pPr>
                      <a:r>
                        <a:t>月费 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(USD)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智能体数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并发通道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Token (k/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月</a:t>
                      </a:r>
                      <a:r>
                        <a:t>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10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5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通道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50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30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通道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100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50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通道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1,200,000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500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100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通道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7,000,000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1,000,000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0891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1000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200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通道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15,000,000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7" name="Text 2"/>
          <p:cNvSpPr txBox="1"/>
          <p:nvPr/>
        </p:nvSpPr>
        <p:spPr>
          <a:xfrm>
            <a:off x="548638" y="3553459"/>
            <a:ext cx="365760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293B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计费规则说明</a:t>
            </a:r>
          </a:p>
        </p:txBody>
      </p:sp>
      <p:sp>
        <p:nvSpPr>
          <p:cNvPr id="478" name="Shape 3"/>
          <p:cNvSpPr/>
          <p:nvPr/>
        </p:nvSpPr>
        <p:spPr>
          <a:xfrm>
            <a:off x="548640" y="3931920"/>
            <a:ext cx="1097282" cy="274323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9" name="Text 4"/>
          <p:cNvSpPr txBox="1"/>
          <p:nvPr/>
        </p:nvSpPr>
        <p:spPr>
          <a:xfrm>
            <a:off x="548640" y="3986529"/>
            <a:ext cx="109728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891B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资源点释放</a:t>
            </a:r>
          </a:p>
        </p:txBody>
      </p:sp>
      <p:sp>
        <p:nvSpPr>
          <p:cNvPr id="480" name="Text 5"/>
          <p:cNvSpPr txBox="1"/>
          <p:nvPr/>
        </p:nvSpPr>
        <p:spPr>
          <a:xfrm>
            <a:off x="1783077" y="3980179"/>
            <a:ext cx="274320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储值后按月释放到账户</a:t>
            </a:r>
          </a:p>
        </p:txBody>
      </p:sp>
      <p:sp>
        <p:nvSpPr>
          <p:cNvPr id="481" name="Shape 6"/>
          <p:cNvSpPr/>
          <p:nvPr/>
        </p:nvSpPr>
        <p:spPr>
          <a:xfrm>
            <a:off x="4754879" y="3931920"/>
            <a:ext cx="1097283" cy="274323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2" name="Text 7"/>
          <p:cNvSpPr txBox="1"/>
          <p:nvPr/>
        </p:nvSpPr>
        <p:spPr>
          <a:xfrm>
            <a:off x="4754879" y="3986529"/>
            <a:ext cx="109728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Token </a:t>
            </a: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关联</a:t>
            </a:r>
          </a:p>
        </p:txBody>
      </p:sp>
      <p:sp>
        <p:nvSpPr>
          <p:cNvPr id="483" name="Text 8"/>
          <p:cNvSpPr txBox="1"/>
          <p:nvPr/>
        </p:nvSpPr>
        <p:spPr>
          <a:xfrm>
            <a:off x="5989320" y="3980179"/>
            <a:ext cx="274320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每 </a:t>
            </a:r>
            <a:r>
              <a:rPr>
                <a:latin typeface="Arial"/>
                <a:ea typeface="Arial"/>
                <a:cs typeface="Arial"/>
                <a:sym typeface="Arial"/>
              </a:rPr>
              <a:t>1 </a:t>
            </a:r>
            <a:r>
              <a:t>资源点 </a:t>
            </a:r>
            <a:r>
              <a:rPr>
                <a:latin typeface="Arial"/>
                <a:ea typeface="Arial"/>
                <a:cs typeface="Arial"/>
                <a:sym typeface="Arial"/>
              </a:rPr>
              <a:t>= 10K Token</a:t>
            </a:r>
            <a:r>
              <a:t>（输入</a:t>
            </a:r>
            <a:r>
              <a:rPr>
                <a:latin typeface="Arial"/>
                <a:ea typeface="Arial"/>
                <a:cs typeface="Arial"/>
                <a:sym typeface="Arial"/>
              </a:rPr>
              <a:t>+</a:t>
            </a:r>
            <a:r>
              <a:t>输出）</a:t>
            </a:r>
          </a:p>
        </p:txBody>
      </p:sp>
      <p:sp>
        <p:nvSpPr>
          <p:cNvPr id="484" name="Shape 9"/>
          <p:cNvSpPr/>
          <p:nvPr/>
        </p:nvSpPr>
        <p:spPr>
          <a:xfrm>
            <a:off x="548640" y="4343400"/>
            <a:ext cx="1097282" cy="274321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5" name="Text 10"/>
          <p:cNvSpPr txBox="1"/>
          <p:nvPr/>
        </p:nvSpPr>
        <p:spPr>
          <a:xfrm>
            <a:off x="548640" y="4398009"/>
            <a:ext cx="109728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891B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超额计费</a:t>
            </a:r>
          </a:p>
        </p:txBody>
      </p:sp>
      <p:sp>
        <p:nvSpPr>
          <p:cNvPr id="486" name="Text 11"/>
          <p:cNvSpPr txBox="1"/>
          <p:nvPr/>
        </p:nvSpPr>
        <p:spPr>
          <a:xfrm>
            <a:off x="1783077" y="4391659"/>
            <a:ext cx="274320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达上限后按 </a:t>
            </a:r>
            <a:r>
              <a:rPr>
                <a:latin typeface="Arial"/>
                <a:ea typeface="Arial"/>
                <a:cs typeface="Arial"/>
                <a:sym typeface="Arial"/>
              </a:rPr>
              <a:t>1</a:t>
            </a:r>
            <a:r>
              <a:t>资源点</a:t>
            </a:r>
            <a:r>
              <a:rPr>
                <a:latin typeface="Arial"/>
                <a:ea typeface="Arial"/>
                <a:cs typeface="Arial"/>
                <a:sym typeface="Arial"/>
              </a:rPr>
              <a:t>:10K Token </a:t>
            </a:r>
            <a:r>
              <a:t>比例核销</a:t>
            </a:r>
          </a:p>
        </p:txBody>
      </p:sp>
      <p:sp>
        <p:nvSpPr>
          <p:cNvPr id="487" name="Shape 12"/>
          <p:cNvSpPr/>
          <p:nvPr/>
        </p:nvSpPr>
        <p:spPr>
          <a:xfrm>
            <a:off x="4754879" y="4343400"/>
            <a:ext cx="1097283" cy="274321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8" name="Text 13"/>
          <p:cNvSpPr txBox="1"/>
          <p:nvPr/>
        </p:nvSpPr>
        <p:spPr>
          <a:xfrm>
            <a:off x="4754879" y="4398009"/>
            <a:ext cx="109728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891B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余额处理</a:t>
            </a:r>
          </a:p>
        </p:txBody>
      </p:sp>
      <p:sp>
        <p:nvSpPr>
          <p:cNvPr id="489" name="Text 14"/>
          <p:cNvSpPr txBox="1"/>
          <p:nvPr/>
        </p:nvSpPr>
        <p:spPr>
          <a:xfrm>
            <a:off x="5989320" y="4391659"/>
            <a:ext cx="274320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月末未用完减半留至下月，再未消耗则核销</a:t>
            </a:r>
          </a:p>
        </p:txBody>
      </p:sp>
      <p:sp>
        <p:nvSpPr>
          <p:cNvPr id="490" name="Text 15"/>
          <p:cNvSpPr txBox="1"/>
          <p:nvPr/>
        </p:nvSpPr>
        <p:spPr>
          <a:xfrm>
            <a:off x="8092439" y="4789082"/>
            <a:ext cx="822963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9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ext 0"/>
          <p:cNvSpPr/>
          <p:nvPr/>
        </p:nvSpPr>
        <p:spPr>
          <a:xfrm>
            <a:off x="0" y="-2"/>
            <a:ext cx="9144000" cy="796830"/>
          </a:xfrm>
          <a:prstGeom prst="rect">
            <a:avLst/>
          </a:prstGeom>
          <a:solidFill>
            <a:srgbClr val="1A233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3" name="Text 1"/>
          <p:cNvSpPr/>
          <p:nvPr/>
        </p:nvSpPr>
        <p:spPr>
          <a:xfrm>
            <a:off x="381000" y="276225"/>
            <a:ext cx="1157139" cy="244376"/>
          </a:xfrm>
          <a:prstGeom prst="rect">
            <a:avLst/>
          </a:prstGeom>
          <a:solidFill>
            <a:srgbClr val="5A7A9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4" name="Text 2"/>
          <p:cNvSpPr txBox="1"/>
          <p:nvPr/>
        </p:nvSpPr>
        <p:spPr>
          <a:xfrm>
            <a:off x="533398" y="326975"/>
            <a:ext cx="86938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</a:t>
            </a:r>
          </a:p>
        </p:txBody>
      </p:sp>
      <p:sp>
        <p:nvSpPr>
          <p:cNvPr id="495" name="Text 3"/>
          <p:cNvSpPr txBox="1"/>
          <p:nvPr/>
        </p:nvSpPr>
        <p:spPr>
          <a:xfrm>
            <a:off x="1741289" y="203147"/>
            <a:ext cx="3134619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待确认问题与下一步计划</a:t>
            </a:r>
          </a:p>
        </p:txBody>
      </p:sp>
      <p:sp>
        <p:nvSpPr>
          <p:cNvPr id="496" name="Text 4"/>
          <p:cNvSpPr/>
          <p:nvPr/>
        </p:nvSpPr>
        <p:spPr>
          <a:xfrm>
            <a:off x="381000" y="923775"/>
            <a:ext cx="4089352" cy="1873750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7" name="Shape 5"/>
          <p:cNvSpPr/>
          <p:nvPr/>
        </p:nvSpPr>
        <p:spPr>
          <a:xfrm flipH="1">
            <a:off x="404813" y="923775"/>
            <a:ext cx="4" cy="1873747"/>
          </a:xfrm>
          <a:prstGeom prst="line">
            <a:avLst/>
          </a:prstGeom>
          <a:ln w="47625">
            <a:solidFill>
              <a:srgbClr val="5A7A9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" name="Text 6"/>
          <p:cNvSpPr txBox="1"/>
          <p:nvPr/>
        </p:nvSpPr>
        <p:spPr>
          <a:xfrm>
            <a:off x="581021" y="1050578"/>
            <a:ext cx="3811670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待确认问题</a:t>
            </a:r>
          </a:p>
        </p:txBody>
      </p:sp>
      <p:sp>
        <p:nvSpPr>
          <p:cNvPr id="499" name="Text 7"/>
          <p:cNvSpPr txBox="1"/>
          <p:nvPr/>
        </p:nvSpPr>
        <p:spPr>
          <a:xfrm>
            <a:off x="581021" y="1279029"/>
            <a:ext cx="381167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8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 路由配置（Type A）</a:t>
            </a:r>
          </a:p>
        </p:txBody>
      </p:sp>
      <p:sp>
        <p:nvSpPr>
          <p:cNvPr id="500" name="Text 8"/>
          <p:cNvSpPr txBox="1"/>
          <p:nvPr/>
        </p:nvSpPr>
        <p:spPr>
          <a:xfrm>
            <a:off x="581021" y="1446608"/>
            <a:ext cx="381167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"AI 跳过"策略是有意设计还是需调整？</a:t>
            </a:r>
          </a:p>
        </p:txBody>
      </p:sp>
      <p:sp>
        <p:nvSpPr>
          <p:cNvPr id="501" name="Text 9"/>
          <p:cNvSpPr txBox="1"/>
          <p:nvPr/>
        </p:nvSpPr>
        <p:spPr>
          <a:xfrm>
            <a:off x="581021" y="1639639"/>
            <a:ext cx="381167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8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 KB 查询无结果策略</a:t>
            </a:r>
          </a:p>
        </p:txBody>
      </p:sp>
      <p:sp>
        <p:nvSpPr>
          <p:cNvPr id="502" name="Text 10"/>
          <p:cNvSpPr txBox="1"/>
          <p:nvPr/>
        </p:nvSpPr>
        <p:spPr>
          <a:xfrm>
            <a:off x="581021" y="1807217"/>
            <a:ext cx="381167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直接提示"未找到"还是静默转人工？</a:t>
            </a:r>
          </a:p>
        </p:txBody>
      </p:sp>
      <p:sp>
        <p:nvSpPr>
          <p:cNvPr id="503" name="Text 11"/>
          <p:cNvSpPr txBox="1"/>
          <p:nvPr/>
        </p:nvSpPr>
        <p:spPr>
          <a:xfrm>
            <a:off x="581021" y="2000249"/>
            <a:ext cx="381167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8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3. 多 AI 版本统一</a:t>
            </a:r>
          </a:p>
        </p:txBody>
      </p:sp>
      <p:sp>
        <p:nvSpPr>
          <p:cNvPr id="504" name="Text 12"/>
          <p:cNvSpPr txBox="1"/>
          <p:nvPr/>
        </p:nvSpPr>
        <p:spPr>
          <a:xfrm>
            <a:off x="581021" y="2167830"/>
            <a:ext cx="381167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Vega / Mira / Chihiro 行为是否需统一？</a:t>
            </a:r>
          </a:p>
        </p:txBody>
      </p:sp>
      <p:sp>
        <p:nvSpPr>
          <p:cNvPr id="505" name="Text 13"/>
          <p:cNvSpPr txBox="1"/>
          <p:nvPr/>
        </p:nvSpPr>
        <p:spPr>
          <a:xfrm>
            <a:off x="581021" y="2360858"/>
            <a:ext cx="381167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8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4. 转人工后体验</a:t>
            </a:r>
          </a:p>
        </p:txBody>
      </p:sp>
      <p:sp>
        <p:nvSpPr>
          <p:cNvPr id="506" name="Text 14"/>
          <p:cNvSpPr txBox="1"/>
          <p:nvPr/>
        </p:nvSpPr>
        <p:spPr>
          <a:xfrm>
            <a:off x="581021" y="2528441"/>
            <a:ext cx="381167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工单号、预计响应时间需 CINNOX 集成支持。</a:t>
            </a:r>
          </a:p>
        </p:txBody>
      </p:sp>
      <p:sp>
        <p:nvSpPr>
          <p:cNvPr id="507" name="Text 15"/>
          <p:cNvSpPr/>
          <p:nvPr/>
        </p:nvSpPr>
        <p:spPr>
          <a:xfrm>
            <a:off x="4673501" y="923775"/>
            <a:ext cx="4089499" cy="1127076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8" name="Shape 16"/>
          <p:cNvSpPr/>
          <p:nvPr/>
        </p:nvSpPr>
        <p:spPr>
          <a:xfrm>
            <a:off x="4697312" y="923774"/>
            <a:ext cx="4" cy="1127080"/>
          </a:xfrm>
          <a:prstGeom prst="line">
            <a:avLst/>
          </a:prstGeom>
          <a:ln w="4762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9" name="Text 17"/>
          <p:cNvSpPr txBox="1"/>
          <p:nvPr/>
        </p:nvSpPr>
        <p:spPr>
          <a:xfrm>
            <a:off x="4873526" y="1050578"/>
            <a:ext cx="3811820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下一步计划</a:t>
            </a:r>
          </a:p>
        </p:txBody>
      </p:sp>
      <p:sp>
        <p:nvSpPr>
          <p:cNvPr id="510" name="Text 18"/>
          <p:cNvSpPr txBox="1"/>
          <p:nvPr/>
        </p:nvSpPr>
        <p:spPr>
          <a:xfrm>
            <a:off x="4873526" y="1279029"/>
            <a:ext cx="381182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</a:t>
            </a:r>
            <a:r>
              <a:rPr b="0"/>
              <a:t> 确认待确认问题 — 对齐配置策略和集成需求</a:t>
            </a:r>
          </a:p>
        </p:txBody>
      </p:sp>
      <p:sp>
        <p:nvSpPr>
          <p:cNvPr id="511" name="Text 19"/>
          <p:cNvSpPr txBox="1"/>
          <p:nvPr/>
        </p:nvSpPr>
        <p:spPr>
          <a:xfrm>
            <a:off x="4873526" y="1446608"/>
            <a:ext cx="381182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</a:t>
            </a:r>
            <a:r>
              <a:rPr b="0"/>
              <a:t> 安排 Live Demo — 使用真实产品数据演示</a:t>
            </a:r>
          </a:p>
        </p:txBody>
      </p:sp>
      <p:sp>
        <p:nvSpPr>
          <p:cNvPr id="512" name="Text 20"/>
          <p:cNvSpPr txBox="1"/>
          <p:nvPr/>
        </p:nvSpPr>
        <p:spPr>
          <a:xfrm>
            <a:off x="4873526" y="1614190"/>
            <a:ext cx="381182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</a:t>
            </a:r>
            <a:r>
              <a:rPr b="0"/>
              <a:t> 确定集成方案 — API 对接方案设计</a:t>
            </a:r>
          </a:p>
        </p:txBody>
      </p:sp>
      <p:sp>
        <p:nvSpPr>
          <p:cNvPr id="513" name="Text 21"/>
          <p:cNvSpPr txBox="1"/>
          <p:nvPr/>
        </p:nvSpPr>
        <p:spPr>
          <a:xfrm>
            <a:off x="4873526" y="1781767"/>
            <a:ext cx="3811820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</a:t>
            </a:r>
            <a:r>
              <a:rPr b="0"/>
              <a:t> 制定时间线 — POC / 试运行 / 正式上线</a:t>
            </a:r>
          </a:p>
        </p:txBody>
      </p:sp>
      <p:sp>
        <p:nvSpPr>
          <p:cNvPr id="514" name="Text 22"/>
          <p:cNvSpPr/>
          <p:nvPr/>
        </p:nvSpPr>
        <p:spPr>
          <a:xfrm>
            <a:off x="4673501" y="2152350"/>
            <a:ext cx="4089499" cy="834483"/>
          </a:xfrm>
          <a:prstGeom prst="roundRect">
            <a:avLst>
              <a:gd name="adj" fmla="val 913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5" name="Shape 23"/>
          <p:cNvSpPr/>
          <p:nvPr/>
        </p:nvSpPr>
        <p:spPr>
          <a:xfrm>
            <a:off x="4697312" y="2152350"/>
            <a:ext cx="4" cy="834484"/>
          </a:xfrm>
          <a:prstGeom prst="line">
            <a:avLst/>
          </a:prstGeom>
          <a:ln w="47625">
            <a:solidFill>
              <a:srgbClr val="00A8C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" name="Text 24"/>
          <p:cNvSpPr txBox="1"/>
          <p:nvPr/>
        </p:nvSpPr>
        <p:spPr>
          <a:xfrm>
            <a:off x="4873526" y="2279150"/>
            <a:ext cx="381182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0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联系方式</a:t>
            </a:r>
          </a:p>
        </p:txBody>
      </p:sp>
      <p:sp>
        <p:nvSpPr>
          <p:cNvPr id="517" name="Text 25"/>
          <p:cNvSpPr txBox="1"/>
          <p:nvPr/>
        </p:nvSpPr>
        <p:spPr>
          <a:xfrm>
            <a:off x="4873526" y="2510875"/>
            <a:ext cx="38118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期待与 CINNOX 团队进一步探讨合作方案</a:t>
            </a:r>
          </a:p>
        </p:txBody>
      </p:sp>
      <p:sp>
        <p:nvSpPr>
          <p:cNvPr id="518" name="Text 26"/>
          <p:cNvSpPr txBox="1"/>
          <p:nvPr/>
        </p:nvSpPr>
        <p:spPr>
          <a:xfrm>
            <a:off x="4873526" y="2698105"/>
            <a:ext cx="38118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可根据具体需求定制集成方案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1" name="Text 1"/>
          <p:cNvSpPr txBox="1"/>
          <p:nvPr/>
        </p:nvSpPr>
        <p:spPr>
          <a:xfrm>
            <a:off x="3531834" y="1678034"/>
            <a:ext cx="2080332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600"/>
              </a:spcBef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522" name="Text 2"/>
          <p:cNvSpPr/>
          <p:nvPr/>
        </p:nvSpPr>
        <p:spPr>
          <a:xfrm>
            <a:off x="4064050" y="2347913"/>
            <a:ext cx="1015901" cy="25305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3" name="Text 3"/>
          <p:cNvSpPr txBox="1"/>
          <p:nvPr/>
        </p:nvSpPr>
        <p:spPr>
          <a:xfrm>
            <a:off x="2862224" y="2627114"/>
            <a:ext cx="341955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3000"/>
              </a:spcBef>
              <a:defRPr sz="16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让 AI 成为您最可靠的第一道客户触点</a:t>
            </a:r>
          </a:p>
        </p:txBody>
      </p:sp>
      <p:sp>
        <p:nvSpPr>
          <p:cNvPr id="524" name="Text 4"/>
          <p:cNvSpPr txBox="1"/>
          <p:nvPr/>
        </p:nvSpPr>
        <p:spPr>
          <a:xfrm>
            <a:off x="3134560" y="3293864"/>
            <a:ext cx="287488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 |  CINNOX / M800</a:t>
            </a:r>
          </a:p>
        </p:txBody>
      </p:sp>
      <p:sp>
        <p:nvSpPr>
          <p:cNvPr id="525" name="Text 5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8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TC-A1 — New Customer Identification </a:t>
            </a:r>
            <a:r>
              <a:rPr b="1" sz="800"/>
              <a:t>PASS</a:t>
            </a:r>
          </a:p>
        </p:txBody>
      </p:sp>
      <p:sp>
        <p:nvSpPr>
          <p:cNvPr id="529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 Type</a:t>
            </a:r>
          </a:p>
        </p:txBody>
      </p:sp>
      <p:sp>
        <p:nvSpPr>
          <p:cNvPr id="530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1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 4 fields collected in logical order. Source cited as "product documentation".</a:t>
            </a:r>
          </a:p>
        </p:txBody>
      </p:sp>
      <p:sp>
        <p:nvSpPr>
          <p:cNvPr id="532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3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4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35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Hi, we are looking for a contact center solution for our team.</a:t>
            </a:r>
          </a:p>
        </p:txBody>
      </p:sp>
      <p:sp>
        <p:nvSpPr>
          <p:cNvPr id="536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7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539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Hi there! Welcome to CINNOX — I'd love to help you find the right contact center solution for your team! 😊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get started, may I have your name?</a:t>
            </a:r>
          </a:p>
        </p:txBody>
      </p:sp>
      <p:sp>
        <p:nvSpPr>
          <p:cNvPr id="540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1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43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My name is Emma Xu, and I'm from Bright Retail.</a:t>
            </a:r>
          </a:p>
        </p:txBody>
      </p:sp>
      <p:sp>
        <p:nvSpPr>
          <p:cNvPr id="544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5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547" name="Text 20"/>
          <p:cNvSpPr txBox="1"/>
          <p:nvPr/>
        </p:nvSpPr>
        <p:spPr>
          <a:xfrm>
            <a:off x="320576" y="1893984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Nice to meet you, Emma! And thanks for sharing that you're from Bright Retail. 😊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What's the best email address to reach you at?</a:t>
            </a:r>
          </a:p>
        </p:txBody>
      </p:sp>
      <p:sp>
        <p:nvSpPr>
          <p:cNvPr id="548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9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51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Sure, my email is emma.xu@brightretail.com</a:t>
            </a:r>
          </a:p>
        </p:txBody>
      </p:sp>
      <p:sp>
        <p:nvSpPr>
          <p:cNvPr id="552" name="Text 25"/>
          <p:cNvSpPr/>
          <p:nvPr/>
        </p:nvSpPr>
        <p:spPr>
          <a:xfrm>
            <a:off x="228600" y="2347615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3" name="Shape 26"/>
          <p:cNvSpPr/>
          <p:nvPr/>
        </p:nvSpPr>
        <p:spPr>
          <a:xfrm flipH="1">
            <a:off x="242888" y="2347615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555" name="Text 28"/>
          <p:cNvSpPr txBox="1"/>
          <p:nvPr/>
        </p:nvSpPr>
        <p:spPr>
          <a:xfrm>
            <a:off x="320576" y="24648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Perfect, got it! And a phone number we can reach you on?</a:t>
            </a:r>
          </a:p>
        </p:txBody>
      </p:sp>
      <p:sp>
        <p:nvSpPr>
          <p:cNvPr id="556" name="Text 29"/>
          <p:cNvSpPr/>
          <p:nvPr/>
        </p:nvSpPr>
        <p:spPr>
          <a:xfrm>
            <a:off x="228600" y="263306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7" name="Shape 30"/>
          <p:cNvSpPr/>
          <p:nvPr/>
        </p:nvSpPr>
        <p:spPr>
          <a:xfrm flipH="1">
            <a:off x="242888" y="263306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59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My phone number is +852-9123-4567</a:t>
            </a:r>
          </a:p>
        </p:txBody>
      </p:sp>
      <p:sp>
        <p:nvSpPr>
          <p:cNvPr id="560" name="Text 33"/>
          <p:cNvSpPr/>
          <p:nvPr/>
        </p:nvSpPr>
        <p:spPr>
          <a:xfrm>
            <a:off x="228600" y="2918517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1" name="Shape 34"/>
          <p:cNvSpPr/>
          <p:nvPr/>
        </p:nvSpPr>
        <p:spPr>
          <a:xfrm flipH="1">
            <a:off x="242888" y="2918517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563" name="Text 36"/>
          <p:cNvSpPr txBox="1"/>
          <p:nvPr/>
        </p:nvSpPr>
        <p:spPr>
          <a:xfrm>
            <a:off x="320576" y="3035796"/>
            <a:ext cx="8702052" cy="681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Let me confirm your details before I save them: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**Name**: Emma Xu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**Company**: Bright Retail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**Email**: emma.xu@brightretail.com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**Phone**: +852-9123-4...</a:t>
            </a:r>
          </a:p>
        </p:txBody>
      </p:sp>
      <p:sp>
        <p:nvSpPr>
          <p:cNvPr id="564" name="Text 37"/>
          <p:cNvSpPr/>
          <p:nvPr/>
        </p:nvSpPr>
        <p:spPr>
          <a:xfrm>
            <a:off x="228600" y="3203972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5" name="Shape 38"/>
          <p:cNvSpPr/>
          <p:nvPr/>
        </p:nvSpPr>
        <p:spPr>
          <a:xfrm flipH="1">
            <a:off x="242888" y="3203972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6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67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568" name="Text 41"/>
          <p:cNvSpPr/>
          <p:nvPr/>
        </p:nvSpPr>
        <p:spPr>
          <a:xfrm>
            <a:off x="228600" y="3489423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9" name="Shape 42"/>
          <p:cNvSpPr/>
          <p:nvPr/>
        </p:nvSpPr>
        <p:spPr>
          <a:xfrm flipH="1">
            <a:off x="242888" y="3489423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571" name="Text 44"/>
          <p:cNvSpPr txBox="1"/>
          <p:nvPr/>
        </p:nvSpPr>
        <p:spPr>
          <a:xfrm>
            <a:off x="320576" y="360670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Emma! Your information has been saved. 😊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interest in a contact center solution — let me look that up for you!Great news, Emma! ...</a:t>
            </a:r>
          </a:p>
        </p:txBody>
      </p:sp>
      <p:sp>
        <p:nvSpPr>
          <p:cNvPr id="572" name="Text 45"/>
          <p:cNvSpPr/>
          <p:nvPr/>
        </p:nvSpPr>
        <p:spPr>
          <a:xfrm>
            <a:off x="228600" y="377487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73" name="Shape 46"/>
          <p:cNvSpPr/>
          <p:nvPr/>
        </p:nvSpPr>
        <p:spPr>
          <a:xfrm flipH="1">
            <a:off x="242888" y="377487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Text 47"/>
          <p:cNvSpPr txBox="1"/>
          <p:nvPr/>
        </p:nvSpPr>
        <p:spPr>
          <a:xfrm>
            <a:off x="320576" y="380017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75" name="Text 48"/>
          <p:cNvSpPr txBox="1"/>
          <p:nvPr/>
        </p:nvSpPr>
        <p:spPr>
          <a:xfrm>
            <a:off x="320576" y="389215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 agents. Mainly voice calss</a:t>
            </a:r>
          </a:p>
        </p:txBody>
      </p:sp>
      <p:sp>
        <p:nvSpPr>
          <p:cNvPr id="576" name="Text 49"/>
          <p:cNvSpPr/>
          <p:nvPr/>
        </p:nvSpPr>
        <p:spPr>
          <a:xfrm>
            <a:off x="228600" y="406032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77" name="Shape 50"/>
          <p:cNvSpPr/>
          <p:nvPr/>
        </p:nvSpPr>
        <p:spPr>
          <a:xfrm flipH="1">
            <a:off x="242888" y="406032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Text 51"/>
          <p:cNvSpPr txBox="1"/>
          <p:nvPr/>
        </p:nvSpPr>
        <p:spPr>
          <a:xfrm>
            <a:off x="320576" y="408563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579" name="Text 52"/>
          <p:cNvSpPr txBox="1"/>
          <p:nvPr/>
        </p:nvSpPr>
        <p:spPr>
          <a:xfrm>
            <a:off x="320576" y="417760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Based on our pricing documentation, the **Basic Contact Center (BCC)** plan sounds like a great fit for Bright Retail — it's designed specifically for voice-fir...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82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TC-A2 — Existing Customer Identification </a:t>
            </a:r>
            <a:r>
              <a:rPr b="1" sz="800"/>
              <a:t>PASS</a:t>
            </a:r>
            <a:r>
              <a:t> </a:t>
            </a:r>
            <a:r>
              <a:rPr b="1" sz="700"/>
              <a:t>REGRESSION</a:t>
            </a:r>
          </a:p>
        </p:txBody>
      </p:sp>
      <p:sp>
        <p:nvSpPr>
          <p:cNvPr id="583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 Type</a:t>
            </a:r>
          </a:p>
        </p:txBody>
      </p:sp>
      <p:sp>
        <p:nvSpPr>
          <p:cNvPr id="584" name="Text 3"/>
          <p:cNvSpPr/>
          <p:nvPr/>
        </p:nvSpPr>
        <p:spPr>
          <a:xfrm>
            <a:off x="228600" y="736400"/>
            <a:ext cx="8686800" cy="155381"/>
          </a:xfrm>
          <a:prstGeom prst="roundRect">
            <a:avLst>
              <a:gd name="adj" fmla="val 2452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85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Email 不再要求（规格回退）。投诉流程收集 Company/Account ID/Service/Agent。</a:t>
            </a:r>
          </a:p>
        </p:txBody>
      </p:sp>
      <p:sp>
        <p:nvSpPr>
          <p:cNvPr id="586" name="Shape 9"/>
          <p:cNvSpPr/>
          <p:nvPr/>
        </p:nvSpPr>
        <p:spPr>
          <a:xfrm flipH="1">
            <a:off x="233360" y="1075730"/>
            <a:ext cx="4" cy="2256236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Shape 44"/>
          <p:cNvSpPr/>
          <p:nvPr/>
        </p:nvSpPr>
        <p:spPr>
          <a:xfrm>
            <a:off x="4538664" y="1075730"/>
            <a:ext cx="4" cy="2470845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Shape 45"/>
          <p:cNvSpPr/>
          <p:nvPr/>
        </p:nvSpPr>
        <p:spPr>
          <a:xfrm>
            <a:off x="238125" y="3541812"/>
            <a:ext cx="4305303" cy="4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9" name="Shape 46"/>
          <p:cNvSpPr/>
          <p:nvPr/>
        </p:nvSpPr>
        <p:spPr>
          <a:xfrm flipH="1">
            <a:off x="242888" y="1075730"/>
            <a:ext cx="4" cy="2470845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0" name="Text 47"/>
          <p:cNvSpPr/>
          <p:nvPr/>
        </p:nvSpPr>
        <p:spPr>
          <a:xfrm>
            <a:off x="285751" y="1132879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91" name="Shape 48"/>
          <p:cNvSpPr/>
          <p:nvPr/>
        </p:nvSpPr>
        <p:spPr>
          <a:xfrm>
            <a:off x="300038" y="1132879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Text 49"/>
          <p:cNvSpPr txBox="1"/>
          <p:nvPr/>
        </p:nvSpPr>
        <p:spPr>
          <a:xfrm>
            <a:off x="377727" y="1158179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93" name="Text 50"/>
          <p:cNvSpPr txBox="1"/>
          <p:nvPr/>
        </p:nvSpPr>
        <p:spPr>
          <a:xfrm>
            <a:off x="377727" y="1250154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Our agent cannot receive calls on the CINNOX platform.</a:t>
            </a:r>
          </a:p>
        </p:txBody>
      </p:sp>
      <p:sp>
        <p:nvSpPr>
          <p:cNvPr id="594" name="Text 51"/>
          <p:cNvSpPr/>
          <p:nvPr/>
        </p:nvSpPr>
        <p:spPr>
          <a:xfrm>
            <a:off x="285751" y="1401812"/>
            <a:ext cx="4210051" cy="249885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95" name="Shape 52"/>
          <p:cNvSpPr/>
          <p:nvPr/>
        </p:nvSpPr>
        <p:spPr>
          <a:xfrm>
            <a:off x="300038" y="1401812"/>
            <a:ext cx="4" cy="249885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Text 53"/>
          <p:cNvSpPr txBox="1"/>
          <p:nvPr/>
        </p:nvSpPr>
        <p:spPr>
          <a:xfrm>
            <a:off x="377727" y="1427112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597" name="Text 54"/>
          <p:cNvSpPr txBox="1"/>
          <p:nvPr/>
        </p:nvSpPr>
        <p:spPr>
          <a:xfrm>
            <a:off x="377727" y="1519087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help! Could I get your company name and Account ID to pull up your account?</a:t>
            </a:r>
          </a:p>
        </p:txBody>
      </p:sp>
      <p:sp>
        <p:nvSpPr>
          <p:cNvPr id="598" name="Text 55"/>
          <p:cNvSpPr/>
          <p:nvPr/>
        </p:nvSpPr>
        <p:spPr>
          <a:xfrm>
            <a:off x="285751" y="1670742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99" name="Shape 56"/>
          <p:cNvSpPr/>
          <p:nvPr/>
        </p:nvSpPr>
        <p:spPr>
          <a:xfrm>
            <a:off x="300038" y="1670742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Text 57"/>
          <p:cNvSpPr txBox="1"/>
          <p:nvPr/>
        </p:nvSpPr>
        <p:spPr>
          <a:xfrm>
            <a:off x="377727" y="1696042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01" name="Text 58"/>
          <p:cNvSpPr txBox="1"/>
          <p:nvPr/>
        </p:nvSpPr>
        <p:spPr>
          <a:xfrm>
            <a:off x="377727" y="1788021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Yes, I'm an existing customer. Company is Pacific Bank HK.</a:t>
            </a:r>
          </a:p>
        </p:txBody>
      </p:sp>
      <p:sp>
        <p:nvSpPr>
          <p:cNvPr id="602" name="Text 59"/>
          <p:cNvSpPr/>
          <p:nvPr/>
        </p:nvSpPr>
        <p:spPr>
          <a:xfrm>
            <a:off x="285751" y="1939675"/>
            <a:ext cx="4210051" cy="249885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03" name="Shape 60"/>
          <p:cNvSpPr/>
          <p:nvPr/>
        </p:nvSpPr>
        <p:spPr>
          <a:xfrm>
            <a:off x="300038" y="1939675"/>
            <a:ext cx="4" cy="249885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 61"/>
          <p:cNvSpPr txBox="1"/>
          <p:nvPr/>
        </p:nvSpPr>
        <p:spPr>
          <a:xfrm>
            <a:off x="377727" y="1964975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05" name="Text 62"/>
          <p:cNvSpPr txBox="1"/>
          <p:nvPr/>
        </p:nvSpPr>
        <p:spPr>
          <a:xfrm>
            <a:off x="377727" y="2056950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you! Could you also provide your **Account ID** so I can pull up your account?</a:t>
            </a:r>
          </a:p>
        </p:txBody>
      </p:sp>
      <p:sp>
        <p:nvSpPr>
          <p:cNvPr id="606" name="Text 63"/>
          <p:cNvSpPr/>
          <p:nvPr/>
        </p:nvSpPr>
        <p:spPr>
          <a:xfrm>
            <a:off x="285751" y="2208608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07" name="Shape 64"/>
          <p:cNvSpPr/>
          <p:nvPr/>
        </p:nvSpPr>
        <p:spPr>
          <a:xfrm>
            <a:off x="300038" y="2208608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 65"/>
          <p:cNvSpPr txBox="1"/>
          <p:nvPr/>
        </p:nvSpPr>
        <p:spPr>
          <a:xfrm>
            <a:off x="377727" y="2233908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09" name="Text 66"/>
          <p:cNvSpPr txBox="1"/>
          <p:nvPr/>
        </p:nvSpPr>
        <p:spPr>
          <a:xfrm>
            <a:off x="377727" y="2325883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PBHK-2024</a:t>
            </a:r>
          </a:p>
        </p:txBody>
      </p:sp>
      <p:sp>
        <p:nvSpPr>
          <p:cNvPr id="610" name="Text 67"/>
          <p:cNvSpPr/>
          <p:nvPr/>
        </p:nvSpPr>
        <p:spPr>
          <a:xfrm>
            <a:off x="285751" y="2477541"/>
            <a:ext cx="4210051" cy="35719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11" name="Shape 68"/>
          <p:cNvSpPr/>
          <p:nvPr/>
        </p:nvSpPr>
        <p:spPr>
          <a:xfrm>
            <a:off x="300038" y="2477541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Text 69"/>
          <p:cNvSpPr txBox="1"/>
          <p:nvPr/>
        </p:nvSpPr>
        <p:spPr>
          <a:xfrm>
            <a:off x="377727" y="2502841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13" name="Text 70"/>
          <p:cNvSpPr txBox="1"/>
          <p:nvPr/>
        </p:nvSpPr>
        <p:spPr>
          <a:xfrm>
            <a:off x="377727" y="2594816"/>
            <a:ext cx="4135771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Got it, thank you! I've pulled up your account — **Pacific Bank HK (PBHK-2024)**.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help our support team resolve this...</a:t>
            </a:r>
          </a:p>
        </p:txBody>
      </p:sp>
      <p:sp>
        <p:nvSpPr>
          <p:cNvPr id="614" name="Text 71"/>
          <p:cNvSpPr/>
          <p:nvPr/>
        </p:nvSpPr>
        <p:spPr>
          <a:xfrm>
            <a:off x="285751" y="2853776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15" name="Shape 72"/>
          <p:cNvSpPr/>
          <p:nvPr/>
        </p:nvSpPr>
        <p:spPr>
          <a:xfrm>
            <a:off x="300038" y="2853776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Text 73"/>
          <p:cNvSpPr txBox="1"/>
          <p:nvPr/>
        </p:nvSpPr>
        <p:spPr>
          <a:xfrm>
            <a:off x="377727" y="2879080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17" name="Text 74"/>
          <p:cNvSpPr txBox="1"/>
          <p:nvPr/>
        </p:nvSpPr>
        <p:spPr>
          <a:xfrm>
            <a:off x="377727" y="2971056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Alice, +852-1234-5678</a:t>
            </a:r>
          </a:p>
        </p:txBody>
      </p:sp>
      <p:sp>
        <p:nvSpPr>
          <p:cNvPr id="618" name="Text 75"/>
          <p:cNvSpPr/>
          <p:nvPr/>
        </p:nvSpPr>
        <p:spPr>
          <a:xfrm>
            <a:off x="285751" y="3122709"/>
            <a:ext cx="4210051" cy="35719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19" name="Shape 76"/>
          <p:cNvSpPr/>
          <p:nvPr/>
        </p:nvSpPr>
        <p:spPr>
          <a:xfrm>
            <a:off x="300038" y="3122709"/>
            <a:ext cx="4" cy="35719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Text 77"/>
          <p:cNvSpPr txBox="1"/>
          <p:nvPr/>
        </p:nvSpPr>
        <p:spPr>
          <a:xfrm>
            <a:off x="377727" y="3148013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21" name="Text 78"/>
          <p:cNvSpPr txBox="1"/>
          <p:nvPr/>
        </p:nvSpPr>
        <p:spPr>
          <a:xfrm>
            <a:off x="377727" y="3239988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 for the details. Let me escalate this to our support team right away.I'm connecting you with our support team 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24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TC-A3 — Partner Identification </a:t>
            </a:r>
            <a:r>
              <a:rPr b="1" sz="800"/>
              <a:t>PASS</a:t>
            </a:r>
          </a:p>
        </p:txBody>
      </p:sp>
      <p:sp>
        <p:nvSpPr>
          <p:cNvPr id="625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 Type</a:t>
            </a:r>
          </a:p>
        </p:txBody>
      </p:sp>
      <p:sp>
        <p:nvSpPr>
          <p:cNvPr id="626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27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Correctly routed to partnership team, not sales.</a:t>
            </a:r>
          </a:p>
        </p:txBody>
      </p:sp>
      <p:sp>
        <p:nvSpPr>
          <p:cNvPr id="628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29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31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are a system integrator and want to explore a partnership with CINNOX.</a:t>
            </a:r>
          </a:p>
        </p:txBody>
      </p:sp>
      <p:sp>
        <p:nvSpPr>
          <p:cNvPr id="632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33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35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That's great to hear! We'd love to explore a partnership with you.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get things started, may I have your name?</a:t>
            </a:r>
          </a:p>
        </p:txBody>
      </p:sp>
      <p:sp>
        <p:nvSpPr>
          <p:cNvPr id="636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37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39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My name is David Park from Nexus SI in Singapore.</a:t>
            </a:r>
          </a:p>
        </p:txBody>
      </p:sp>
      <p:sp>
        <p:nvSpPr>
          <p:cNvPr id="640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41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43" name="Text 20"/>
          <p:cNvSpPr txBox="1"/>
          <p:nvPr/>
        </p:nvSpPr>
        <p:spPr>
          <a:xfrm>
            <a:off x="320576" y="1893984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Nice to meet you, David! Nexus SI sounds like a great fit for a CINNOX partnership.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Could I get your email address?</a:t>
            </a:r>
          </a:p>
        </p:txBody>
      </p:sp>
      <p:sp>
        <p:nvSpPr>
          <p:cNvPr id="644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45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47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david.park@nexussi.com</a:t>
            </a:r>
          </a:p>
        </p:txBody>
      </p:sp>
      <p:sp>
        <p:nvSpPr>
          <p:cNvPr id="648" name="Text 25"/>
          <p:cNvSpPr/>
          <p:nvPr/>
        </p:nvSpPr>
        <p:spPr>
          <a:xfrm>
            <a:off x="228600" y="2347615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49" name="Shape 26"/>
          <p:cNvSpPr/>
          <p:nvPr/>
        </p:nvSpPr>
        <p:spPr>
          <a:xfrm flipH="1">
            <a:off x="242888" y="2347615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51" name="Text 28"/>
          <p:cNvSpPr txBox="1"/>
          <p:nvPr/>
        </p:nvSpPr>
        <p:spPr>
          <a:xfrm>
            <a:off x="320576" y="24648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Got it! And lastly, a phone number we can reach you on?</a:t>
            </a:r>
          </a:p>
        </p:txBody>
      </p:sp>
      <p:sp>
        <p:nvSpPr>
          <p:cNvPr id="652" name="Text 29"/>
          <p:cNvSpPr/>
          <p:nvPr/>
        </p:nvSpPr>
        <p:spPr>
          <a:xfrm>
            <a:off x="228600" y="263306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53" name="Shape 30"/>
          <p:cNvSpPr/>
          <p:nvPr/>
        </p:nvSpPr>
        <p:spPr>
          <a:xfrm flipH="1">
            <a:off x="242888" y="263306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55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+65-8123-4567</a:t>
            </a:r>
          </a:p>
        </p:txBody>
      </p:sp>
      <p:sp>
        <p:nvSpPr>
          <p:cNvPr id="656" name="Text 33"/>
          <p:cNvSpPr/>
          <p:nvPr/>
        </p:nvSpPr>
        <p:spPr>
          <a:xfrm>
            <a:off x="228600" y="2918517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57" name="Shape 34"/>
          <p:cNvSpPr/>
          <p:nvPr/>
        </p:nvSpPr>
        <p:spPr>
          <a:xfrm flipH="1">
            <a:off x="242888" y="2918517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59" name="Text 36"/>
          <p:cNvSpPr txBox="1"/>
          <p:nvPr/>
        </p:nvSpPr>
        <p:spPr>
          <a:xfrm>
            <a:off x="320576" y="3035796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Let me confirm your details before I pass these on: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**Name**: David Park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**Company**: Nexus SI (Singapore)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**Email**: david.park@nexussi.com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**Phone**: +65-8123-4567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correct?</a:t>
            </a:r>
          </a:p>
        </p:txBody>
      </p:sp>
      <p:sp>
        <p:nvSpPr>
          <p:cNvPr id="660" name="Text 37"/>
          <p:cNvSpPr/>
          <p:nvPr/>
        </p:nvSpPr>
        <p:spPr>
          <a:xfrm>
            <a:off x="228600" y="3203972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61" name="Shape 38"/>
          <p:cNvSpPr/>
          <p:nvPr/>
        </p:nvSpPr>
        <p:spPr>
          <a:xfrm flipH="1">
            <a:off x="242888" y="3203972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63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664" name="Text 41"/>
          <p:cNvSpPr/>
          <p:nvPr/>
        </p:nvSpPr>
        <p:spPr>
          <a:xfrm>
            <a:off x="228600" y="3489423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65" name="Shape 42"/>
          <p:cNvSpPr/>
          <p:nvPr/>
        </p:nvSpPr>
        <p:spPr>
          <a:xfrm flipH="1">
            <a:off x="242888" y="3489423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6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67" name="Text 44"/>
          <p:cNvSpPr txBox="1"/>
          <p:nvPr/>
        </p:nvSpPr>
        <p:spPr>
          <a:xfrm>
            <a:off x="320576" y="3606701"/>
            <a:ext cx="8702052" cy="35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David! Your information has been saved.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 for your interest in partnering with us! Our partnership team will be in touch shortly. Let me connect you now. 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0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TC-A4 — Existing Customer Product Inquiry </a:t>
            </a:r>
            <a:r>
              <a:rPr b="1" sz="800"/>
              <a:t>PASS</a:t>
            </a:r>
          </a:p>
        </p:txBody>
      </p:sp>
      <p:sp>
        <p:nvSpPr>
          <p:cNvPr id="671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 Type</a:t>
            </a:r>
          </a:p>
        </p:txBody>
      </p:sp>
      <p:sp>
        <p:nvSpPr>
          <p:cNvPr id="672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3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Skipped lead form. RAG answer with source citation. Transferred for CRM details beyond KB.</a:t>
            </a:r>
          </a:p>
        </p:txBody>
      </p:sp>
      <p:sp>
        <p:nvSpPr>
          <p:cNvPr id="674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5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77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are an existing CINNOX customer. Does CINNOX support CRM integration via API?</a:t>
            </a:r>
          </a:p>
        </p:txBody>
      </p:sp>
      <p:sp>
        <p:nvSpPr>
          <p:cNvPr id="678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9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81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help! Could I get your company name and Account ID to pull up your account?</a:t>
            </a:r>
          </a:p>
        </p:txBody>
      </p:sp>
      <p:sp>
        <p:nvSpPr>
          <p:cNvPr id="682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3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4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85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NovaTech HK, account NVHK-2025.</a:t>
            </a:r>
          </a:p>
        </p:txBody>
      </p:sp>
      <p:sp>
        <p:nvSpPr>
          <p:cNvPr id="686" name="Text 17"/>
          <p:cNvSpPr/>
          <p:nvPr/>
        </p:nvSpPr>
        <p:spPr>
          <a:xfrm>
            <a:off x="228600" y="1776708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7" name="Shape 18"/>
          <p:cNvSpPr/>
          <p:nvPr/>
        </p:nvSpPr>
        <p:spPr>
          <a:xfrm flipH="1">
            <a:off x="242888" y="1776708"/>
            <a:ext cx="4" cy="39023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89" name="Text 20"/>
          <p:cNvSpPr txBox="1"/>
          <p:nvPr/>
        </p:nvSpPr>
        <p:spPr>
          <a:xfrm>
            <a:off x="320576" y="1893984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 for that, NovaTech HK! Account confirmed. Now, regarding your question: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Based on our product documentation, CINNOX does provide an **Open API** platform, and third-party integrations are listed as a supported fea...</a:t>
            </a:r>
          </a:p>
        </p:txBody>
      </p:sp>
      <p:sp>
        <p:nvSpPr>
          <p:cNvPr id="690" name="Text 21"/>
          <p:cNvSpPr/>
          <p:nvPr/>
        </p:nvSpPr>
        <p:spPr>
          <a:xfrm>
            <a:off x="228600" y="218598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1" name="Shape 22"/>
          <p:cNvSpPr/>
          <p:nvPr/>
        </p:nvSpPr>
        <p:spPr>
          <a:xfrm flipH="1">
            <a:off x="242888" y="2185988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Text 23"/>
          <p:cNvSpPr txBox="1"/>
          <p:nvPr/>
        </p:nvSpPr>
        <p:spPr>
          <a:xfrm>
            <a:off x="320576" y="221128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693" name="Text 24"/>
          <p:cNvSpPr txBox="1"/>
          <p:nvPr/>
        </p:nvSpPr>
        <p:spPr>
          <a:xfrm>
            <a:off x="320576" y="230326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okay</a:t>
            </a:r>
          </a:p>
        </p:txBody>
      </p:sp>
      <p:sp>
        <p:nvSpPr>
          <p:cNvPr id="694" name="Text 25"/>
          <p:cNvSpPr/>
          <p:nvPr/>
        </p:nvSpPr>
        <p:spPr>
          <a:xfrm>
            <a:off x="228600" y="2471440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5" name="Shape 26"/>
          <p:cNvSpPr/>
          <p:nvPr/>
        </p:nvSpPr>
        <p:spPr>
          <a:xfrm flipH="1">
            <a:off x="242888" y="2471440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6" name="Text 27"/>
          <p:cNvSpPr txBox="1"/>
          <p:nvPr/>
        </p:nvSpPr>
        <p:spPr>
          <a:xfrm>
            <a:off x="320576" y="249674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697" name="Text 28"/>
          <p:cNvSpPr txBox="1"/>
          <p:nvPr/>
        </p:nvSpPr>
        <p:spPr>
          <a:xfrm>
            <a:off x="320576" y="25887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problem! Is there anything else I can help you with, or would you like me to connect you with a specialist for the CRM integration details?</a:t>
            </a:r>
          </a:p>
        </p:txBody>
      </p:sp>
      <p:sp>
        <p:nvSpPr>
          <p:cNvPr id="698" name="Text 29"/>
          <p:cNvSpPr/>
          <p:nvPr/>
        </p:nvSpPr>
        <p:spPr>
          <a:xfrm>
            <a:off x="228600" y="2756891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9" name="Shape 30"/>
          <p:cNvSpPr/>
          <p:nvPr/>
        </p:nvSpPr>
        <p:spPr>
          <a:xfrm flipH="1">
            <a:off x="242888" y="2756891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0" name="Text 31"/>
          <p:cNvSpPr txBox="1"/>
          <p:nvPr/>
        </p:nvSpPr>
        <p:spPr>
          <a:xfrm>
            <a:off x="320576" y="27821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01" name="Text 32"/>
          <p:cNvSpPr txBox="1"/>
          <p:nvPr/>
        </p:nvSpPr>
        <p:spPr>
          <a:xfrm>
            <a:off x="320576" y="287416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connect</a:t>
            </a:r>
          </a:p>
        </p:txBody>
      </p:sp>
      <p:sp>
        <p:nvSpPr>
          <p:cNvPr id="702" name="Text 33"/>
          <p:cNvSpPr/>
          <p:nvPr/>
        </p:nvSpPr>
        <p:spPr>
          <a:xfrm>
            <a:off x="228600" y="3042342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3" name="Shape 34"/>
          <p:cNvSpPr/>
          <p:nvPr/>
        </p:nvSpPr>
        <p:spPr>
          <a:xfrm flipH="1">
            <a:off x="242888" y="3042342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 35"/>
          <p:cNvSpPr txBox="1"/>
          <p:nvPr/>
        </p:nvSpPr>
        <p:spPr>
          <a:xfrm>
            <a:off x="320576" y="30676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05" name="Text 36"/>
          <p:cNvSpPr txBox="1"/>
          <p:nvPr/>
        </p:nvSpPr>
        <p:spPr>
          <a:xfrm>
            <a:off x="320576" y="3159621"/>
            <a:ext cx="8702052" cy="79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I'm connecting you with our sales specialist now. They'll be with you shortly. 😊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```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━━━━━━━━━━━━━━━━━━━━━━━━━━━━━━━━━━━━━━━━━━━━━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Session Ended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━━━━━━━━━━━━━━━━━━━━━━━━━━━━━━━━━━━━━━━━━━━━━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```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8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TC-B1 — WhatsApp Integration </a:t>
            </a:r>
            <a:r>
              <a:rPr b="1" sz="800"/>
              <a:t>PASS</a:t>
            </a:r>
            <a:r>
              <a:t> </a:t>
            </a:r>
            <a:r>
              <a:rPr b="1" sz="700"/>
              <a:t>REGRESSION</a:t>
            </a:r>
          </a:p>
        </p:txBody>
      </p:sp>
      <p:sp>
        <p:nvSpPr>
          <p:cNvPr id="709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 / RAG</a:t>
            </a:r>
          </a:p>
        </p:txBody>
      </p:sp>
      <p:sp>
        <p:nvSpPr>
          <p:cNvPr id="710" name="Text 3"/>
          <p:cNvSpPr/>
          <p:nvPr/>
        </p:nvSpPr>
        <p:spPr>
          <a:xfrm>
            <a:off x="228600" y="736400"/>
            <a:ext cx="8686800" cy="155381"/>
          </a:xfrm>
          <a:prstGeom prst="roundRect">
            <a:avLst>
              <a:gd name="adj" fmla="val 2452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1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v1.2 fix: 路由问题 → lead capture → WhatsApp answer.</a:t>
            </a:r>
          </a:p>
        </p:txBody>
      </p:sp>
      <p:sp>
        <p:nvSpPr>
          <p:cNvPr id="712" name="Shape 20"/>
          <p:cNvSpPr/>
          <p:nvPr/>
        </p:nvSpPr>
        <p:spPr>
          <a:xfrm>
            <a:off x="4529139" y="1075729"/>
            <a:ext cx="4" cy="2578153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Shape 21"/>
          <p:cNvSpPr/>
          <p:nvPr/>
        </p:nvSpPr>
        <p:spPr>
          <a:xfrm>
            <a:off x="228600" y="3649117"/>
            <a:ext cx="4305303" cy="4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Shape 22"/>
          <p:cNvSpPr/>
          <p:nvPr/>
        </p:nvSpPr>
        <p:spPr>
          <a:xfrm flipH="1">
            <a:off x="233363" y="1075729"/>
            <a:ext cx="4" cy="2578153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5" name="Text 23"/>
          <p:cNvSpPr/>
          <p:nvPr/>
        </p:nvSpPr>
        <p:spPr>
          <a:xfrm>
            <a:off x="276226" y="1132879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6" name="Shape 24"/>
          <p:cNvSpPr/>
          <p:nvPr/>
        </p:nvSpPr>
        <p:spPr>
          <a:xfrm>
            <a:off x="290513" y="1132879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 25"/>
          <p:cNvSpPr txBox="1"/>
          <p:nvPr/>
        </p:nvSpPr>
        <p:spPr>
          <a:xfrm>
            <a:off x="368202" y="1158179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18" name="Text 26"/>
          <p:cNvSpPr txBox="1"/>
          <p:nvPr/>
        </p:nvSpPr>
        <p:spPr>
          <a:xfrm>
            <a:off x="368202" y="1250154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Does CINNOX support WhatsApp integration?</a:t>
            </a:r>
          </a:p>
        </p:txBody>
      </p:sp>
      <p:sp>
        <p:nvSpPr>
          <p:cNvPr id="719" name="Text 27"/>
          <p:cNvSpPr/>
          <p:nvPr/>
        </p:nvSpPr>
        <p:spPr>
          <a:xfrm>
            <a:off x="276226" y="1401812"/>
            <a:ext cx="4210051" cy="35719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0" name="Shape 28"/>
          <p:cNvSpPr/>
          <p:nvPr/>
        </p:nvSpPr>
        <p:spPr>
          <a:xfrm>
            <a:off x="290513" y="1401812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" name="Text 29"/>
          <p:cNvSpPr txBox="1"/>
          <p:nvPr/>
        </p:nvSpPr>
        <p:spPr>
          <a:xfrm>
            <a:off x="368202" y="1427112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22" name="Text 30"/>
          <p:cNvSpPr txBox="1"/>
          <p:nvPr/>
        </p:nvSpPr>
        <p:spPr>
          <a:xfrm>
            <a:off x="368202" y="1519087"/>
            <a:ext cx="4135771" cy="199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custome...</a:t>
            </a:r>
          </a:p>
        </p:txBody>
      </p:sp>
      <p:sp>
        <p:nvSpPr>
          <p:cNvPr id="723" name="Text 31"/>
          <p:cNvSpPr/>
          <p:nvPr/>
        </p:nvSpPr>
        <p:spPr>
          <a:xfrm>
            <a:off x="276226" y="1778049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4" name="Shape 32"/>
          <p:cNvSpPr/>
          <p:nvPr/>
        </p:nvSpPr>
        <p:spPr>
          <a:xfrm>
            <a:off x="290513" y="1778049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 33"/>
          <p:cNvSpPr txBox="1"/>
          <p:nvPr/>
        </p:nvSpPr>
        <p:spPr>
          <a:xfrm>
            <a:off x="368202" y="1803350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26" name="Text 34"/>
          <p:cNvSpPr txBox="1"/>
          <p:nvPr/>
        </p:nvSpPr>
        <p:spPr>
          <a:xfrm>
            <a:off x="368202" y="1895325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</a:t>
            </a:r>
          </a:p>
        </p:txBody>
      </p:sp>
      <p:sp>
        <p:nvSpPr>
          <p:cNvPr id="727" name="Text 35"/>
          <p:cNvSpPr/>
          <p:nvPr/>
        </p:nvSpPr>
        <p:spPr>
          <a:xfrm>
            <a:off x="276226" y="2046982"/>
            <a:ext cx="4210051" cy="249885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8" name="Shape 36"/>
          <p:cNvSpPr/>
          <p:nvPr/>
        </p:nvSpPr>
        <p:spPr>
          <a:xfrm>
            <a:off x="290513" y="2046982"/>
            <a:ext cx="4" cy="249885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Text 37"/>
          <p:cNvSpPr txBox="1"/>
          <p:nvPr/>
        </p:nvSpPr>
        <p:spPr>
          <a:xfrm>
            <a:off x="368202" y="2072283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30" name="Text 38"/>
          <p:cNvSpPr txBox="1"/>
          <p:nvPr/>
        </p:nvSpPr>
        <p:spPr>
          <a:xfrm>
            <a:off x="368202" y="2164258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Great! May I start with your name?</a:t>
            </a:r>
          </a:p>
        </p:txBody>
      </p:sp>
      <p:sp>
        <p:nvSpPr>
          <p:cNvPr id="731" name="Text 39"/>
          <p:cNvSpPr/>
          <p:nvPr/>
        </p:nvSpPr>
        <p:spPr>
          <a:xfrm>
            <a:off x="276226" y="2315914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2" name="Shape 40"/>
          <p:cNvSpPr/>
          <p:nvPr/>
        </p:nvSpPr>
        <p:spPr>
          <a:xfrm>
            <a:off x="290513" y="2315914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" name="Text 41"/>
          <p:cNvSpPr txBox="1"/>
          <p:nvPr/>
        </p:nvSpPr>
        <p:spPr>
          <a:xfrm>
            <a:off x="368202" y="2341215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34" name="Text 42"/>
          <p:cNvSpPr txBox="1"/>
          <p:nvPr/>
        </p:nvSpPr>
        <p:spPr>
          <a:xfrm>
            <a:off x="368202" y="2433191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Chris Tanaka, Tokyo Commerce Co., chris@tokyocommerce.jp, +81-3-1234-5678</a:t>
            </a:r>
          </a:p>
        </p:txBody>
      </p:sp>
      <p:sp>
        <p:nvSpPr>
          <p:cNvPr id="735" name="Text 43"/>
          <p:cNvSpPr/>
          <p:nvPr/>
        </p:nvSpPr>
        <p:spPr>
          <a:xfrm>
            <a:off x="276226" y="2584847"/>
            <a:ext cx="4210051" cy="35719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6" name="Shape 44"/>
          <p:cNvSpPr/>
          <p:nvPr/>
        </p:nvSpPr>
        <p:spPr>
          <a:xfrm>
            <a:off x="290513" y="2584847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" name="Text 45"/>
          <p:cNvSpPr txBox="1"/>
          <p:nvPr/>
        </p:nvSpPr>
        <p:spPr>
          <a:xfrm>
            <a:off x="368202" y="2610148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38" name="Text 46"/>
          <p:cNvSpPr txBox="1"/>
          <p:nvPr/>
        </p:nvSpPr>
        <p:spPr>
          <a:xfrm>
            <a:off x="368202" y="2702123"/>
            <a:ext cx="4135771" cy="50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Thanks, Chris! Let me confirm your details: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Chris Tanaka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Tokyo Commerce Co.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c...</a:t>
            </a:r>
          </a:p>
        </p:txBody>
      </p:sp>
      <p:sp>
        <p:nvSpPr>
          <p:cNvPr id="739" name="Text 47"/>
          <p:cNvSpPr/>
          <p:nvPr/>
        </p:nvSpPr>
        <p:spPr>
          <a:xfrm>
            <a:off x="276226" y="2961083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0" name="Shape 48"/>
          <p:cNvSpPr/>
          <p:nvPr/>
        </p:nvSpPr>
        <p:spPr>
          <a:xfrm>
            <a:off x="290513" y="2961083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Text 49"/>
          <p:cNvSpPr txBox="1"/>
          <p:nvPr/>
        </p:nvSpPr>
        <p:spPr>
          <a:xfrm>
            <a:off x="368202" y="2986383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42" name="Text 50"/>
          <p:cNvSpPr txBox="1"/>
          <p:nvPr/>
        </p:nvSpPr>
        <p:spPr>
          <a:xfrm>
            <a:off x="368202" y="3078358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743" name="Text 51"/>
          <p:cNvSpPr/>
          <p:nvPr/>
        </p:nvSpPr>
        <p:spPr>
          <a:xfrm>
            <a:off x="276226" y="3230016"/>
            <a:ext cx="4210051" cy="35719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4" name="Shape 52"/>
          <p:cNvSpPr/>
          <p:nvPr/>
        </p:nvSpPr>
        <p:spPr>
          <a:xfrm>
            <a:off x="290513" y="3230016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" name="Text 53"/>
          <p:cNvSpPr txBox="1"/>
          <p:nvPr/>
        </p:nvSpPr>
        <p:spPr>
          <a:xfrm>
            <a:off x="368202" y="3255317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46" name="Text 54"/>
          <p:cNvSpPr txBox="1"/>
          <p:nvPr/>
        </p:nvSpPr>
        <p:spPr>
          <a:xfrm>
            <a:off x="368202" y="3347291"/>
            <a:ext cx="4135771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Chris! Your information has been saved.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WhatsApp integration — let me loo...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9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TC-B2 — High Volume Banking </a:t>
            </a:r>
            <a:r>
              <a:rPr b="1" sz="800"/>
              <a:t>PASS</a:t>
            </a:r>
          </a:p>
        </p:txBody>
      </p:sp>
      <p:sp>
        <p:nvSpPr>
          <p:cNvPr id="750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 / RAG</a:t>
            </a:r>
          </a:p>
        </p:txBody>
      </p:sp>
      <p:sp>
        <p:nvSpPr>
          <p:cNvPr id="751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2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Lead first → OCC/CXHub recommendation for 10k calls/day.</a:t>
            </a:r>
          </a:p>
        </p:txBody>
      </p:sp>
      <p:sp>
        <p:nvSpPr>
          <p:cNvPr id="753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4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5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56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are a bank. Can you handle high volume inbound calls? About 10,000 per day.</a:t>
            </a:r>
          </a:p>
        </p:txBody>
      </p:sp>
      <p:sp>
        <p:nvSpPr>
          <p:cNvPr id="757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58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60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That sounds like a great use case — CINNOX is built for high-volume contact centres! 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make sure I connect you with the right resources, may I start with you...</a:t>
            </a:r>
          </a:p>
        </p:txBody>
      </p:sp>
      <p:sp>
        <p:nvSpPr>
          <p:cNvPr id="761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2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64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 Wei, ShangBao Bank,li.wei@shangbao.com, +86-21-1234-5678</a:t>
            </a:r>
          </a:p>
        </p:txBody>
      </p:sp>
      <p:sp>
        <p:nvSpPr>
          <p:cNvPr id="765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6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68" name="Text 20"/>
          <p:cNvSpPr txBox="1"/>
          <p:nvPr/>
        </p:nvSpPr>
        <p:spPr>
          <a:xfrm>
            <a:off x="320576" y="1893984"/>
            <a:ext cx="8702052" cy="681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Li Wei! Let me confirm your details: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Li Wei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ShangBao Bank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li.wei@shangbao.com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+86-21-1234-567...</a:t>
            </a:r>
          </a:p>
        </p:txBody>
      </p:sp>
      <p:sp>
        <p:nvSpPr>
          <p:cNvPr id="769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70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72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773" name="Text 25"/>
          <p:cNvSpPr/>
          <p:nvPr/>
        </p:nvSpPr>
        <p:spPr>
          <a:xfrm>
            <a:off x="228600" y="2347615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74" name="Shape 26"/>
          <p:cNvSpPr/>
          <p:nvPr/>
        </p:nvSpPr>
        <p:spPr>
          <a:xfrm flipH="1">
            <a:off x="242888" y="2347615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76" name="Text 28"/>
          <p:cNvSpPr txBox="1"/>
          <p:nvPr/>
        </p:nvSpPr>
        <p:spPr>
          <a:xfrm>
            <a:off x="320576" y="246489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Li Wei! Your information has been saved.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handling high-volume inbound calls — let me look that up for you.Great q...</a:t>
            </a:r>
          </a:p>
        </p:txBody>
      </p:sp>
      <p:sp>
        <p:nvSpPr>
          <p:cNvPr id="777" name="Text 29"/>
          <p:cNvSpPr/>
          <p:nvPr/>
        </p:nvSpPr>
        <p:spPr>
          <a:xfrm>
            <a:off x="228600" y="263306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78" name="Shape 30"/>
          <p:cNvSpPr/>
          <p:nvPr/>
        </p:nvSpPr>
        <p:spPr>
          <a:xfrm flipH="1">
            <a:off x="242888" y="263306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80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do you route calls to the right agents?</a:t>
            </a:r>
          </a:p>
        </p:txBody>
      </p:sp>
      <p:sp>
        <p:nvSpPr>
          <p:cNvPr id="781" name="Text 33"/>
          <p:cNvSpPr/>
          <p:nvPr/>
        </p:nvSpPr>
        <p:spPr>
          <a:xfrm>
            <a:off x="228600" y="2918517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82" name="Shape 34"/>
          <p:cNvSpPr/>
          <p:nvPr/>
        </p:nvSpPr>
        <p:spPr>
          <a:xfrm flipH="1">
            <a:off x="242888" y="2918517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3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84" name="Text 36"/>
          <p:cNvSpPr txBox="1"/>
          <p:nvPr/>
        </p:nvSpPr>
        <p:spPr>
          <a:xfrm>
            <a:off x="320576" y="3035796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Great question, Li Wei. According to our product documentation, CINNOX offers several call routing options: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**Advanced Call System** — Routes inbound calls t...</a:t>
            </a:r>
          </a:p>
        </p:txBody>
      </p:sp>
      <p:sp>
        <p:nvSpPr>
          <p:cNvPr id="785" name="Text 37"/>
          <p:cNvSpPr/>
          <p:nvPr/>
        </p:nvSpPr>
        <p:spPr>
          <a:xfrm>
            <a:off x="228600" y="3203972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86" name="Shape 38"/>
          <p:cNvSpPr/>
          <p:nvPr/>
        </p:nvSpPr>
        <p:spPr>
          <a:xfrm flipH="1">
            <a:off x="242888" y="3203972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7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88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 you have IVR capabilities?</a:t>
            </a:r>
          </a:p>
        </p:txBody>
      </p:sp>
      <p:sp>
        <p:nvSpPr>
          <p:cNvPr id="789" name="Text 41"/>
          <p:cNvSpPr/>
          <p:nvPr/>
        </p:nvSpPr>
        <p:spPr>
          <a:xfrm>
            <a:off x="228600" y="3489423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90" name="Shape 42"/>
          <p:cNvSpPr/>
          <p:nvPr/>
        </p:nvSpPr>
        <p:spPr>
          <a:xfrm flipH="1">
            <a:off x="242888" y="3489423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792" name="Text 44"/>
          <p:cNvSpPr txBox="1"/>
          <p:nvPr/>
        </p:nvSpPr>
        <p:spPr>
          <a:xfrm>
            <a:off x="320576" y="360670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Yes, Li Wei — CINNOX does offer **IVR (Interactive Voice Response)**. According to our product documentation: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**Reduces workload** by handling simple and com...</a:t>
            </a:r>
          </a:p>
        </p:txBody>
      </p:sp>
      <p:sp>
        <p:nvSpPr>
          <p:cNvPr id="793" name="Text 45"/>
          <p:cNvSpPr/>
          <p:nvPr/>
        </p:nvSpPr>
        <p:spPr>
          <a:xfrm>
            <a:off x="228600" y="377487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94" name="Shape 46"/>
          <p:cNvSpPr/>
          <p:nvPr/>
        </p:nvSpPr>
        <p:spPr>
          <a:xfrm flipH="1">
            <a:off x="242888" y="377487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Text 47"/>
          <p:cNvSpPr txBox="1"/>
          <p:nvPr/>
        </p:nvSpPr>
        <p:spPr>
          <a:xfrm>
            <a:off x="320576" y="380017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796" name="Text 48"/>
          <p:cNvSpPr txBox="1"/>
          <p:nvPr/>
        </p:nvSpPr>
        <p:spPr>
          <a:xfrm>
            <a:off x="320576" y="389215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plan would you recommend for our size?</a:t>
            </a:r>
          </a:p>
        </p:txBody>
      </p:sp>
      <p:sp>
        <p:nvSpPr>
          <p:cNvPr id="797" name="Text 49"/>
          <p:cNvSpPr/>
          <p:nvPr/>
        </p:nvSpPr>
        <p:spPr>
          <a:xfrm>
            <a:off x="228600" y="406032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98" name="Shape 50"/>
          <p:cNvSpPr/>
          <p:nvPr/>
        </p:nvSpPr>
        <p:spPr>
          <a:xfrm flipH="1">
            <a:off x="242888" y="406032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Text 51"/>
          <p:cNvSpPr txBox="1"/>
          <p:nvPr/>
        </p:nvSpPr>
        <p:spPr>
          <a:xfrm>
            <a:off x="320576" y="408563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00" name="Text 52"/>
          <p:cNvSpPr txBox="1"/>
          <p:nvPr/>
        </p:nvSpPr>
        <p:spPr>
          <a:xfrm>
            <a:off x="320576" y="4177605"/>
            <a:ext cx="8702052" cy="567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Based on our pricing documentation, CINNOX offers these plans: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Plan | Best For | Key Capabilities 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|---|---|---|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**Basic Contact Center (BCC)** | Simple c...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03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TC-B3 — Non-Existent Feature </a:t>
            </a:r>
            <a:r>
              <a:rPr b="1" sz="800"/>
              <a:t>PASS</a:t>
            </a:r>
            <a:r>
              <a:t> </a:t>
            </a:r>
            <a:r>
              <a:rPr b="1" sz="700"/>
              <a:t>CRITICAL</a:t>
            </a:r>
          </a:p>
        </p:txBody>
      </p:sp>
      <p:sp>
        <p:nvSpPr>
          <p:cNvPr id="804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 / RAG</a:t>
            </a:r>
          </a:p>
        </p:txBody>
      </p:sp>
      <p:sp>
        <p:nvSpPr>
          <p:cNvPr id="805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06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Anti-hallucination: hologram denied firmly, maintained under pressure, zero fabrication.</a:t>
            </a:r>
          </a:p>
        </p:txBody>
      </p:sp>
      <p:sp>
        <p:nvSpPr>
          <p:cNvPr id="807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08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9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10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 you support hologram video calling? We saw it at a trade show.</a:t>
            </a:r>
          </a:p>
        </p:txBody>
      </p:sp>
      <p:sp>
        <p:nvSpPr>
          <p:cNvPr id="811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12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3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14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customer, or are you new to us?</a:t>
            </a:r>
          </a:p>
        </p:txBody>
      </p:sp>
      <p:sp>
        <p:nvSpPr>
          <p:cNvPr id="815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16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7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18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are new</a:t>
            </a:r>
          </a:p>
        </p:txBody>
      </p:sp>
      <p:sp>
        <p:nvSpPr>
          <p:cNvPr id="819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20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22" name="Text 20"/>
          <p:cNvSpPr txBox="1"/>
          <p:nvPr/>
        </p:nvSpPr>
        <p:spPr>
          <a:xfrm>
            <a:off x="320576" y="189398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Great! May I start with your name?</a:t>
            </a:r>
          </a:p>
        </p:txBody>
      </p:sp>
      <p:sp>
        <p:nvSpPr>
          <p:cNvPr id="823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24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5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26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Alex Kim, FutureMedia Corp, alex.kim@futuremedia.com, +1-415-555-0199</a:t>
            </a:r>
          </a:p>
        </p:txBody>
      </p:sp>
      <p:sp>
        <p:nvSpPr>
          <p:cNvPr id="827" name="Text 25"/>
          <p:cNvSpPr/>
          <p:nvPr/>
        </p:nvSpPr>
        <p:spPr>
          <a:xfrm>
            <a:off x="228600" y="2347615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28" name="Shape 26"/>
          <p:cNvSpPr/>
          <p:nvPr/>
        </p:nvSpPr>
        <p:spPr>
          <a:xfrm flipH="1">
            <a:off x="242888" y="2347615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9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30" name="Text 28"/>
          <p:cNvSpPr txBox="1"/>
          <p:nvPr/>
        </p:nvSpPr>
        <p:spPr>
          <a:xfrm>
            <a:off x="320576" y="2464891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Let me confirm your details: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Alex Kim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FutureMedia Corp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alex.kim@futuremedia.com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+1-415-555-0199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c...</a:t>
            </a:r>
          </a:p>
        </p:txBody>
      </p:sp>
      <p:sp>
        <p:nvSpPr>
          <p:cNvPr id="831" name="Text 29"/>
          <p:cNvSpPr/>
          <p:nvPr/>
        </p:nvSpPr>
        <p:spPr>
          <a:xfrm>
            <a:off x="228600" y="263306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32" name="Shape 30"/>
          <p:cNvSpPr/>
          <p:nvPr/>
        </p:nvSpPr>
        <p:spPr>
          <a:xfrm flipH="1">
            <a:off x="242888" y="263306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34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835" name="Text 33"/>
          <p:cNvSpPr/>
          <p:nvPr/>
        </p:nvSpPr>
        <p:spPr>
          <a:xfrm>
            <a:off x="228600" y="2918517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36" name="Shape 34"/>
          <p:cNvSpPr/>
          <p:nvPr/>
        </p:nvSpPr>
        <p:spPr>
          <a:xfrm flipH="1">
            <a:off x="242888" y="2918517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38" name="Text 36"/>
          <p:cNvSpPr txBox="1"/>
          <p:nvPr/>
        </p:nvSpPr>
        <p:spPr>
          <a:xfrm>
            <a:off x="320576" y="3035796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Alex! Your information has been saved.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hologram video calling — let me look that up for you.Hologram video callin...</a:t>
            </a:r>
          </a:p>
        </p:txBody>
      </p:sp>
      <p:sp>
        <p:nvSpPr>
          <p:cNvPr id="839" name="Text 37"/>
          <p:cNvSpPr/>
          <p:nvPr/>
        </p:nvSpPr>
        <p:spPr>
          <a:xfrm>
            <a:off x="228600" y="3203972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40" name="Shape 38"/>
          <p:cNvSpPr/>
          <p:nvPr/>
        </p:nvSpPr>
        <p:spPr>
          <a:xfrm flipH="1">
            <a:off x="242888" y="3203972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42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Are you sure? We specifically saw the CINNOX name on the booth.</a:t>
            </a:r>
          </a:p>
        </p:txBody>
      </p:sp>
      <p:sp>
        <p:nvSpPr>
          <p:cNvPr id="843" name="Text 41"/>
          <p:cNvSpPr/>
          <p:nvPr/>
        </p:nvSpPr>
        <p:spPr>
          <a:xfrm>
            <a:off x="228600" y="3489423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44" name="Shape 42"/>
          <p:cNvSpPr/>
          <p:nvPr/>
        </p:nvSpPr>
        <p:spPr>
          <a:xfrm flipH="1">
            <a:off x="242888" y="3489423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5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46" name="Text 44"/>
          <p:cNvSpPr txBox="1"/>
          <p:nvPr/>
        </p:nvSpPr>
        <p:spPr>
          <a:xfrm>
            <a:off x="320576" y="360670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understand you saw something at a trade show, and I appreciate you bringing it up! However, based on our current product documentation, hologram video calli...</a:t>
            </a:r>
          </a:p>
        </p:txBody>
      </p:sp>
      <p:sp>
        <p:nvSpPr>
          <p:cNvPr id="847" name="Text 45"/>
          <p:cNvSpPr/>
          <p:nvPr/>
        </p:nvSpPr>
        <p:spPr>
          <a:xfrm>
            <a:off x="228600" y="377487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48" name="Shape 46"/>
          <p:cNvSpPr/>
          <p:nvPr/>
        </p:nvSpPr>
        <p:spPr>
          <a:xfrm flipH="1">
            <a:off x="242888" y="377487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 47"/>
          <p:cNvSpPr txBox="1"/>
          <p:nvPr/>
        </p:nvSpPr>
        <p:spPr>
          <a:xfrm>
            <a:off x="320576" y="380017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50" name="Text 48"/>
          <p:cNvSpPr txBox="1"/>
          <p:nvPr/>
        </p:nvSpPr>
        <p:spPr>
          <a:xfrm>
            <a:off x="320576" y="389215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video features do you actually support?</a:t>
            </a:r>
          </a:p>
        </p:txBody>
      </p:sp>
      <p:sp>
        <p:nvSpPr>
          <p:cNvPr id="851" name="Text 49"/>
          <p:cNvSpPr/>
          <p:nvPr/>
        </p:nvSpPr>
        <p:spPr>
          <a:xfrm>
            <a:off x="228600" y="406032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52" name="Shape 50"/>
          <p:cNvSpPr/>
          <p:nvPr/>
        </p:nvSpPr>
        <p:spPr>
          <a:xfrm flipH="1">
            <a:off x="242888" y="406032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Text 51"/>
          <p:cNvSpPr txBox="1"/>
          <p:nvPr/>
        </p:nvSpPr>
        <p:spPr>
          <a:xfrm>
            <a:off x="320576" y="408563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54" name="Text 52"/>
          <p:cNvSpPr txBox="1"/>
          <p:nvPr/>
        </p:nvSpPr>
        <p:spPr>
          <a:xfrm>
            <a:off x="320576" y="4177605"/>
            <a:ext cx="8702052" cy="453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According to our product documentation, CINNOX supports these video-related features: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**Video Calling** — 1-to-1 video calls with customers and team members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57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TC-C1 — DID Number Price </a:t>
            </a:r>
            <a:r>
              <a:rPr b="1" sz="800"/>
              <a:t>PASS</a:t>
            </a:r>
          </a:p>
        </p:txBody>
      </p:sp>
      <p:sp>
        <p:nvSpPr>
          <p:cNvPr id="858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Pricing</a:t>
            </a:r>
          </a:p>
        </p:txBody>
      </p:sp>
      <p:sp>
        <p:nvSpPr>
          <p:cNvPr id="859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0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DID not in KB → correctly deferred to sales. Setup/KYC follow-ups answered.</a:t>
            </a:r>
          </a:p>
        </p:txBody>
      </p:sp>
      <p:sp>
        <p:nvSpPr>
          <p:cNvPr id="861" name="Text 5"/>
          <p:cNvSpPr/>
          <p:nvPr/>
        </p:nvSpPr>
        <p:spPr>
          <a:xfrm>
            <a:off x="228600" y="920353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2" name="Shape 6"/>
          <p:cNvSpPr/>
          <p:nvPr/>
        </p:nvSpPr>
        <p:spPr>
          <a:xfrm flipH="1">
            <a:off x="242888" y="920353"/>
            <a:ext cx="4" cy="25479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64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ow much is a US DID number per month?</a:t>
            </a:r>
          </a:p>
        </p:txBody>
      </p:sp>
      <p:sp>
        <p:nvSpPr>
          <p:cNvPr id="865" name="Text 9"/>
          <p:cNvSpPr/>
          <p:nvPr/>
        </p:nvSpPr>
        <p:spPr>
          <a:xfrm>
            <a:off x="228600" y="1194195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6" name="Shape 10"/>
          <p:cNvSpPr/>
          <p:nvPr/>
        </p:nvSpPr>
        <p:spPr>
          <a:xfrm flipH="1">
            <a:off x="242888" y="1194195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Text 11"/>
          <p:cNvSpPr txBox="1"/>
          <p:nvPr/>
        </p:nvSpPr>
        <p:spPr>
          <a:xfrm>
            <a:off x="320576" y="121949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68" name="Text 12"/>
          <p:cNvSpPr txBox="1"/>
          <p:nvPr/>
        </p:nvSpPr>
        <p:spPr>
          <a:xfrm>
            <a:off x="320576" y="131147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customer, or are you new to us?</a:t>
            </a:r>
          </a:p>
        </p:txBody>
      </p:sp>
      <p:sp>
        <p:nvSpPr>
          <p:cNvPr id="869" name="Text 13"/>
          <p:cNvSpPr/>
          <p:nvPr/>
        </p:nvSpPr>
        <p:spPr>
          <a:xfrm>
            <a:off x="228600" y="1468041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0" name="Shape 14"/>
          <p:cNvSpPr/>
          <p:nvPr/>
        </p:nvSpPr>
        <p:spPr>
          <a:xfrm flipH="1">
            <a:off x="242888" y="1468040"/>
            <a:ext cx="4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1" name="Text 15"/>
          <p:cNvSpPr txBox="1"/>
          <p:nvPr/>
        </p:nvSpPr>
        <p:spPr>
          <a:xfrm>
            <a:off x="320576" y="149334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72" name="Text 16"/>
          <p:cNvSpPr txBox="1"/>
          <p:nvPr/>
        </p:nvSpPr>
        <p:spPr>
          <a:xfrm>
            <a:off x="320576" y="15853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</a:t>
            </a:r>
          </a:p>
        </p:txBody>
      </p:sp>
      <p:sp>
        <p:nvSpPr>
          <p:cNvPr id="873" name="Text 17"/>
          <p:cNvSpPr/>
          <p:nvPr/>
        </p:nvSpPr>
        <p:spPr>
          <a:xfrm>
            <a:off x="228600" y="1741883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4" name="Shape 18"/>
          <p:cNvSpPr/>
          <p:nvPr/>
        </p:nvSpPr>
        <p:spPr>
          <a:xfrm flipH="1">
            <a:off x="242888" y="1741883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 19"/>
          <p:cNvSpPr txBox="1"/>
          <p:nvPr/>
        </p:nvSpPr>
        <p:spPr>
          <a:xfrm>
            <a:off x="320576" y="176718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76" name="Text 20"/>
          <p:cNvSpPr txBox="1"/>
          <p:nvPr/>
        </p:nvSpPr>
        <p:spPr>
          <a:xfrm>
            <a:off x="320576" y="18591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Great! May I start with your name?</a:t>
            </a:r>
          </a:p>
        </p:txBody>
      </p:sp>
      <p:sp>
        <p:nvSpPr>
          <p:cNvPr id="877" name="Text 21"/>
          <p:cNvSpPr/>
          <p:nvPr/>
        </p:nvSpPr>
        <p:spPr>
          <a:xfrm>
            <a:off x="228600" y="2015725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8" name="Shape 22"/>
          <p:cNvSpPr/>
          <p:nvPr/>
        </p:nvSpPr>
        <p:spPr>
          <a:xfrm flipH="1">
            <a:off x="242888" y="2015725"/>
            <a:ext cx="4" cy="25479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9" name="Text 23"/>
          <p:cNvSpPr txBox="1"/>
          <p:nvPr/>
        </p:nvSpPr>
        <p:spPr>
          <a:xfrm>
            <a:off x="320576" y="204102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80" name="Text 24"/>
          <p:cNvSpPr txBox="1"/>
          <p:nvPr/>
        </p:nvSpPr>
        <p:spPr>
          <a:xfrm>
            <a:off x="320576" y="213300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Kevin Han， Seoul Commerce Inc.， kevin.han@seoulcommerce.kr， +82-2-1234-5678</a:t>
            </a:r>
          </a:p>
        </p:txBody>
      </p:sp>
      <p:sp>
        <p:nvSpPr>
          <p:cNvPr id="881" name="Text 25"/>
          <p:cNvSpPr/>
          <p:nvPr/>
        </p:nvSpPr>
        <p:spPr>
          <a:xfrm>
            <a:off x="228600" y="2289572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2" name="Shape 26"/>
          <p:cNvSpPr/>
          <p:nvPr/>
        </p:nvSpPr>
        <p:spPr>
          <a:xfrm flipH="1">
            <a:off x="242888" y="2289572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3" name="Text 27"/>
          <p:cNvSpPr txBox="1"/>
          <p:nvPr/>
        </p:nvSpPr>
        <p:spPr>
          <a:xfrm>
            <a:off x="320576" y="23148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84" name="Text 28"/>
          <p:cNvSpPr txBox="1"/>
          <p:nvPr/>
        </p:nvSpPr>
        <p:spPr>
          <a:xfrm>
            <a:off x="320576" y="2406848"/>
            <a:ext cx="8702052" cy="808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Let me confirm your details: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Kevin Han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Seoul Commerce Inc.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kevin.han@seoulcommerce.kr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+82-2-1234-5678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...</a:t>
            </a:r>
          </a:p>
        </p:txBody>
      </p:sp>
      <p:sp>
        <p:nvSpPr>
          <p:cNvPr id="885" name="Text 29"/>
          <p:cNvSpPr/>
          <p:nvPr/>
        </p:nvSpPr>
        <p:spPr>
          <a:xfrm>
            <a:off x="228600" y="2563416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6" name="Shape 30"/>
          <p:cNvSpPr/>
          <p:nvPr/>
        </p:nvSpPr>
        <p:spPr>
          <a:xfrm flipH="1">
            <a:off x="242888" y="2563416"/>
            <a:ext cx="4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7" name="Text 31"/>
          <p:cNvSpPr txBox="1"/>
          <p:nvPr/>
        </p:nvSpPr>
        <p:spPr>
          <a:xfrm>
            <a:off x="320576" y="25887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88" name="Text 32"/>
          <p:cNvSpPr txBox="1"/>
          <p:nvPr/>
        </p:nvSpPr>
        <p:spPr>
          <a:xfrm>
            <a:off x="320576" y="26806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889" name="Text 33"/>
          <p:cNvSpPr/>
          <p:nvPr/>
        </p:nvSpPr>
        <p:spPr>
          <a:xfrm>
            <a:off x="228600" y="2837258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0" name="Shape 34"/>
          <p:cNvSpPr/>
          <p:nvPr/>
        </p:nvSpPr>
        <p:spPr>
          <a:xfrm flipH="1">
            <a:off x="242888" y="2837258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Text 35"/>
          <p:cNvSpPr txBox="1"/>
          <p:nvPr/>
        </p:nvSpPr>
        <p:spPr>
          <a:xfrm>
            <a:off x="320576" y="2862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892" name="Text 36"/>
          <p:cNvSpPr txBox="1"/>
          <p:nvPr/>
        </p:nvSpPr>
        <p:spPr>
          <a:xfrm>
            <a:off x="320576" y="2954533"/>
            <a:ext cx="870205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Kevin! Your information has been saved.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US DID number pricing — let me look that up for you.Kevin, according to o...</a:t>
            </a:r>
          </a:p>
        </p:txBody>
      </p:sp>
      <p:sp>
        <p:nvSpPr>
          <p:cNvPr id="893" name="Text 37"/>
          <p:cNvSpPr/>
          <p:nvPr/>
        </p:nvSpPr>
        <p:spPr>
          <a:xfrm>
            <a:off x="228600" y="3111100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4" name="Shape 38"/>
          <p:cNvSpPr/>
          <p:nvPr/>
        </p:nvSpPr>
        <p:spPr>
          <a:xfrm flipH="1">
            <a:off x="242888" y="3111100"/>
            <a:ext cx="4" cy="25479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Text 39"/>
          <p:cNvSpPr txBox="1"/>
          <p:nvPr/>
        </p:nvSpPr>
        <p:spPr>
          <a:xfrm>
            <a:off x="320576" y="313640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896" name="Text 40"/>
          <p:cNvSpPr txBox="1"/>
          <p:nvPr/>
        </p:nvSpPr>
        <p:spPr>
          <a:xfrm>
            <a:off x="320576" y="322838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 there a setup fee?</a:t>
            </a:r>
          </a:p>
        </p:txBody>
      </p:sp>
      <p:sp>
        <p:nvSpPr>
          <p:cNvPr id="897" name="Text 41"/>
          <p:cNvSpPr/>
          <p:nvPr/>
        </p:nvSpPr>
        <p:spPr>
          <a:xfrm>
            <a:off x="228600" y="3384946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8" name="Shape 42"/>
          <p:cNvSpPr/>
          <p:nvPr/>
        </p:nvSpPr>
        <p:spPr>
          <a:xfrm flipH="1">
            <a:off x="242888" y="3384946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9" name="Text 43"/>
          <p:cNvSpPr txBox="1"/>
          <p:nvPr/>
        </p:nvSpPr>
        <p:spPr>
          <a:xfrm>
            <a:off x="320576" y="3410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00" name="Text 44"/>
          <p:cNvSpPr txBox="1"/>
          <p:nvPr/>
        </p:nvSpPr>
        <p:spPr>
          <a:xfrm>
            <a:off x="320576" y="3502223"/>
            <a:ext cx="870205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Good question, Kevin! According to our pricing documentation: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**Professional Onboarding Training (On-site):** One-time fee of **US$4,000 per session** — this...</a:t>
            </a:r>
          </a:p>
        </p:txBody>
      </p:sp>
      <p:sp>
        <p:nvSpPr>
          <p:cNvPr id="901" name="Text 45"/>
          <p:cNvSpPr/>
          <p:nvPr/>
        </p:nvSpPr>
        <p:spPr>
          <a:xfrm>
            <a:off x="228600" y="3658791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2" name="Shape 46"/>
          <p:cNvSpPr/>
          <p:nvPr/>
        </p:nvSpPr>
        <p:spPr>
          <a:xfrm flipH="1">
            <a:off x="242888" y="3658789"/>
            <a:ext cx="4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Text 47"/>
          <p:cNvSpPr txBox="1"/>
          <p:nvPr/>
        </p:nvSpPr>
        <p:spPr>
          <a:xfrm>
            <a:off x="320576" y="36840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04" name="Text 48"/>
          <p:cNvSpPr txBox="1"/>
          <p:nvPr/>
        </p:nvSpPr>
        <p:spPr>
          <a:xfrm>
            <a:off x="320576" y="377606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 we need to verify anything to get a number?</a:t>
            </a:r>
          </a:p>
        </p:txBody>
      </p:sp>
      <p:sp>
        <p:nvSpPr>
          <p:cNvPr id="905" name="Text 49"/>
          <p:cNvSpPr/>
          <p:nvPr/>
        </p:nvSpPr>
        <p:spPr>
          <a:xfrm>
            <a:off x="228600" y="3932632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6" name="Shape 50"/>
          <p:cNvSpPr/>
          <p:nvPr/>
        </p:nvSpPr>
        <p:spPr>
          <a:xfrm flipH="1">
            <a:off x="242888" y="3932632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Text 51"/>
          <p:cNvSpPr txBox="1"/>
          <p:nvPr/>
        </p:nvSpPr>
        <p:spPr>
          <a:xfrm>
            <a:off x="320576" y="395793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08" name="Text 52"/>
          <p:cNvSpPr txBox="1"/>
          <p:nvPr/>
        </p:nvSpPr>
        <p:spPr>
          <a:xfrm>
            <a:off x="320576" y="404991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Yes! According to our pricing documentation, **KYC (Know Your Customer) verification is required** for all virtual numbers — including TF, DID, and Two-way Voic...</a:t>
            </a:r>
          </a:p>
        </p:txBody>
      </p:sp>
      <p:sp>
        <p:nvSpPr>
          <p:cNvPr id="909" name="Text 53"/>
          <p:cNvSpPr/>
          <p:nvPr/>
        </p:nvSpPr>
        <p:spPr>
          <a:xfrm>
            <a:off x="228600" y="4206478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0" name="Shape 54"/>
          <p:cNvSpPr/>
          <p:nvPr/>
        </p:nvSpPr>
        <p:spPr>
          <a:xfrm flipH="1">
            <a:off x="242888" y="4206478"/>
            <a:ext cx="4" cy="25479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Text 55"/>
          <p:cNvSpPr txBox="1"/>
          <p:nvPr/>
        </p:nvSpPr>
        <p:spPr>
          <a:xfrm>
            <a:off x="320576" y="423177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12" name="Text 56"/>
          <p:cNvSpPr txBox="1"/>
          <p:nvPr/>
        </p:nvSpPr>
        <p:spPr>
          <a:xfrm>
            <a:off x="320576" y="432375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Which plan do we need to be on to use DID numbers?</a:t>
            </a:r>
          </a:p>
        </p:txBody>
      </p:sp>
      <p:sp>
        <p:nvSpPr>
          <p:cNvPr id="913" name="Text 57"/>
          <p:cNvSpPr/>
          <p:nvPr/>
        </p:nvSpPr>
        <p:spPr>
          <a:xfrm>
            <a:off x="228600" y="4480321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4" name="Shape 58"/>
          <p:cNvSpPr/>
          <p:nvPr/>
        </p:nvSpPr>
        <p:spPr>
          <a:xfrm flipH="1">
            <a:off x="242888" y="4480321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Text 59"/>
          <p:cNvSpPr txBox="1"/>
          <p:nvPr/>
        </p:nvSpPr>
        <p:spPr>
          <a:xfrm>
            <a:off x="320576" y="450562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16" name="Text 60"/>
          <p:cNvSpPr txBox="1"/>
          <p:nvPr/>
        </p:nvSpPr>
        <p:spPr>
          <a:xfrm>
            <a:off x="320576" y="4597598"/>
            <a:ext cx="8702052" cy="50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According to our pricing documentation, DID numbers are available as an **add-on** across CINNOX packages: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Package | DID Number Availability |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|---|---|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**...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19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TC-C2 — Volume Pricing (50 Agents) </a:t>
            </a:r>
            <a:r>
              <a:rPr b="1" sz="800"/>
              <a:t>PASS</a:t>
            </a:r>
          </a:p>
        </p:txBody>
      </p:sp>
      <p:sp>
        <p:nvSpPr>
          <p:cNvPr id="920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Pricing</a:t>
            </a:r>
          </a:p>
        </p:txBody>
      </p:sp>
      <p:sp>
        <p:nvSpPr>
          <p:cNvPr id="921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2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total price fabricated. Custom enterprise quote → routed to sales.</a:t>
            </a:r>
          </a:p>
        </p:txBody>
      </p:sp>
      <p:sp>
        <p:nvSpPr>
          <p:cNvPr id="923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4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26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your pricing for 50 agents?</a:t>
            </a:r>
          </a:p>
        </p:txBody>
      </p:sp>
      <p:sp>
        <p:nvSpPr>
          <p:cNvPr id="927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8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30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pricing for 50 agents! To make sure I connect you with the right resources — are you an existing CINNOX customer, or are you new to us?</a:t>
            </a:r>
          </a:p>
        </p:txBody>
      </p:sp>
      <p:sp>
        <p:nvSpPr>
          <p:cNvPr id="931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2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34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are new, Fatima Al-Rashid</a:t>
            </a:r>
          </a:p>
        </p:txBody>
      </p:sp>
      <p:sp>
        <p:nvSpPr>
          <p:cNvPr id="935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6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38" name="Text 20"/>
          <p:cNvSpPr txBox="1"/>
          <p:nvPr/>
        </p:nvSpPr>
        <p:spPr>
          <a:xfrm>
            <a:off x="320576" y="189398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Nice to meet you, Fatima! And what's your company name?</a:t>
            </a:r>
          </a:p>
        </p:txBody>
      </p:sp>
      <p:sp>
        <p:nvSpPr>
          <p:cNvPr id="939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0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42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Dubai Commerce Group, fatima@dubaicommerce.ae, +971-4-1234-5678</a:t>
            </a:r>
          </a:p>
        </p:txBody>
      </p:sp>
      <p:sp>
        <p:nvSpPr>
          <p:cNvPr id="943" name="Text 25"/>
          <p:cNvSpPr/>
          <p:nvPr/>
        </p:nvSpPr>
        <p:spPr>
          <a:xfrm>
            <a:off x="228600" y="2347615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4" name="Shape 26"/>
          <p:cNvSpPr/>
          <p:nvPr/>
        </p:nvSpPr>
        <p:spPr>
          <a:xfrm flipH="1">
            <a:off x="242888" y="2347615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46" name="Text 28"/>
          <p:cNvSpPr txBox="1"/>
          <p:nvPr/>
        </p:nvSpPr>
        <p:spPr>
          <a:xfrm>
            <a:off x="320576" y="2464891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Fatima! Let me confirm your details: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Fatima Al-Rashid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Dubai Commerce Group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fatima@dubaicommerce.ae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+971-4-1234-5678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correct?</a:t>
            </a:r>
          </a:p>
        </p:txBody>
      </p:sp>
      <p:sp>
        <p:nvSpPr>
          <p:cNvPr id="947" name="Text 29"/>
          <p:cNvSpPr/>
          <p:nvPr/>
        </p:nvSpPr>
        <p:spPr>
          <a:xfrm>
            <a:off x="228600" y="2756891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8" name="Shape 30"/>
          <p:cNvSpPr/>
          <p:nvPr/>
        </p:nvSpPr>
        <p:spPr>
          <a:xfrm flipH="1">
            <a:off x="242888" y="2756891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9" name="Text 31"/>
          <p:cNvSpPr txBox="1"/>
          <p:nvPr/>
        </p:nvSpPr>
        <p:spPr>
          <a:xfrm>
            <a:off x="320576" y="27821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50" name="Text 32"/>
          <p:cNvSpPr txBox="1"/>
          <p:nvPr/>
        </p:nvSpPr>
        <p:spPr>
          <a:xfrm>
            <a:off x="320576" y="287416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951" name="Text 33"/>
          <p:cNvSpPr/>
          <p:nvPr/>
        </p:nvSpPr>
        <p:spPr>
          <a:xfrm>
            <a:off x="228600" y="3042342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2" name="Shape 34"/>
          <p:cNvSpPr/>
          <p:nvPr/>
        </p:nvSpPr>
        <p:spPr>
          <a:xfrm flipH="1">
            <a:off x="242888" y="3042342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Text 35"/>
          <p:cNvSpPr txBox="1"/>
          <p:nvPr/>
        </p:nvSpPr>
        <p:spPr>
          <a:xfrm>
            <a:off x="320576" y="30676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54" name="Text 36"/>
          <p:cNvSpPr txBox="1"/>
          <p:nvPr/>
        </p:nvSpPr>
        <p:spPr>
          <a:xfrm>
            <a:off x="320576" y="315962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Fatima! Your information has been saved.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pricing for 50 agents — let me look that up for you.Based on our pricing documentation, CINNOX offers several plans that could fit y...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7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TC-C3 — Incorrect Price Correction </a:t>
            </a:r>
            <a:r>
              <a:rPr b="1" sz="800"/>
              <a:t>PASS</a:t>
            </a:r>
          </a:p>
        </p:txBody>
      </p:sp>
      <p:sp>
        <p:nvSpPr>
          <p:cNvPr id="958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Pricing</a:t>
            </a:r>
          </a:p>
        </p:txBody>
      </p:sp>
      <p:sp>
        <p:nvSpPr>
          <p:cNvPr id="959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60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Corrected $5/min firmly. Maintained under "industry standard" pressure. Actual pricing table provided.</a:t>
            </a:r>
          </a:p>
        </p:txBody>
      </p:sp>
      <p:sp>
        <p:nvSpPr>
          <p:cNvPr id="961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62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64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Hi, I'm interested in CINNOX.</a:t>
            </a:r>
          </a:p>
        </p:txBody>
      </p:sp>
      <p:sp>
        <p:nvSpPr>
          <p:cNvPr id="965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66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68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Hi there! Welcome to CINNOX — great to have you here! 😊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make sure I can best assist you, may I start with your name?</a:t>
            </a:r>
          </a:p>
        </p:txBody>
      </p:sp>
      <p:sp>
        <p:nvSpPr>
          <p:cNvPr id="969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70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72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Marco Rossi, Roma Digital SRL , marco@romadigital.it, +39-06-1234-5678</a:t>
            </a:r>
          </a:p>
        </p:txBody>
      </p:sp>
      <p:sp>
        <p:nvSpPr>
          <p:cNvPr id="973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74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76" name="Text 20"/>
          <p:cNvSpPr txBox="1"/>
          <p:nvPr/>
        </p:nvSpPr>
        <p:spPr>
          <a:xfrm>
            <a:off x="320576" y="1893984"/>
            <a:ext cx="8702052" cy="681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Thanks, Marco! Let me confirm your details: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Marco Rossi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Roma Digital SRL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marco@romadigital.it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+39-06-1234-...</a:t>
            </a:r>
          </a:p>
        </p:txBody>
      </p:sp>
      <p:sp>
        <p:nvSpPr>
          <p:cNvPr id="977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78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9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80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981" name="Text 25"/>
          <p:cNvSpPr/>
          <p:nvPr/>
        </p:nvSpPr>
        <p:spPr>
          <a:xfrm>
            <a:off x="228600" y="2347615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82" name="Shape 26"/>
          <p:cNvSpPr/>
          <p:nvPr/>
        </p:nvSpPr>
        <p:spPr>
          <a:xfrm flipH="1">
            <a:off x="242888" y="2347615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84" name="Text 28"/>
          <p:cNvSpPr txBox="1"/>
          <p:nvPr/>
        </p:nvSpPr>
        <p:spPr>
          <a:xfrm>
            <a:off x="320576" y="246489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Marco! Your information has been saved.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what would you like to know about CINNOX? I'm happy to help with features, pricing, integrations — what...</a:t>
            </a:r>
          </a:p>
        </p:txBody>
      </p:sp>
      <p:sp>
        <p:nvSpPr>
          <p:cNvPr id="985" name="Text 29"/>
          <p:cNvSpPr/>
          <p:nvPr/>
        </p:nvSpPr>
        <p:spPr>
          <a:xfrm>
            <a:off x="228600" y="263306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86" name="Shape 30"/>
          <p:cNvSpPr/>
          <p:nvPr/>
        </p:nvSpPr>
        <p:spPr>
          <a:xfrm flipH="1">
            <a:off x="242888" y="263306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88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heard the price is $5 USD per minute for agents, is that right?</a:t>
            </a:r>
          </a:p>
        </p:txBody>
      </p:sp>
      <p:sp>
        <p:nvSpPr>
          <p:cNvPr id="989" name="Text 33"/>
          <p:cNvSpPr/>
          <p:nvPr/>
        </p:nvSpPr>
        <p:spPr>
          <a:xfrm>
            <a:off x="228600" y="2918517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90" name="Shape 34"/>
          <p:cNvSpPr/>
          <p:nvPr/>
        </p:nvSpPr>
        <p:spPr>
          <a:xfrm flipH="1">
            <a:off x="242888" y="2918517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992" name="Text 36"/>
          <p:cNvSpPr txBox="1"/>
          <p:nvPr/>
        </p:nvSpPr>
        <p:spPr>
          <a:xfrm>
            <a:off x="320576" y="303579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Actually, Marco, that doesn't match our published pricing. Based on our pricing documentation, CINNOX charges are structured as **license fees** (per account, b...</a:t>
            </a:r>
          </a:p>
        </p:txBody>
      </p:sp>
      <p:sp>
        <p:nvSpPr>
          <p:cNvPr id="993" name="Text 37"/>
          <p:cNvSpPr/>
          <p:nvPr/>
        </p:nvSpPr>
        <p:spPr>
          <a:xfrm>
            <a:off x="228600" y="3203972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94" name="Shape 38"/>
          <p:cNvSpPr/>
          <p:nvPr/>
        </p:nvSpPr>
        <p:spPr>
          <a:xfrm flipH="1">
            <a:off x="242888" y="3203972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996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Really? A competitor told us that was the industry standard.</a:t>
            </a:r>
          </a:p>
        </p:txBody>
      </p:sp>
      <p:sp>
        <p:nvSpPr>
          <p:cNvPr id="997" name="Text 41"/>
          <p:cNvSpPr/>
          <p:nvPr/>
        </p:nvSpPr>
        <p:spPr>
          <a:xfrm>
            <a:off x="228600" y="3489423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98" name="Shape 42"/>
          <p:cNvSpPr/>
          <p:nvPr/>
        </p:nvSpPr>
        <p:spPr>
          <a:xfrm flipH="1">
            <a:off x="242888" y="3489423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9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00" name="Text 44"/>
          <p:cNvSpPr txBox="1"/>
          <p:nvPr/>
        </p:nvSpPr>
        <p:spPr>
          <a:xfrm>
            <a:off x="320576" y="360670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That's not accurate, Marco. Based on our pricing documentation, CINNOX rates are significantly lower than $5/minute — some usage fees start as low as **$0.01 ...</a:t>
            </a:r>
          </a:p>
        </p:txBody>
      </p:sp>
      <p:sp>
        <p:nvSpPr>
          <p:cNvPr id="1001" name="Text 45"/>
          <p:cNvSpPr/>
          <p:nvPr/>
        </p:nvSpPr>
        <p:spPr>
          <a:xfrm>
            <a:off x="228600" y="377487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02" name="Shape 46"/>
          <p:cNvSpPr/>
          <p:nvPr/>
        </p:nvSpPr>
        <p:spPr>
          <a:xfrm flipH="1">
            <a:off x="242888" y="377487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Text 47"/>
          <p:cNvSpPr txBox="1"/>
          <p:nvPr/>
        </p:nvSpPr>
        <p:spPr>
          <a:xfrm>
            <a:off x="320576" y="380017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04" name="Text 48"/>
          <p:cNvSpPr txBox="1"/>
          <p:nvPr/>
        </p:nvSpPr>
        <p:spPr>
          <a:xfrm>
            <a:off x="320576" y="389215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 what IS the correct pricing then?</a:t>
            </a:r>
          </a:p>
        </p:txBody>
      </p:sp>
      <p:sp>
        <p:nvSpPr>
          <p:cNvPr id="1005" name="Text 49"/>
          <p:cNvSpPr/>
          <p:nvPr/>
        </p:nvSpPr>
        <p:spPr>
          <a:xfrm>
            <a:off x="228600" y="406032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06" name="Shape 50"/>
          <p:cNvSpPr/>
          <p:nvPr/>
        </p:nvSpPr>
        <p:spPr>
          <a:xfrm flipH="1">
            <a:off x="242888" y="406032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Text 51"/>
          <p:cNvSpPr txBox="1"/>
          <p:nvPr/>
        </p:nvSpPr>
        <p:spPr>
          <a:xfrm>
            <a:off x="320576" y="408563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08" name="Text 52"/>
          <p:cNvSpPr txBox="1"/>
          <p:nvPr/>
        </p:nvSpPr>
        <p:spPr>
          <a:xfrm>
            <a:off x="320576" y="4177605"/>
            <a:ext cx="8702052" cy="567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Great question, Marco! Based on our pricing documentation, CINNOX offers three main packages: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Package | Best For 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|---|---|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**Basic Contact Center (BCC)**...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11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TC-D1 — Demo Request — All Fields </a:t>
            </a:r>
            <a:r>
              <a:rPr b="1" sz="800"/>
              <a:t>PASS</a:t>
            </a:r>
          </a:p>
        </p:txBody>
      </p:sp>
      <p:sp>
        <p:nvSpPr>
          <p:cNvPr id="1012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Collection</a:t>
            </a:r>
          </a:p>
        </p:txBody>
      </p:sp>
      <p:sp>
        <p:nvSpPr>
          <p:cNvPr id="1013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14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 4 fields + demo interest area asked. Connected to sales for scheduling.</a:t>
            </a:r>
          </a:p>
        </p:txBody>
      </p:sp>
      <p:sp>
        <p:nvSpPr>
          <p:cNvPr id="1015" name="Text 5"/>
          <p:cNvSpPr/>
          <p:nvPr/>
        </p:nvSpPr>
        <p:spPr>
          <a:xfrm>
            <a:off x="228600" y="920353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16" name="Shape 6"/>
          <p:cNvSpPr/>
          <p:nvPr/>
        </p:nvSpPr>
        <p:spPr>
          <a:xfrm flipH="1">
            <a:off x="242888" y="920353"/>
            <a:ext cx="4" cy="254797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18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want to arrange a demo of CINNOX.</a:t>
            </a:r>
          </a:p>
        </p:txBody>
      </p:sp>
      <p:sp>
        <p:nvSpPr>
          <p:cNvPr id="1019" name="Text 9"/>
          <p:cNvSpPr/>
          <p:nvPr/>
        </p:nvSpPr>
        <p:spPr>
          <a:xfrm>
            <a:off x="228600" y="1194195"/>
            <a:ext cx="8686800" cy="367015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20" name="Shape 10"/>
          <p:cNvSpPr/>
          <p:nvPr/>
        </p:nvSpPr>
        <p:spPr>
          <a:xfrm flipH="1">
            <a:off x="242888" y="1194195"/>
            <a:ext cx="4" cy="367015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Text 11"/>
          <p:cNvSpPr txBox="1"/>
          <p:nvPr/>
        </p:nvSpPr>
        <p:spPr>
          <a:xfrm>
            <a:off x="320576" y="121949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22" name="Text 12"/>
          <p:cNvSpPr txBox="1"/>
          <p:nvPr/>
        </p:nvSpPr>
        <p:spPr>
          <a:xfrm>
            <a:off x="320576" y="1311471"/>
            <a:ext cx="8702052" cy="50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━━━━━━━━━━━━━━━━━━━━━━━━━━━━━━━━━━━━━━━━━━━━━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CINNOX AI Bot — UAT Demo Session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Knowledge Base: 418 chunks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Mode: Pre-sales &amp; Support Triage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Language: Eng...</a:t>
            </a:r>
          </a:p>
        </p:txBody>
      </p:sp>
      <p:sp>
        <p:nvSpPr>
          <p:cNvPr id="1023" name="Text 13"/>
          <p:cNvSpPr/>
          <p:nvPr/>
        </p:nvSpPr>
        <p:spPr>
          <a:xfrm>
            <a:off x="228600" y="1580257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24" name="Shape 14"/>
          <p:cNvSpPr/>
          <p:nvPr/>
        </p:nvSpPr>
        <p:spPr>
          <a:xfrm flipH="1">
            <a:off x="242888" y="1580257"/>
            <a:ext cx="4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Text 15"/>
          <p:cNvSpPr txBox="1"/>
          <p:nvPr/>
        </p:nvSpPr>
        <p:spPr>
          <a:xfrm>
            <a:off x="320576" y="1605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26" name="Text 16"/>
          <p:cNvSpPr txBox="1"/>
          <p:nvPr/>
        </p:nvSpPr>
        <p:spPr>
          <a:xfrm>
            <a:off x="320576" y="1697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Emma Laurent</a:t>
            </a:r>
          </a:p>
        </p:txBody>
      </p:sp>
      <p:sp>
        <p:nvSpPr>
          <p:cNvPr id="1027" name="Text 17"/>
          <p:cNvSpPr/>
          <p:nvPr/>
        </p:nvSpPr>
        <p:spPr>
          <a:xfrm>
            <a:off x="228600" y="1854100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28" name="Shape 18"/>
          <p:cNvSpPr/>
          <p:nvPr/>
        </p:nvSpPr>
        <p:spPr>
          <a:xfrm flipH="1">
            <a:off x="242888" y="1854100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 19"/>
          <p:cNvSpPr txBox="1"/>
          <p:nvPr/>
        </p:nvSpPr>
        <p:spPr>
          <a:xfrm>
            <a:off x="320576" y="187940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30" name="Text 20"/>
          <p:cNvSpPr txBox="1"/>
          <p:nvPr/>
        </p:nvSpPr>
        <p:spPr>
          <a:xfrm>
            <a:off x="320576" y="197137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Nice to meet you, Emma! And your company name?</a:t>
            </a:r>
          </a:p>
        </p:txBody>
      </p:sp>
      <p:sp>
        <p:nvSpPr>
          <p:cNvPr id="1031" name="Text 21"/>
          <p:cNvSpPr/>
          <p:nvPr/>
        </p:nvSpPr>
        <p:spPr>
          <a:xfrm>
            <a:off x="228600" y="2127942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32" name="Shape 22"/>
          <p:cNvSpPr/>
          <p:nvPr/>
        </p:nvSpPr>
        <p:spPr>
          <a:xfrm flipH="1">
            <a:off x="242888" y="2127942"/>
            <a:ext cx="4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3" name="Text 23"/>
          <p:cNvSpPr txBox="1"/>
          <p:nvPr/>
        </p:nvSpPr>
        <p:spPr>
          <a:xfrm>
            <a:off x="320576" y="21532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34" name="Text 24"/>
          <p:cNvSpPr txBox="1"/>
          <p:nvPr/>
        </p:nvSpPr>
        <p:spPr>
          <a:xfrm>
            <a:off x="320576" y="224522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Lyon Digital Agency, emma@lyondigital.com, +33-6-1234-5678</a:t>
            </a:r>
          </a:p>
        </p:txBody>
      </p:sp>
      <p:sp>
        <p:nvSpPr>
          <p:cNvPr id="1035" name="Text 25"/>
          <p:cNvSpPr/>
          <p:nvPr/>
        </p:nvSpPr>
        <p:spPr>
          <a:xfrm>
            <a:off x="228600" y="2401788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36" name="Shape 26"/>
          <p:cNvSpPr/>
          <p:nvPr/>
        </p:nvSpPr>
        <p:spPr>
          <a:xfrm flipH="1">
            <a:off x="242888" y="2401788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7" name="Text 27"/>
          <p:cNvSpPr txBox="1"/>
          <p:nvPr/>
        </p:nvSpPr>
        <p:spPr>
          <a:xfrm>
            <a:off x="320576" y="242708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38" name="Text 28"/>
          <p:cNvSpPr txBox="1"/>
          <p:nvPr/>
        </p:nvSpPr>
        <p:spPr>
          <a:xfrm>
            <a:off x="320576" y="2519065"/>
            <a:ext cx="8702052" cy="605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Thanks, Emma! Let me confirm your details: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Emma Laurent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Lyon Digital Agency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emma@lyondigital.com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+33-6-123...</a:t>
            </a:r>
          </a:p>
        </p:txBody>
      </p:sp>
      <p:sp>
        <p:nvSpPr>
          <p:cNvPr id="1039" name="Text 29"/>
          <p:cNvSpPr/>
          <p:nvPr/>
        </p:nvSpPr>
        <p:spPr>
          <a:xfrm>
            <a:off x="228600" y="2675632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40" name="Shape 30"/>
          <p:cNvSpPr/>
          <p:nvPr/>
        </p:nvSpPr>
        <p:spPr>
          <a:xfrm flipH="1">
            <a:off x="242888" y="2675632"/>
            <a:ext cx="4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Text 31"/>
          <p:cNvSpPr txBox="1"/>
          <p:nvPr/>
        </p:nvSpPr>
        <p:spPr>
          <a:xfrm>
            <a:off x="320576" y="27009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42" name="Text 32"/>
          <p:cNvSpPr txBox="1"/>
          <p:nvPr/>
        </p:nvSpPr>
        <p:spPr>
          <a:xfrm>
            <a:off x="320576" y="27929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043" name="Text 33"/>
          <p:cNvSpPr/>
          <p:nvPr/>
        </p:nvSpPr>
        <p:spPr>
          <a:xfrm>
            <a:off x="228600" y="2949475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44" name="Shape 34"/>
          <p:cNvSpPr/>
          <p:nvPr/>
        </p:nvSpPr>
        <p:spPr>
          <a:xfrm flipH="1">
            <a:off x="242888" y="2949475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Text 35"/>
          <p:cNvSpPr txBox="1"/>
          <p:nvPr/>
        </p:nvSpPr>
        <p:spPr>
          <a:xfrm>
            <a:off x="320576" y="297477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46" name="Text 36"/>
          <p:cNvSpPr txBox="1"/>
          <p:nvPr/>
        </p:nvSpPr>
        <p:spPr>
          <a:xfrm>
            <a:off x="320576" y="3066750"/>
            <a:ext cx="870205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Emma! Your information has been saved.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arranging a demo of CINNOX — let me look into what we can offer you. Could you tell me a bit m...</a:t>
            </a:r>
          </a:p>
        </p:txBody>
      </p:sp>
      <p:sp>
        <p:nvSpPr>
          <p:cNvPr id="1047" name="Text 37"/>
          <p:cNvSpPr/>
          <p:nvPr/>
        </p:nvSpPr>
        <p:spPr>
          <a:xfrm>
            <a:off x="228600" y="3223317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48" name="Shape 38"/>
          <p:cNvSpPr/>
          <p:nvPr/>
        </p:nvSpPr>
        <p:spPr>
          <a:xfrm flipH="1">
            <a:off x="242888" y="3223317"/>
            <a:ext cx="4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Text 39"/>
          <p:cNvSpPr txBox="1"/>
          <p:nvPr/>
        </p:nvSpPr>
        <p:spPr>
          <a:xfrm>
            <a:off x="320576" y="32486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50" name="Text 40"/>
          <p:cNvSpPr txBox="1"/>
          <p:nvPr/>
        </p:nvSpPr>
        <p:spPr>
          <a:xfrm>
            <a:off x="320576" y="334059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nothing specific, just want to look around what you got and what we can do with cinnox</a:t>
            </a:r>
          </a:p>
        </p:txBody>
      </p:sp>
      <p:sp>
        <p:nvSpPr>
          <p:cNvPr id="1051" name="Text 41"/>
          <p:cNvSpPr/>
          <p:nvPr/>
        </p:nvSpPr>
        <p:spPr>
          <a:xfrm>
            <a:off x="228600" y="3497162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52" name="Shape 42"/>
          <p:cNvSpPr/>
          <p:nvPr/>
        </p:nvSpPr>
        <p:spPr>
          <a:xfrm flipH="1">
            <a:off x="242888" y="3497162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Text 43"/>
          <p:cNvSpPr txBox="1"/>
          <p:nvPr/>
        </p:nvSpPr>
        <p:spPr>
          <a:xfrm>
            <a:off x="320576" y="352246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54" name="Text 44"/>
          <p:cNvSpPr txBox="1"/>
          <p:nvPr/>
        </p:nvSpPr>
        <p:spPr>
          <a:xfrm>
            <a:off x="320576" y="3614439"/>
            <a:ext cx="870205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Great question, Emma! Here's a quick overview of what CINNOX offers: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CINNOX is an omnichannel engagement platform with several package tiers to fit different n...</a:t>
            </a:r>
          </a:p>
        </p:txBody>
      </p:sp>
      <p:sp>
        <p:nvSpPr>
          <p:cNvPr id="1055" name="Text 45"/>
          <p:cNvSpPr/>
          <p:nvPr/>
        </p:nvSpPr>
        <p:spPr>
          <a:xfrm>
            <a:off x="228600" y="3771007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56" name="Shape 46"/>
          <p:cNvSpPr/>
          <p:nvPr/>
        </p:nvSpPr>
        <p:spPr>
          <a:xfrm flipH="1">
            <a:off x="242888" y="3771005"/>
            <a:ext cx="4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7" name="Text 47"/>
          <p:cNvSpPr txBox="1"/>
          <p:nvPr/>
        </p:nvSpPr>
        <p:spPr>
          <a:xfrm>
            <a:off x="320576" y="379630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58" name="Text 48"/>
          <p:cNvSpPr txBox="1"/>
          <p:nvPr/>
        </p:nvSpPr>
        <p:spPr>
          <a:xfrm>
            <a:off x="320576" y="38882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1059" name="Text 49"/>
          <p:cNvSpPr/>
          <p:nvPr/>
        </p:nvSpPr>
        <p:spPr>
          <a:xfrm>
            <a:off x="228600" y="4044851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60" name="Shape 50"/>
          <p:cNvSpPr/>
          <p:nvPr/>
        </p:nvSpPr>
        <p:spPr>
          <a:xfrm flipH="1">
            <a:off x="242888" y="4044851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Text 51"/>
          <p:cNvSpPr txBox="1"/>
          <p:nvPr/>
        </p:nvSpPr>
        <p:spPr>
          <a:xfrm>
            <a:off x="320576" y="407015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62" name="Text 52"/>
          <p:cNvSpPr txBox="1"/>
          <p:nvPr/>
        </p:nvSpPr>
        <p:spPr>
          <a:xfrm>
            <a:off x="320576" y="416212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worries! If you'd like to explore anything specific later, I'm right here. Is there anything else I can help you with, Emma?</a:t>
            </a:r>
          </a:p>
        </p:txBody>
      </p:sp>
      <p:sp>
        <p:nvSpPr>
          <p:cNvPr id="1063" name="Text 53"/>
          <p:cNvSpPr/>
          <p:nvPr/>
        </p:nvSpPr>
        <p:spPr>
          <a:xfrm>
            <a:off x="228600" y="4318694"/>
            <a:ext cx="8686800" cy="254798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64" name="Shape 54"/>
          <p:cNvSpPr/>
          <p:nvPr/>
        </p:nvSpPr>
        <p:spPr>
          <a:xfrm flipH="1">
            <a:off x="242888" y="4318694"/>
            <a:ext cx="4" cy="254798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Text 55"/>
          <p:cNvSpPr txBox="1"/>
          <p:nvPr/>
        </p:nvSpPr>
        <p:spPr>
          <a:xfrm>
            <a:off x="320576" y="434399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66" name="Text 56"/>
          <p:cNvSpPr txBox="1"/>
          <p:nvPr/>
        </p:nvSpPr>
        <p:spPr>
          <a:xfrm>
            <a:off x="320576" y="443597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Yes, for the time of demo, any weekday afternoon works for me.</a:t>
            </a:r>
          </a:p>
        </p:txBody>
      </p:sp>
      <p:sp>
        <p:nvSpPr>
          <p:cNvPr id="1067" name="Text 57"/>
          <p:cNvSpPr/>
          <p:nvPr/>
        </p:nvSpPr>
        <p:spPr>
          <a:xfrm>
            <a:off x="228600" y="4592537"/>
            <a:ext cx="8686800" cy="254798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68" name="Shape 58"/>
          <p:cNvSpPr/>
          <p:nvPr/>
        </p:nvSpPr>
        <p:spPr>
          <a:xfrm flipH="1">
            <a:off x="242888" y="4592537"/>
            <a:ext cx="4" cy="254798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Text 59"/>
          <p:cNvSpPr txBox="1"/>
          <p:nvPr/>
        </p:nvSpPr>
        <p:spPr>
          <a:xfrm>
            <a:off x="320576" y="46178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70" name="Text 60"/>
          <p:cNvSpPr txBox="1"/>
          <p:nvPr/>
        </p:nvSpPr>
        <p:spPr>
          <a:xfrm>
            <a:off x="320576" y="4709814"/>
            <a:ext cx="8702052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 for letting us know your availability, Emma! Scheduling a demo is something our sales team handles directly.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I'm connecting you with our sales team now....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73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TC-D2 — Phone Number Refused </a:t>
            </a:r>
            <a:r>
              <a:rPr b="1" sz="800"/>
              <a:t>PASS</a:t>
            </a:r>
          </a:p>
        </p:txBody>
      </p:sp>
      <p:sp>
        <p:nvSpPr>
          <p:cNvPr id="1074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Collection</a:t>
            </a:r>
          </a:p>
        </p:txBody>
      </p:sp>
      <p:sp>
        <p:nvSpPr>
          <p:cNvPr id="1075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76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Accepted refusal gracefully. Offered email alternative. Proceeded without phone.</a:t>
            </a:r>
          </a:p>
        </p:txBody>
      </p:sp>
      <p:sp>
        <p:nvSpPr>
          <p:cNvPr id="1077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78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80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want to arrange a demo of CINNOX.</a:t>
            </a:r>
          </a:p>
        </p:txBody>
      </p:sp>
      <p:sp>
        <p:nvSpPr>
          <p:cNvPr id="1081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82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84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Great to hear you're interested in CINNOX! I'd love to help arrange that for you.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 get you connected with the right team, may I start with your name?</a:t>
            </a:r>
          </a:p>
        </p:txBody>
      </p:sp>
      <p:sp>
        <p:nvSpPr>
          <p:cNvPr id="1085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86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7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88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Emma Laurent, Lyon Digital Agency, emma@lyondigital.com</a:t>
            </a:r>
          </a:p>
        </p:txBody>
      </p:sp>
      <p:sp>
        <p:nvSpPr>
          <p:cNvPr id="1089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90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092" name="Text 20"/>
          <p:cNvSpPr txBox="1"/>
          <p:nvPr/>
        </p:nvSpPr>
        <p:spPr>
          <a:xfrm>
            <a:off x="320576" y="1893984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Nice to meet you, Emma! And thanks for that info.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Just one more detail — what's a phone number we can reach you on?</a:t>
            </a:r>
          </a:p>
        </p:txBody>
      </p:sp>
      <p:sp>
        <p:nvSpPr>
          <p:cNvPr id="1093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94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096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rather not give my phone number.</a:t>
            </a:r>
          </a:p>
        </p:txBody>
      </p:sp>
      <p:sp>
        <p:nvSpPr>
          <p:cNvPr id="1097" name="Text 25"/>
          <p:cNvSpPr/>
          <p:nvPr/>
        </p:nvSpPr>
        <p:spPr>
          <a:xfrm>
            <a:off x="228600" y="2347615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98" name="Shape 26"/>
          <p:cNvSpPr/>
          <p:nvPr/>
        </p:nvSpPr>
        <p:spPr>
          <a:xfrm flipH="1">
            <a:off x="242888" y="2347615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00" name="Text 28"/>
          <p:cNvSpPr txBox="1"/>
          <p:nvPr/>
        </p:nvSpPr>
        <p:spPr>
          <a:xfrm>
            <a:off x="320576" y="24648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problem at all, Emma! We can reach you by email instead. Would that work for you?</a:t>
            </a:r>
          </a:p>
        </p:txBody>
      </p:sp>
      <p:sp>
        <p:nvSpPr>
          <p:cNvPr id="1101" name="Text 29"/>
          <p:cNvSpPr/>
          <p:nvPr/>
        </p:nvSpPr>
        <p:spPr>
          <a:xfrm>
            <a:off x="228600" y="263306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02" name="Shape 30"/>
          <p:cNvSpPr/>
          <p:nvPr/>
        </p:nvSpPr>
        <p:spPr>
          <a:xfrm flipH="1">
            <a:off x="242888" y="263306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04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really don't want to share it. Please proceed without it.</a:t>
            </a:r>
          </a:p>
        </p:txBody>
      </p:sp>
      <p:sp>
        <p:nvSpPr>
          <p:cNvPr id="1105" name="Text 33"/>
          <p:cNvSpPr/>
          <p:nvPr/>
        </p:nvSpPr>
        <p:spPr>
          <a:xfrm>
            <a:off x="228600" y="2918517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06" name="Shape 34"/>
          <p:cNvSpPr/>
          <p:nvPr/>
        </p:nvSpPr>
        <p:spPr>
          <a:xfrm flipH="1">
            <a:off x="242888" y="2918517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7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08" name="Text 36"/>
          <p:cNvSpPr txBox="1"/>
          <p:nvPr/>
        </p:nvSpPr>
        <p:spPr>
          <a:xfrm>
            <a:off x="320576" y="3035796"/>
            <a:ext cx="8702052" cy="79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Understood, Emma — no problem at all. Let me confirm what I have: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Emma Laurent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Lyon Digital Agency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emma@lyondigital.com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all correct?</a:t>
            </a:r>
          </a:p>
        </p:txBody>
      </p:sp>
      <p:sp>
        <p:nvSpPr>
          <p:cNvPr id="1109" name="Text 37"/>
          <p:cNvSpPr/>
          <p:nvPr/>
        </p:nvSpPr>
        <p:spPr>
          <a:xfrm>
            <a:off x="228600" y="3203972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10" name="Shape 38"/>
          <p:cNvSpPr/>
          <p:nvPr/>
        </p:nvSpPr>
        <p:spPr>
          <a:xfrm flipH="1">
            <a:off x="242888" y="3203972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12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113" name="Text 41"/>
          <p:cNvSpPr/>
          <p:nvPr/>
        </p:nvSpPr>
        <p:spPr>
          <a:xfrm>
            <a:off x="228600" y="3489423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14" name="Shape 42"/>
          <p:cNvSpPr/>
          <p:nvPr/>
        </p:nvSpPr>
        <p:spPr>
          <a:xfrm flipH="1">
            <a:off x="242888" y="3489423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16" name="Text 44"/>
          <p:cNvSpPr txBox="1"/>
          <p:nvPr/>
        </p:nvSpPr>
        <p:spPr>
          <a:xfrm>
            <a:off x="320576" y="360670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Emma! Your information has been saved.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the demo — let me connect you with our sales team who can schedule that for you. They'll reach out to you at emma@lyondigital.com to arrange a convenient 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19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TC-E1 — Billing Issue Routing </a:t>
            </a:r>
            <a:r>
              <a:rPr b="1" sz="800"/>
              <a:t>PASS</a:t>
            </a:r>
          </a:p>
        </p:txBody>
      </p:sp>
      <p:sp>
        <p:nvSpPr>
          <p:cNvPr id="1120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Existing Customer</a:t>
            </a:r>
          </a:p>
        </p:txBody>
      </p:sp>
      <p:sp>
        <p:nvSpPr>
          <p:cNvPr id="1121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22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Billing triage + escalation. Email not required per reverted spec.</a:t>
            </a:r>
          </a:p>
        </p:txBody>
      </p:sp>
      <p:sp>
        <p:nvSpPr>
          <p:cNvPr id="1123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24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26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think I was overcharged on last month's bill.</a:t>
            </a:r>
          </a:p>
        </p:txBody>
      </p:sp>
      <p:sp>
        <p:nvSpPr>
          <p:cNvPr id="1127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28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30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I'm sorry to hear that! I'd be happy to help get this sorted out.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Could I get your company name and Account ID so I can pull up your account?</a:t>
            </a:r>
          </a:p>
        </p:txBody>
      </p:sp>
      <p:sp>
        <p:nvSpPr>
          <p:cNvPr id="1131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32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34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Tom Bradley, Hartley Insurance UK</a:t>
            </a:r>
          </a:p>
        </p:txBody>
      </p:sp>
      <p:sp>
        <p:nvSpPr>
          <p:cNvPr id="1135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36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7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38" name="Text 20"/>
          <p:cNvSpPr txBox="1"/>
          <p:nvPr/>
        </p:nvSpPr>
        <p:spPr>
          <a:xfrm>
            <a:off x="320576" y="189398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you, Tom. Could I also get your Account ID so I can locate your account?</a:t>
            </a:r>
          </a:p>
        </p:txBody>
      </p:sp>
      <p:sp>
        <p:nvSpPr>
          <p:cNvPr id="1139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40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42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HART-UK-2023</a:t>
            </a:r>
          </a:p>
        </p:txBody>
      </p:sp>
      <p:sp>
        <p:nvSpPr>
          <p:cNvPr id="1143" name="Text 25"/>
          <p:cNvSpPr/>
          <p:nvPr/>
        </p:nvSpPr>
        <p:spPr>
          <a:xfrm>
            <a:off x="228600" y="2347615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44" name="Shape 26"/>
          <p:cNvSpPr/>
          <p:nvPr/>
        </p:nvSpPr>
        <p:spPr>
          <a:xfrm flipH="1">
            <a:off x="242888" y="2347615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46" name="Text 28"/>
          <p:cNvSpPr txBox="1"/>
          <p:nvPr/>
        </p:nvSpPr>
        <p:spPr>
          <a:xfrm>
            <a:off x="320576" y="24648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you, Tom. Let me save your details and get you connected with the right team.I've located your account, Tom. Since this is a billing concern, I'm connecting you with our billing team now. They'll be with you shortl...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49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TC-E2 — Technical Issue Routing </a:t>
            </a:r>
            <a:r>
              <a:rPr b="1" sz="800"/>
              <a:t>PASS</a:t>
            </a:r>
          </a:p>
        </p:txBody>
      </p:sp>
      <p:sp>
        <p:nvSpPr>
          <p:cNvPr id="1150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Existing Customer</a:t>
            </a:r>
          </a:p>
        </p:txBody>
      </p:sp>
      <p:sp>
        <p:nvSpPr>
          <p:cNvPr id="1151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52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"name not available" handled gracefully. Technical escalation with service number.</a:t>
            </a:r>
          </a:p>
        </p:txBody>
      </p:sp>
      <p:sp>
        <p:nvSpPr>
          <p:cNvPr id="1153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54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56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Voice quality is really bad during calls on CINNOX.</a:t>
            </a:r>
          </a:p>
        </p:txBody>
      </p:sp>
      <p:sp>
        <p:nvSpPr>
          <p:cNvPr id="1157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58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60" name="Text 12"/>
          <p:cNvSpPr txBox="1"/>
          <p:nvPr/>
        </p:nvSpPr>
        <p:spPr>
          <a:xfrm>
            <a:off x="320576" y="1323082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I'm sorry to hear you're experiencing voice quality issues. I'd be happy to help get this resolved!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Could I get your company name and Account ID so I can pull up your account?</a:t>
            </a:r>
          </a:p>
        </p:txBody>
      </p:sp>
      <p:sp>
        <p:nvSpPr>
          <p:cNvPr id="1161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62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64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PBHK-2024</a:t>
            </a:r>
          </a:p>
        </p:txBody>
      </p:sp>
      <p:sp>
        <p:nvSpPr>
          <p:cNvPr id="1165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66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7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68" name="Text 20"/>
          <p:cNvSpPr txBox="1"/>
          <p:nvPr/>
        </p:nvSpPr>
        <p:spPr>
          <a:xfrm>
            <a:off x="320576" y="189398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you! And could you also provide your company name so I can locate your account?</a:t>
            </a:r>
          </a:p>
        </p:txBody>
      </p:sp>
      <p:sp>
        <p:nvSpPr>
          <p:cNvPr id="1169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70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72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Pacific Bank HK.</a:t>
            </a:r>
          </a:p>
        </p:txBody>
      </p:sp>
      <p:sp>
        <p:nvSpPr>
          <p:cNvPr id="1173" name="Text 25"/>
          <p:cNvSpPr/>
          <p:nvPr/>
        </p:nvSpPr>
        <p:spPr>
          <a:xfrm>
            <a:off x="228600" y="2347615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74" name="Shape 26"/>
          <p:cNvSpPr/>
          <p:nvPr/>
        </p:nvSpPr>
        <p:spPr>
          <a:xfrm flipH="1">
            <a:off x="242888" y="2347615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76" name="Text 28"/>
          <p:cNvSpPr txBox="1"/>
          <p:nvPr/>
        </p:nvSpPr>
        <p:spPr>
          <a:xfrm>
            <a:off x="320576" y="2464891"/>
            <a:ext cx="8702052" cy="681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you! Let me save your account details.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Since you're reporting a voice quality issue, I'll need a couple more details to help our support team investigate: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What is the **service number** affected?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What is ...</a:t>
            </a:r>
          </a:p>
        </p:txBody>
      </p:sp>
      <p:sp>
        <p:nvSpPr>
          <p:cNvPr id="1177" name="Text 29"/>
          <p:cNvSpPr/>
          <p:nvPr/>
        </p:nvSpPr>
        <p:spPr>
          <a:xfrm>
            <a:off x="228600" y="2756891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78" name="Shape 30"/>
          <p:cNvSpPr/>
          <p:nvPr/>
        </p:nvSpPr>
        <p:spPr>
          <a:xfrm flipH="1">
            <a:off x="242888" y="2756891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9" name="Text 31"/>
          <p:cNvSpPr txBox="1"/>
          <p:nvPr/>
        </p:nvSpPr>
        <p:spPr>
          <a:xfrm>
            <a:off x="320576" y="27821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80" name="Text 32"/>
          <p:cNvSpPr txBox="1"/>
          <p:nvPr/>
        </p:nvSpPr>
        <p:spPr>
          <a:xfrm>
            <a:off x="320576" y="287416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+852-1234-5678, name not available</a:t>
            </a:r>
          </a:p>
        </p:txBody>
      </p:sp>
      <p:sp>
        <p:nvSpPr>
          <p:cNvPr id="1181" name="Text 33"/>
          <p:cNvSpPr/>
          <p:nvPr/>
        </p:nvSpPr>
        <p:spPr>
          <a:xfrm>
            <a:off x="228600" y="3042342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82" name="Shape 34"/>
          <p:cNvSpPr/>
          <p:nvPr/>
        </p:nvSpPr>
        <p:spPr>
          <a:xfrm flipH="1">
            <a:off x="242888" y="3042342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3" name="Text 35"/>
          <p:cNvSpPr txBox="1"/>
          <p:nvPr/>
        </p:nvSpPr>
        <p:spPr>
          <a:xfrm>
            <a:off x="320576" y="30676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84" name="Text 36"/>
          <p:cNvSpPr txBox="1"/>
          <p:nvPr/>
        </p:nvSpPr>
        <p:spPr>
          <a:xfrm>
            <a:off x="320576" y="315962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 for the details. Let me save this and connect you with our support team right away.I'm connecting you with our support team now. They'll be with you shortly.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They'll have your account details and the service...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87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TC-F1 — Knowledge Boundary </a:t>
            </a:r>
            <a:r>
              <a:rPr b="1" sz="800"/>
              <a:t>PASS</a:t>
            </a:r>
          </a:p>
        </p:txBody>
      </p:sp>
      <p:sp>
        <p:nvSpPr>
          <p:cNvPr id="1188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Human Handoff</a:t>
            </a:r>
          </a:p>
        </p:txBody>
      </p:sp>
      <p:sp>
        <p:nvSpPr>
          <p:cNvPr id="1189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90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DB encryption architecture — acknowledged limits, deferred to specialist. Zero fabrication.</a:t>
            </a:r>
          </a:p>
        </p:txBody>
      </p:sp>
      <p:sp>
        <p:nvSpPr>
          <p:cNvPr id="1191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92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194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Please explain your database encryption architecture in detail, including key management and at-rest encryption standards.</a:t>
            </a:r>
          </a:p>
        </p:txBody>
      </p:sp>
      <p:sp>
        <p:nvSpPr>
          <p:cNvPr id="1195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96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198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customer, or are you new to us?</a:t>
            </a:r>
          </a:p>
        </p:txBody>
      </p:sp>
      <p:sp>
        <p:nvSpPr>
          <p:cNvPr id="1199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00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1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02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</a:t>
            </a:r>
          </a:p>
        </p:txBody>
      </p:sp>
      <p:sp>
        <p:nvSpPr>
          <p:cNvPr id="1203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04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06" name="Text 20"/>
          <p:cNvSpPr txBox="1"/>
          <p:nvPr/>
        </p:nvSpPr>
        <p:spPr>
          <a:xfrm>
            <a:off x="320576" y="189398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Great! May I start with your name?</a:t>
            </a:r>
          </a:p>
        </p:txBody>
      </p:sp>
      <p:sp>
        <p:nvSpPr>
          <p:cNvPr id="1207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08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10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Jason, PC bank, jason@pcb.com, +85211771177</a:t>
            </a:r>
          </a:p>
        </p:txBody>
      </p:sp>
      <p:sp>
        <p:nvSpPr>
          <p:cNvPr id="1211" name="Text 25"/>
          <p:cNvSpPr/>
          <p:nvPr/>
        </p:nvSpPr>
        <p:spPr>
          <a:xfrm>
            <a:off x="228600" y="2347615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12" name="Shape 26"/>
          <p:cNvSpPr/>
          <p:nvPr/>
        </p:nvSpPr>
        <p:spPr>
          <a:xfrm flipH="1">
            <a:off x="242888" y="2347615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14" name="Text 28"/>
          <p:cNvSpPr txBox="1"/>
          <p:nvPr/>
        </p:nvSpPr>
        <p:spPr>
          <a:xfrm>
            <a:off x="320576" y="2464891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Let me confirm your details: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Jason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PC Bank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jason@pcb.com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+85211771177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correct?</a:t>
            </a:r>
          </a:p>
        </p:txBody>
      </p:sp>
      <p:sp>
        <p:nvSpPr>
          <p:cNvPr id="1215" name="Text 29"/>
          <p:cNvSpPr/>
          <p:nvPr/>
        </p:nvSpPr>
        <p:spPr>
          <a:xfrm>
            <a:off x="228600" y="263306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16" name="Shape 30"/>
          <p:cNvSpPr/>
          <p:nvPr/>
        </p:nvSpPr>
        <p:spPr>
          <a:xfrm flipH="1">
            <a:off x="242888" y="263306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18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219" name="Text 33"/>
          <p:cNvSpPr/>
          <p:nvPr/>
        </p:nvSpPr>
        <p:spPr>
          <a:xfrm>
            <a:off x="228600" y="2918517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20" name="Shape 34"/>
          <p:cNvSpPr/>
          <p:nvPr/>
        </p:nvSpPr>
        <p:spPr>
          <a:xfrm flipH="1">
            <a:off x="242888" y="2918517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1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22" name="Text 36"/>
          <p:cNvSpPr txBox="1"/>
          <p:nvPr/>
        </p:nvSpPr>
        <p:spPr>
          <a:xfrm>
            <a:off x="320576" y="3035796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Jason! Your information has been saved.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database encryption architecture — this is a deep technical topic that our solutions team is best equipped to walk you through in det...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25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TC-F2 — Immediate Human Request </a:t>
            </a:r>
            <a:r>
              <a:rPr b="1" sz="800"/>
              <a:t>PASS</a:t>
            </a:r>
            <a:r>
              <a:t> </a:t>
            </a:r>
            <a:r>
              <a:rPr b="1" sz="700"/>
              <a:t>CRITICAL</a:t>
            </a:r>
          </a:p>
        </p:txBody>
      </p:sp>
      <p:sp>
        <p:nvSpPr>
          <p:cNvPr id="1226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Human Handoff</a:t>
            </a:r>
          </a:p>
        </p:txBody>
      </p:sp>
      <p:sp>
        <p:nvSpPr>
          <p:cNvPr id="1227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28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Perfect: immediate routing in 1 response, zero qualifying questions. 2-turn session.</a:t>
            </a:r>
          </a:p>
        </p:txBody>
      </p:sp>
      <p:sp>
        <p:nvSpPr>
          <p:cNvPr id="1229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30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1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32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want to talk to a human representative immediately.</a:t>
            </a:r>
          </a:p>
        </p:txBody>
      </p:sp>
      <p:sp>
        <p:nvSpPr>
          <p:cNvPr id="1233" name="Text 9"/>
          <p:cNvSpPr/>
          <p:nvPr/>
        </p:nvSpPr>
        <p:spPr>
          <a:xfrm>
            <a:off x="228600" y="1205804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34" name="Shape 10"/>
          <p:cNvSpPr/>
          <p:nvPr/>
        </p:nvSpPr>
        <p:spPr>
          <a:xfrm flipH="1">
            <a:off x="242888" y="1205804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36" name="Text 12"/>
          <p:cNvSpPr txBox="1"/>
          <p:nvPr/>
        </p:nvSpPr>
        <p:spPr>
          <a:xfrm>
            <a:off x="320576" y="1323082"/>
            <a:ext cx="8702052" cy="569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Of course! Let me connect you with a human agent right away.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━━━━━━━━━━━━━━━━━━━━━━━━━━━━━━━━━━━━━━━━━━━━━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Session Ended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━━━━━━━━━━━━━━━━━━━━━━━━━━━━━━━━━━━━━━━━━━━━━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39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TC-G1 — Multi-Turn DID Pricing </a:t>
            </a:r>
            <a:r>
              <a:rPr b="1" sz="800"/>
              <a:t>PASS</a:t>
            </a:r>
          </a:p>
        </p:txBody>
      </p:sp>
      <p:sp>
        <p:nvSpPr>
          <p:cNvPr id="1240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Context Continuity</a:t>
            </a:r>
          </a:p>
        </p:txBody>
      </p:sp>
      <p:sp>
        <p:nvSpPr>
          <p:cNvPr id="1241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42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UK $19, Germany $19, HK $25. Perfect context continuity across 3 follow-ups.</a:t>
            </a:r>
          </a:p>
        </p:txBody>
      </p:sp>
      <p:sp>
        <p:nvSpPr>
          <p:cNvPr id="1243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44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46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much is a UK local number?</a:t>
            </a:r>
          </a:p>
        </p:txBody>
      </p:sp>
      <p:sp>
        <p:nvSpPr>
          <p:cNvPr id="1247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48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50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customer, or are you new to us?</a:t>
            </a:r>
          </a:p>
        </p:txBody>
      </p:sp>
      <p:sp>
        <p:nvSpPr>
          <p:cNvPr id="1251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52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54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   Jason, PC bank, jason@pcb.com, +85211771177</a:t>
            </a:r>
          </a:p>
        </p:txBody>
      </p:sp>
      <p:sp>
        <p:nvSpPr>
          <p:cNvPr id="1255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56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58" name="Text 20"/>
          <p:cNvSpPr txBox="1"/>
          <p:nvPr/>
        </p:nvSpPr>
        <p:spPr>
          <a:xfrm>
            <a:off x="320576" y="1893984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Thanks, Jason! Let me confirm your details: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Jason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PC Bank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jason@pcb.com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+85211771177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correct?</a:t>
            </a:r>
          </a:p>
        </p:txBody>
      </p:sp>
      <p:sp>
        <p:nvSpPr>
          <p:cNvPr id="1259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60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1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62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263" name="Text 25"/>
          <p:cNvSpPr/>
          <p:nvPr/>
        </p:nvSpPr>
        <p:spPr>
          <a:xfrm>
            <a:off x="228600" y="2347615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64" name="Shape 26"/>
          <p:cNvSpPr/>
          <p:nvPr/>
        </p:nvSpPr>
        <p:spPr>
          <a:xfrm flipH="1">
            <a:off x="242888" y="2347615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66" name="Text 28"/>
          <p:cNvSpPr txBox="1"/>
          <p:nvPr/>
        </p:nvSpPr>
        <p:spPr>
          <a:xfrm>
            <a:off x="320576" y="246489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Jason! Your information has been saved.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UK local number pricing — let me look that up for you.According to our pu...</a:t>
            </a:r>
          </a:p>
        </p:txBody>
      </p:sp>
      <p:sp>
        <p:nvSpPr>
          <p:cNvPr id="1267" name="Text 29"/>
          <p:cNvSpPr/>
          <p:nvPr/>
        </p:nvSpPr>
        <p:spPr>
          <a:xfrm>
            <a:off x="228600" y="263306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68" name="Shape 30"/>
          <p:cNvSpPr/>
          <p:nvPr/>
        </p:nvSpPr>
        <p:spPr>
          <a:xfrm flipH="1">
            <a:off x="242888" y="263306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Text 31"/>
          <p:cNvSpPr txBox="1"/>
          <p:nvPr/>
        </p:nvSpPr>
        <p:spPr>
          <a:xfrm>
            <a:off x="320576" y="265836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70" name="Text 32"/>
          <p:cNvSpPr txBox="1"/>
          <p:nvPr/>
        </p:nvSpPr>
        <p:spPr>
          <a:xfrm>
            <a:off x="320576" y="27503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about Germany?</a:t>
            </a:r>
          </a:p>
        </p:txBody>
      </p:sp>
      <p:sp>
        <p:nvSpPr>
          <p:cNvPr id="1271" name="Text 33"/>
          <p:cNvSpPr/>
          <p:nvPr/>
        </p:nvSpPr>
        <p:spPr>
          <a:xfrm>
            <a:off x="228600" y="2918517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72" name="Shape 34"/>
          <p:cNvSpPr/>
          <p:nvPr/>
        </p:nvSpPr>
        <p:spPr>
          <a:xfrm flipH="1">
            <a:off x="242888" y="2918517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Text 35"/>
          <p:cNvSpPr txBox="1"/>
          <p:nvPr/>
        </p:nvSpPr>
        <p:spPr>
          <a:xfrm>
            <a:off x="320576" y="294381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74" name="Text 36"/>
          <p:cNvSpPr txBox="1"/>
          <p:nvPr/>
        </p:nvSpPr>
        <p:spPr>
          <a:xfrm>
            <a:off x="320576" y="3035796"/>
            <a:ext cx="8702052" cy="681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**Germany local number (DID)** is also **US$19/month**. Here are the usage rates: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Rate Type | Price (US$) 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|---|---|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Monthly fee (MRC) | $19 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Receive...</a:t>
            </a:r>
          </a:p>
        </p:txBody>
      </p:sp>
      <p:sp>
        <p:nvSpPr>
          <p:cNvPr id="1275" name="Text 37"/>
          <p:cNvSpPr/>
          <p:nvPr/>
        </p:nvSpPr>
        <p:spPr>
          <a:xfrm>
            <a:off x="228600" y="3203972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76" name="Shape 38"/>
          <p:cNvSpPr/>
          <p:nvPr/>
        </p:nvSpPr>
        <p:spPr>
          <a:xfrm flipH="1">
            <a:off x="242888" y="3203972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Text 39"/>
          <p:cNvSpPr txBox="1"/>
          <p:nvPr/>
        </p:nvSpPr>
        <p:spPr>
          <a:xfrm>
            <a:off x="320576" y="322927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78" name="Text 40"/>
          <p:cNvSpPr txBox="1"/>
          <p:nvPr/>
        </p:nvSpPr>
        <p:spPr>
          <a:xfrm>
            <a:off x="320576" y="332124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And for Hong Kong?</a:t>
            </a:r>
          </a:p>
        </p:txBody>
      </p:sp>
      <p:sp>
        <p:nvSpPr>
          <p:cNvPr id="1279" name="Text 41"/>
          <p:cNvSpPr/>
          <p:nvPr/>
        </p:nvSpPr>
        <p:spPr>
          <a:xfrm>
            <a:off x="228600" y="3489423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80" name="Shape 42"/>
          <p:cNvSpPr/>
          <p:nvPr/>
        </p:nvSpPr>
        <p:spPr>
          <a:xfrm flipH="1">
            <a:off x="242888" y="3489423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1" name="Text 43"/>
          <p:cNvSpPr txBox="1"/>
          <p:nvPr/>
        </p:nvSpPr>
        <p:spPr>
          <a:xfrm>
            <a:off x="320576" y="3514725"/>
            <a:ext cx="8702052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82" name="Text 44"/>
          <p:cNvSpPr txBox="1"/>
          <p:nvPr/>
        </p:nvSpPr>
        <p:spPr>
          <a:xfrm>
            <a:off x="320576" y="3606701"/>
            <a:ext cx="8702052" cy="453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**Hong Kong local number (DID)** is **US$25/month** — slightly higher than the UK and Germany. Here are the usage rates: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 Rate Type | Price (US$) |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|---|---...</a:t>
            </a:r>
          </a:p>
        </p:txBody>
      </p:sp>
      <p:sp>
        <p:nvSpPr>
          <p:cNvPr id="1283" name="Text 45"/>
          <p:cNvSpPr/>
          <p:nvPr/>
        </p:nvSpPr>
        <p:spPr>
          <a:xfrm>
            <a:off x="228600" y="3774876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84" name="Shape 46"/>
          <p:cNvSpPr/>
          <p:nvPr/>
        </p:nvSpPr>
        <p:spPr>
          <a:xfrm flipH="1">
            <a:off x="242888" y="3774876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Text 47"/>
          <p:cNvSpPr txBox="1"/>
          <p:nvPr/>
        </p:nvSpPr>
        <p:spPr>
          <a:xfrm>
            <a:off x="320576" y="380017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286" name="Text 48"/>
          <p:cNvSpPr txBox="1"/>
          <p:nvPr/>
        </p:nvSpPr>
        <p:spPr>
          <a:xfrm>
            <a:off x="320576" y="389215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1287" name="Text 49"/>
          <p:cNvSpPr/>
          <p:nvPr/>
        </p:nvSpPr>
        <p:spPr>
          <a:xfrm>
            <a:off x="228600" y="406032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88" name="Shape 50"/>
          <p:cNvSpPr/>
          <p:nvPr/>
        </p:nvSpPr>
        <p:spPr>
          <a:xfrm flipH="1">
            <a:off x="242888" y="406032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Text 51"/>
          <p:cNvSpPr txBox="1"/>
          <p:nvPr/>
        </p:nvSpPr>
        <p:spPr>
          <a:xfrm>
            <a:off x="320576" y="4085630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290" name="Text 52"/>
          <p:cNvSpPr txBox="1"/>
          <p:nvPr/>
        </p:nvSpPr>
        <p:spPr>
          <a:xfrm>
            <a:off x="320576" y="4177605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Alright! If you have any other questions about CINNOX, feel free to ask anytime. I'm here to help, Jason! 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93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TC-H1 — Spelling Errors </a:t>
            </a:r>
            <a:r>
              <a:rPr b="1" sz="800"/>
              <a:t>PASS</a:t>
            </a:r>
          </a:p>
        </p:txBody>
      </p:sp>
      <p:sp>
        <p:nvSpPr>
          <p:cNvPr id="1294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Error Tolerance</a:t>
            </a:r>
          </a:p>
        </p:txBody>
      </p:sp>
      <p:sp>
        <p:nvSpPr>
          <p:cNvPr id="1295" name="Text 3"/>
          <p:cNvSpPr/>
          <p:nvPr/>
        </p:nvSpPr>
        <p:spPr>
          <a:xfrm>
            <a:off x="228600" y="736400"/>
            <a:ext cx="8686800" cy="145856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96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"whtsapp intergration" understood immediately. WhatsApp campaigns follow-up also answered.</a:t>
            </a:r>
          </a:p>
        </p:txBody>
      </p:sp>
      <p:sp>
        <p:nvSpPr>
          <p:cNvPr id="1297" name="Text 5"/>
          <p:cNvSpPr/>
          <p:nvPr/>
        </p:nvSpPr>
        <p:spPr>
          <a:xfrm>
            <a:off x="228600" y="92035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98" name="Shape 6"/>
          <p:cNvSpPr/>
          <p:nvPr/>
        </p:nvSpPr>
        <p:spPr>
          <a:xfrm flipH="1">
            <a:off x="242888" y="92035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Text 7"/>
          <p:cNvSpPr txBox="1"/>
          <p:nvPr/>
        </p:nvSpPr>
        <p:spPr>
          <a:xfrm>
            <a:off x="320576" y="94565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00" name="Text 8"/>
          <p:cNvSpPr txBox="1"/>
          <p:nvPr/>
        </p:nvSpPr>
        <p:spPr>
          <a:xfrm>
            <a:off x="320576" y="103762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 you have whtsapp intergration?</a:t>
            </a:r>
          </a:p>
        </p:txBody>
      </p:sp>
      <p:sp>
        <p:nvSpPr>
          <p:cNvPr id="1301" name="Text 9"/>
          <p:cNvSpPr/>
          <p:nvPr/>
        </p:nvSpPr>
        <p:spPr>
          <a:xfrm>
            <a:off x="228600" y="1205804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02" name="Shape 10"/>
          <p:cNvSpPr/>
          <p:nvPr/>
        </p:nvSpPr>
        <p:spPr>
          <a:xfrm flipH="1">
            <a:off x="242888" y="1205804"/>
            <a:ext cx="4" cy="266404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Text 11"/>
          <p:cNvSpPr txBox="1"/>
          <p:nvPr/>
        </p:nvSpPr>
        <p:spPr>
          <a:xfrm>
            <a:off x="320576" y="1231104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04" name="Text 12"/>
          <p:cNvSpPr txBox="1"/>
          <p:nvPr/>
        </p:nvSpPr>
        <p:spPr>
          <a:xfrm>
            <a:off x="320576" y="132308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customer, or are you new to us?</a:t>
            </a:r>
          </a:p>
        </p:txBody>
      </p:sp>
      <p:sp>
        <p:nvSpPr>
          <p:cNvPr id="1305" name="Text 13"/>
          <p:cNvSpPr/>
          <p:nvPr/>
        </p:nvSpPr>
        <p:spPr>
          <a:xfrm>
            <a:off x="228600" y="1491258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06" name="Shape 14"/>
          <p:cNvSpPr/>
          <p:nvPr/>
        </p:nvSpPr>
        <p:spPr>
          <a:xfrm flipH="1">
            <a:off x="242888" y="1491257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Text 15"/>
          <p:cNvSpPr txBox="1"/>
          <p:nvPr/>
        </p:nvSpPr>
        <p:spPr>
          <a:xfrm>
            <a:off x="320576" y="151655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08" name="Text 16"/>
          <p:cNvSpPr txBox="1"/>
          <p:nvPr/>
        </p:nvSpPr>
        <p:spPr>
          <a:xfrm>
            <a:off x="320576" y="160853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 Ryan Park , Seoul Media Group , ryan@seoulmediad.com, +82-2-5678-1234</a:t>
            </a:r>
          </a:p>
        </p:txBody>
      </p:sp>
      <p:sp>
        <p:nvSpPr>
          <p:cNvPr id="1309" name="Text 17"/>
          <p:cNvSpPr/>
          <p:nvPr/>
        </p:nvSpPr>
        <p:spPr>
          <a:xfrm>
            <a:off x="228600" y="1776708"/>
            <a:ext cx="8686800" cy="266406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10" name="Shape 18"/>
          <p:cNvSpPr/>
          <p:nvPr/>
        </p:nvSpPr>
        <p:spPr>
          <a:xfrm flipH="1">
            <a:off x="242888" y="1776708"/>
            <a:ext cx="4" cy="266406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1" name="Text 19"/>
          <p:cNvSpPr txBox="1"/>
          <p:nvPr/>
        </p:nvSpPr>
        <p:spPr>
          <a:xfrm>
            <a:off x="320576" y="1802008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12" name="Text 20"/>
          <p:cNvSpPr txBox="1"/>
          <p:nvPr/>
        </p:nvSpPr>
        <p:spPr>
          <a:xfrm>
            <a:off x="320576" y="1893984"/>
            <a:ext cx="8702052" cy="910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Nice to meet you, Ryan! Let me confirm your details: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Ryan Park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Seoul Media Group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**Email:** ryan@seoulmediad.com</a:t>
            </a: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**Phone:** +82-2-5678-1234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that correct?</a:t>
            </a:r>
          </a:p>
        </p:txBody>
      </p:sp>
      <p:sp>
        <p:nvSpPr>
          <p:cNvPr id="1313" name="Text 21"/>
          <p:cNvSpPr/>
          <p:nvPr/>
        </p:nvSpPr>
        <p:spPr>
          <a:xfrm>
            <a:off x="228600" y="2062163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14" name="Shape 22"/>
          <p:cNvSpPr/>
          <p:nvPr/>
        </p:nvSpPr>
        <p:spPr>
          <a:xfrm flipH="1">
            <a:off x="242888" y="2062163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Text 23"/>
          <p:cNvSpPr txBox="1"/>
          <p:nvPr/>
        </p:nvSpPr>
        <p:spPr>
          <a:xfrm>
            <a:off x="320576" y="2087463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16" name="Text 24"/>
          <p:cNvSpPr txBox="1"/>
          <p:nvPr/>
        </p:nvSpPr>
        <p:spPr>
          <a:xfrm>
            <a:off x="320576" y="2179439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317" name="Text 25"/>
          <p:cNvSpPr/>
          <p:nvPr/>
        </p:nvSpPr>
        <p:spPr>
          <a:xfrm>
            <a:off x="228600" y="2347615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18" name="Shape 26"/>
          <p:cNvSpPr/>
          <p:nvPr/>
        </p:nvSpPr>
        <p:spPr>
          <a:xfrm flipH="1">
            <a:off x="242888" y="2347615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Text 27"/>
          <p:cNvSpPr txBox="1"/>
          <p:nvPr/>
        </p:nvSpPr>
        <p:spPr>
          <a:xfrm>
            <a:off x="320576" y="2372916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20" name="Text 28"/>
          <p:cNvSpPr txBox="1"/>
          <p:nvPr/>
        </p:nvSpPr>
        <p:spPr>
          <a:xfrm>
            <a:off x="320576" y="2464891"/>
            <a:ext cx="8702052" cy="338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Ryan! Your information has been saved.</a:t>
            </a:r>
          </a:p>
          <a:p>
            <a:pPr>
              <a:lnSpc>
                <a:spcPts val="900"/>
              </a:lnSpc>
              <a:defRPr sz="7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regarding your question about WhatsApp integration — let me look that up for you.Yes, CINNOX does support **WhatsApp integration**! According to our product documen...</a:t>
            </a:r>
          </a:p>
        </p:txBody>
      </p:sp>
      <p:sp>
        <p:nvSpPr>
          <p:cNvPr id="1321" name="Text 29"/>
          <p:cNvSpPr/>
          <p:nvPr/>
        </p:nvSpPr>
        <p:spPr>
          <a:xfrm>
            <a:off x="228600" y="2756891"/>
            <a:ext cx="8686800" cy="266406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22" name="Shape 30"/>
          <p:cNvSpPr/>
          <p:nvPr/>
        </p:nvSpPr>
        <p:spPr>
          <a:xfrm flipH="1">
            <a:off x="242888" y="2756891"/>
            <a:ext cx="4" cy="266406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Text 31"/>
          <p:cNvSpPr txBox="1"/>
          <p:nvPr/>
        </p:nvSpPr>
        <p:spPr>
          <a:xfrm>
            <a:off x="320576" y="2782191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24" name="Text 32"/>
          <p:cNvSpPr txBox="1"/>
          <p:nvPr/>
        </p:nvSpPr>
        <p:spPr>
          <a:xfrm>
            <a:off x="320576" y="2874167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Does it support WhatsApp campaigns too?</a:t>
            </a:r>
          </a:p>
        </p:txBody>
      </p:sp>
      <p:sp>
        <p:nvSpPr>
          <p:cNvPr id="1325" name="Text 33"/>
          <p:cNvSpPr/>
          <p:nvPr/>
        </p:nvSpPr>
        <p:spPr>
          <a:xfrm>
            <a:off x="228600" y="3042342"/>
            <a:ext cx="8686800" cy="39023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26" name="Shape 34"/>
          <p:cNvSpPr/>
          <p:nvPr/>
        </p:nvSpPr>
        <p:spPr>
          <a:xfrm flipH="1">
            <a:off x="242888" y="3042342"/>
            <a:ext cx="4" cy="390231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Text 35"/>
          <p:cNvSpPr txBox="1"/>
          <p:nvPr/>
        </p:nvSpPr>
        <p:spPr>
          <a:xfrm>
            <a:off x="320576" y="3067642"/>
            <a:ext cx="87020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28" name="Text 36"/>
          <p:cNvSpPr txBox="1"/>
          <p:nvPr/>
        </p:nvSpPr>
        <p:spPr>
          <a:xfrm>
            <a:off x="320576" y="3159621"/>
            <a:ext cx="8702052" cy="224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Yes, it does! According to our product documentation, CINNOX supports **WhatsApp marketing campaigns** — for example, businesses use them to send seasonal promotions, holiday specials, and product information to customer...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Text 0"/>
          <p:cNvSpPr/>
          <p:nvPr/>
        </p:nvSpPr>
        <p:spPr>
          <a:xfrm>
            <a:off x="0" y="-2"/>
            <a:ext cx="9144000" cy="634905"/>
          </a:xfrm>
          <a:prstGeom prst="rect">
            <a:avLst/>
          </a:prstGeom>
          <a:solidFill>
            <a:srgbClr val="1B2A4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31" name="Text 1"/>
          <p:cNvSpPr txBox="1"/>
          <p:nvPr/>
        </p:nvSpPr>
        <p:spPr>
          <a:xfrm>
            <a:off x="253899" y="149122"/>
            <a:ext cx="880892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TC-H2 — Vague Request </a:t>
            </a:r>
            <a:r>
              <a:rPr b="1" sz="800"/>
              <a:t>PASS</a:t>
            </a:r>
            <a:r>
              <a:t> </a:t>
            </a:r>
            <a:r>
              <a:rPr b="1" sz="700"/>
              <a:t>REGRESSION</a:t>
            </a:r>
          </a:p>
        </p:txBody>
      </p:sp>
      <p:sp>
        <p:nvSpPr>
          <p:cNvPr id="1332" name="Text 2"/>
          <p:cNvSpPr txBox="1"/>
          <p:nvPr/>
        </p:nvSpPr>
        <p:spPr>
          <a:xfrm>
            <a:off x="507800" y="371325"/>
            <a:ext cx="85499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Error Tolerance</a:t>
            </a:r>
          </a:p>
        </p:txBody>
      </p:sp>
      <p:sp>
        <p:nvSpPr>
          <p:cNvPr id="1333" name="Text 3"/>
          <p:cNvSpPr/>
          <p:nvPr/>
        </p:nvSpPr>
        <p:spPr>
          <a:xfrm>
            <a:off x="228600" y="736400"/>
            <a:ext cx="8686800" cy="136331"/>
          </a:xfrm>
          <a:prstGeom prst="roundRect">
            <a:avLst>
              <a:gd name="adj" fmla="val 27948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34" name="Text 4"/>
          <p:cNvSpPr txBox="1"/>
          <p:nvPr/>
        </p:nvSpPr>
        <p:spPr>
          <a:xfrm>
            <a:off x="304798" y="761702"/>
            <a:ext cx="87050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v1.3 Discovery Phase: clarifying Q asked. OCC recommended for 10-person phone+WhatsApp team.</a:t>
            </a:r>
          </a:p>
        </p:txBody>
      </p:sp>
      <p:sp>
        <p:nvSpPr>
          <p:cNvPr id="1335" name="Shape 7"/>
          <p:cNvSpPr/>
          <p:nvPr/>
        </p:nvSpPr>
        <p:spPr>
          <a:xfrm flipH="1">
            <a:off x="185733" y="1056678"/>
            <a:ext cx="4" cy="3653882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6" name="Shape 60"/>
          <p:cNvSpPr/>
          <p:nvPr/>
        </p:nvSpPr>
        <p:spPr>
          <a:xfrm flipH="1">
            <a:off x="4567234" y="-2331602"/>
            <a:ext cx="4" cy="5158835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Shape 61"/>
          <p:cNvSpPr/>
          <p:nvPr/>
        </p:nvSpPr>
        <p:spPr>
          <a:xfrm>
            <a:off x="4610098" y="2822466"/>
            <a:ext cx="4305303" cy="4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Shape 62"/>
          <p:cNvSpPr/>
          <p:nvPr/>
        </p:nvSpPr>
        <p:spPr>
          <a:xfrm flipH="1">
            <a:off x="271458" y="1056678"/>
            <a:ext cx="4" cy="5158834"/>
          </a:xfrm>
          <a:prstGeom prst="line">
            <a:avLst/>
          </a:prstGeom>
          <a:ln>
            <a:solidFill>
              <a:srgbClr val="E0E0E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Text 63"/>
          <p:cNvSpPr/>
          <p:nvPr/>
        </p:nvSpPr>
        <p:spPr>
          <a:xfrm>
            <a:off x="314321" y="1113829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40" name="Shape 64"/>
          <p:cNvSpPr/>
          <p:nvPr/>
        </p:nvSpPr>
        <p:spPr>
          <a:xfrm>
            <a:off x="328608" y="1113829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 65"/>
          <p:cNvSpPr txBox="1"/>
          <p:nvPr/>
        </p:nvSpPr>
        <p:spPr>
          <a:xfrm>
            <a:off x="406297" y="1139129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42" name="Text 66"/>
          <p:cNvSpPr txBox="1"/>
          <p:nvPr/>
        </p:nvSpPr>
        <p:spPr>
          <a:xfrm>
            <a:off x="406297" y="1231104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want something for customer service.</a:t>
            </a:r>
          </a:p>
        </p:txBody>
      </p:sp>
      <p:sp>
        <p:nvSpPr>
          <p:cNvPr id="1343" name="Text 67"/>
          <p:cNvSpPr/>
          <p:nvPr/>
        </p:nvSpPr>
        <p:spPr>
          <a:xfrm>
            <a:off x="314321" y="1382762"/>
            <a:ext cx="4210051" cy="357191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44" name="Shape 68"/>
          <p:cNvSpPr/>
          <p:nvPr/>
        </p:nvSpPr>
        <p:spPr>
          <a:xfrm>
            <a:off x="328608" y="1382762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5" name="Text 69"/>
          <p:cNvSpPr txBox="1"/>
          <p:nvPr/>
        </p:nvSpPr>
        <p:spPr>
          <a:xfrm>
            <a:off x="406297" y="1408062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46" name="Text 70"/>
          <p:cNvSpPr txBox="1"/>
          <p:nvPr/>
        </p:nvSpPr>
        <p:spPr>
          <a:xfrm>
            <a:off x="406297" y="1500037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I'd be happy to help with that! To make sure I connect you with the right resources — are you an existing CINNOX custo...</a:t>
            </a:r>
          </a:p>
        </p:txBody>
      </p:sp>
      <p:sp>
        <p:nvSpPr>
          <p:cNvPr id="1347" name="Text 71"/>
          <p:cNvSpPr/>
          <p:nvPr/>
        </p:nvSpPr>
        <p:spPr>
          <a:xfrm>
            <a:off x="314321" y="1758999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48" name="Shape 72"/>
          <p:cNvSpPr/>
          <p:nvPr/>
        </p:nvSpPr>
        <p:spPr>
          <a:xfrm>
            <a:off x="328608" y="1758999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9" name="Text 73"/>
          <p:cNvSpPr txBox="1"/>
          <p:nvPr/>
        </p:nvSpPr>
        <p:spPr>
          <a:xfrm>
            <a:off x="406297" y="1784300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50" name="Text 74"/>
          <p:cNvSpPr txBox="1"/>
          <p:nvPr/>
        </p:nvSpPr>
        <p:spPr>
          <a:xfrm>
            <a:off x="406297" y="1876275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</a:t>
            </a:r>
          </a:p>
        </p:txBody>
      </p:sp>
      <p:sp>
        <p:nvSpPr>
          <p:cNvPr id="1351" name="Text 75"/>
          <p:cNvSpPr/>
          <p:nvPr/>
        </p:nvSpPr>
        <p:spPr>
          <a:xfrm>
            <a:off x="314321" y="2027932"/>
            <a:ext cx="4210051" cy="249885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52" name="Shape 76"/>
          <p:cNvSpPr/>
          <p:nvPr/>
        </p:nvSpPr>
        <p:spPr>
          <a:xfrm>
            <a:off x="328608" y="2027932"/>
            <a:ext cx="4" cy="249885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Text 77"/>
          <p:cNvSpPr txBox="1"/>
          <p:nvPr/>
        </p:nvSpPr>
        <p:spPr>
          <a:xfrm>
            <a:off x="406297" y="2053233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54" name="Text 78"/>
          <p:cNvSpPr txBox="1"/>
          <p:nvPr/>
        </p:nvSpPr>
        <p:spPr>
          <a:xfrm>
            <a:off x="406297" y="2145208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Great! May I start with your name?</a:t>
            </a:r>
          </a:p>
        </p:txBody>
      </p:sp>
      <p:sp>
        <p:nvSpPr>
          <p:cNvPr id="1355" name="Text 79"/>
          <p:cNvSpPr/>
          <p:nvPr/>
        </p:nvSpPr>
        <p:spPr>
          <a:xfrm>
            <a:off x="314321" y="2296864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56" name="Shape 80"/>
          <p:cNvSpPr/>
          <p:nvPr/>
        </p:nvSpPr>
        <p:spPr>
          <a:xfrm>
            <a:off x="328608" y="2296864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Text 81"/>
          <p:cNvSpPr txBox="1"/>
          <p:nvPr/>
        </p:nvSpPr>
        <p:spPr>
          <a:xfrm>
            <a:off x="406297" y="2322165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58" name="Text 82"/>
          <p:cNvSpPr txBox="1"/>
          <p:nvPr/>
        </p:nvSpPr>
        <p:spPr>
          <a:xfrm>
            <a:off x="406297" y="2414141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Sarah Mitchell，Austin Digital Agency，sarah@austindigital.com，+1-512-555-0123</a:t>
            </a:r>
          </a:p>
        </p:txBody>
      </p:sp>
      <p:sp>
        <p:nvSpPr>
          <p:cNvPr id="1359" name="Text 83"/>
          <p:cNvSpPr/>
          <p:nvPr/>
        </p:nvSpPr>
        <p:spPr>
          <a:xfrm>
            <a:off x="314321" y="2565797"/>
            <a:ext cx="4210051" cy="35719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60" name="Shape 84"/>
          <p:cNvSpPr/>
          <p:nvPr/>
        </p:nvSpPr>
        <p:spPr>
          <a:xfrm>
            <a:off x="328608" y="2565797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Text 85"/>
          <p:cNvSpPr txBox="1"/>
          <p:nvPr/>
        </p:nvSpPr>
        <p:spPr>
          <a:xfrm>
            <a:off x="406297" y="2591098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62" name="Text 86"/>
          <p:cNvSpPr txBox="1"/>
          <p:nvPr/>
        </p:nvSpPr>
        <p:spPr>
          <a:xfrm>
            <a:off x="406297" y="2683073"/>
            <a:ext cx="4135771" cy="50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Thanks, Sarah! Let me confirm your details: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**Name:** Sarah Mitchell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**Company:** Austin Digital Agency</a:t>
            </a: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**Email:*...</a:t>
            </a:r>
          </a:p>
        </p:txBody>
      </p:sp>
      <p:sp>
        <p:nvSpPr>
          <p:cNvPr id="1363" name="Text 87"/>
          <p:cNvSpPr/>
          <p:nvPr/>
        </p:nvSpPr>
        <p:spPr>
          <a:xfrm>
            <a:off x="314321" y="2942033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64" name="Shape 88"/>
          <p:cNvSpPr/>
          <p:nvPr/>
        </p:nvSpPr>
        <p:spPr>
          <a:xfrm>
            <a:off x="328608" y="2942033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5" name="Text 89"/>
          <p:cNvSpPr txBox="1"/>
          <p:nvPr/>
        </p:nvSpPr>
        <p:spPr>
          <a:xfrm>
            <a:off x="406297" y="2967333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66" name="Text 90"/>
          <p:cNvSpPr txBox="1"/>
          <p:nvPr/>
        </p:nvSpPr>
        <p:spPr>
          <a:xfrm>
            <a:off x="406297" y="3059308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367" name="Text 91"/>
          <p:cNvSpPr/>
          <p:nvPr/>
        </p:nvSpPr>
        <p:spPr>
          <a:xfrm>
            <a:off x="314321" y="3210966"/>
            <a:ext cx="4210051" cy="35719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68" name="Shape 92"/>
          <p:cNvSpPr/>
          <p:nvPr/>
        </p:nvSpPr>
        <p:spPr>
          <a:xfrm>
            <a:off x="328608" y="3210966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Text 93"/>
          <p:cNvSpPr txBox="1"/>
          <p:nvPr/>
        </p:nvSpPr>
        <p:spPr>
          <a:xfrm>
            <a:off x="406297" y="3236266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70" name="Text 94"/>
          <p:cNvSpPr txBox="1"/>
          <p:nvPr/>
        </p:nvSpPr>
        <p:spPr>
          <a:xfrm>
            <a:off x="406297" y="3328241"/>
            <a:ext cx="4135771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you, Sarah! Your information has been saved.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Now, you mentioned you're looking for something for customer service...</a:t>
            </a:r>
          </a:p>
        </p:txBody>
      </p:sp>
      <p:sp>
        <p:nvSpPr>
          <p:cNvPr id="1371" name="Text 95"/>
          <p:cNvSpPr/>
          <p:nvPr/>
        </p:nvSpPr>
        <p:spPr>
          <a:xfrm>
            <a:off x="314321" y="3587203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72" name="Shape 96"/>
          <p:cNvSpPr/>
          <p:nvPr/>
        </p:nvSpPr>
        <p:spPr>
          <a:xfrm>
            <a:off x="328608" y="3587203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Text 97"/>
          <p:cNvSpPr txBox="1"/>
          <p:nvPr/>
        </p:nvSpPr>
        <p:spPr>
          <a:xfrm>
            <a:off x="406297" y="3612505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74" name="Text 98"/>
          <p:cNvSpPr txBox="1"/>
          <p:nvPr/>
        </p:nvSpPr>
        <p:spPr>
          <a:xfrm>
            <a:off x="406297" y="3704480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have about 10 people on our team.</a:t>
            </a:r>
          </a:p>
        </p:txBody>
      </p:sp>
      <p:sp>
        <p:nvSpPr>
          <p:cNvPr id="1375" name="Text 99"/>
          <p:cNvSpPr/>
          <p:nvPr/>
        </p:nvSpPr>
        <p:spPr>
          <a:xfrm>
            <a:off x="314321" y="3856137"/>
            <a:ext cx="4210051" cy="35719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76" name="Shape 100"/>
          <p:cNvSpPr/>
          <p:nvPr/>
        </p:nvSpPr>
        <p:spPr>
          <a:xfrm>
            <a:off x="328608" y="3856137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Text 101"/>
          <p:cNvSpPr txBox="1"/>
          <p:nvPr/>
        </p:nvSpPr>
        <p:spPr>
          <a:xfrm>
            <a:off x="406297" y="3881437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78" name="Text 102"/>
          <p:cNvSpPr txBox="1"/>
          <p:nvPr/>
        </p:nvSpPr>
        <p:spPr>
          <a:xfrm>
            <a:off x="406297" y="3973412"/>
            <a:ext cx="4135771" cy="199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Thanks for sharing that, Sarah! Let me look up what CINNOX offers for customer service teams your size.Great news, Sarah...</a:t>
            </a:r>
          </a:p>
        </p:txBody>
      </p:sp>
      <p:sp>
        <p:nvSpPr>
          <p:cNvPr id="1379" name="Text 103"/>
          <p:cNvSpPr/>
          <p:nvPr/>
        </p:nvSpPr>
        <p:spPr>
          <a:xfrm>
            <a:off x="314321" y="4232373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80" name="Shape 104"/>
          <p:cNvSpPr/>
          <p:nvPr/>
        </p:nvSpPr>
        <p:spPr>
          <a:xfrm>
            <a:off x="328608" y="4232373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Text 105"/>
          <p:cNvSpPr txBox="1"/>
          <p:nvPr/>
        </p:nvSpPr>
        <p:spPr>
          <a:xfrm>
            <a:off x="406297" y="4257675"/>
            <a:ext cx="4135771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82" name="Text 106"/>
          <p:cNvSpPr txBox="1"/>
          <p:nvPr/>
        </p:nvSpPr>
        <p:spPr>
          <a:xfrm>
            <a:off x="406297" y="4321174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weostly phone calls, but we also use WhatsApp with some customers.</a:t>
            </a:r>
          </a:p>
        </p:txBody>
      </p:sp>
      <p:sp>
        <p:nvSpPr>
          <p:cNvPr id="1383" name="Text 107"/>
          <p:cNvSpPr/>
          <p:nvPr/>
        </p:nvSpPr>
        <p:spPr>
          <a:xfrm>
            <a:off x="4657724" y="1113027"/>
            <a:ext cx="4210051" cy="35719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84" name="Shape 108"/>
          <p:cNvSpPr/>
          <p:nvPr/>
        </p:nvSpPr>
        <p:spPr>
          <a:xfrm>
            <a:off x="4672012" y="1113027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5" name="Text 109"/>
          <p:cNvSpPr txBox="1"/>
          <p:nvPr/>
        </p:nvSpPr>
        <p:spPr>
          <a:xfrm>
            <a:off x="4749701" y="1138327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86" name="Text 110"/>
          <p:cNvSpPr txBox="1"/>
          <p:nvPr/>
        </p:nvSpPr>
        <p:spPr>
          <a:xfrm>
            <a:off x="4749701" y="1230302"/>
            <a:ext cx="4135771" cy="199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Great to know! Let me check what CINNOX offers for phone and WhatsApp support.CINNOX is a great fit for that, Sarah! Acc...</a:t>
            </a:r>
          </a:p>
        </p:txBody>
      </p:sp>
      <p:sp>
        <p:nvSpPr>
          <p:cNvPr id="1387" name="Text 111"/>
          <p:cNvSpPr/>
          <p:nvPr/>
        </p:nvSpPr>
        <p:spPr>
          <a:xfrm>
            <a:off x="4657724" y="1489264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88" name="Shape 112"/>
          <p:cNvSpPr/>
          <p:nvPr/>
        </p:nvSpPr>
        <p:spPr>
          <a:xfrm>
            <a:off x="4672012" y="1489261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Text 113"/>
          <p:cNvSpPr txBox="1"/>
          <p:nvPr/>
        </p:nvSpPr>
        <p:spPr>
          <a:xfrm>
            <a:off x="4749701" y="1514564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90" name="Text 114"/>
          <p:cNvSpPr txBox="1"/>
          <p:nvPr/>
        </p:nvSpPr>
        <p:spPr>
          <a:xfrm>
            <a:off x="4749701" y="1606541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would you recommend?</a:t>
            </a:r>
          </a:p>
        </p:txBody>
      </p:sp>
      <p:sp>
        <p:nvSpPr>
          <p:cNvPr id="1391" name="Text 115"/>
          <p:cNvSpPr/>
          <p:nvPr/>
        </p:nvSpPr>
        <p:spPr>
          <a:xfrm>
            <a:off x="4657724" y="1758196"/>
            <a:ext cx="4210051" cy="35719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92" name="Shape 116"/>
          <p:cNvSpPr/>
          <p:nvPr/>
        </p:nvSpPr>
        <p:spPr>
          <a:xfrm>
            <a:off x="4672012" y="1758196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Text 117"/>
          <p:cNvSpPr txBox="1"/>
          <p:nvPr/>
        </p:nvSpPr>
        <p:spPr>
          <a:xfrm>
            <a:off x="4749701" y="1783496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394" name="Text 118"/>
          <p:cNvSpPr txBox="1"/>
          <p:nvPr/>
        </p:nvSpPr>
        <p:spPr>
          <a:xfrm>
            <a:off x="4749701" y="1875473"/>
            <a:ext cx="4135771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Let me pull up our plans to find the best match for your team.Based on our pricing documentation, I'd recommend the **Om...</a:t>
            </a:r>
          </a:p>
        </p:txBody>
      </p:sp>
      <p:sp>
        <p:nvSpPr>
          <p:cNvPr id="1395" name="Text 119"/>
          <p:cNvSpPr/>
          <p:nvPr/>
        </p:nvSpPr>
        <p:spPr>
          <a:xfrm>
            <a:off x="4657724" y="2134434"/>
            <a:ext cx="4210051" cy="249885"/>
          </a:xfrm>
          <a:prstGeom prst="rect">
            <a:avLst/>
          </a:prstGeom>
          <a:solidFill>
            <a:srgbClr val="E8F4F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96" name="Shape 120"/>
          <p:cNvSpPr/>
          <p:nvPr/>
        </p:nvSpPr>
        <p:spPr>
          <a:xfrm>
            <a:off x="4672012" y="2134432"/>
            <a:ext cx="4" cy="249885"/>
          </a:xfrm>
          <a:prstGeom prst="line">
            <a:avLst/>
          </a:prstGeom>
          <a:ln w="28575">
            <a:solidFill>
              <a:srgbClr val="2E86D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Text 121"/>
          <p:cNvSpPr txBox="1"/>
          <p:nvPr/>
        </p:nvSpPr>
        <p:spPr>
          <a:xfrm>
            <a:off x="4749701" y="2159734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E86D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1398" name="Text 122"/>
          <p:cNvSpPr txBox="1"/>
          <p:nvPr/>
        </p:nvSpPr>
        <p:spPr>
          <a:xfrm>
            <a:off x="4749701" y="2251711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yes</a:t>
            </a:r>
          </a:p>
        </p:txBody>
      </p:sp>
      <p:sp>
        <p:nvSpPr>
          <p:cNvPr id="1399" name="Text 123"/>
          <p:cNvSpPr/>
          <p:nvPr/>
        </p:nvSpPr>
        <p:spPr>
          <a:xfrm>
            <a:off x="4657724" y="2403366"/>
            <a:ext cx="4210051" cy="357192"/>
          </a:xfrm>
          <a:prstGeom prst="rect">
            <a:avLst/>
          </a:prstGeom>
          <a:solidFill>
            <a:srgbClr val="F0F0F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00" name="Shape 124"/>
          <p:cNvSpPr/>
          <p:nvPr/>
        </p:nvSpPr>
        <p:spPr>
          <a:xfrm>
            <a:off x="4672012" y="2403366"/>
            <a:ext cx="4" cy="357192"/>
          </a:xfrm>
          <a:prstGeom prst="line">
            <a:avLst/>
          </a:prstGeom>
          <a:ln w="28575">
            <a:solidFill>
              <a:srgbClr val="27AE6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Text 125"/>
          <p:cNvSpPr txBox="1"/>
          <p:nvPr/>
        </p:nvSpPr>
        <p:spPr>
          <a:xfrm>
            <a:off x="4749701" y="2428666"/>
            <a:ext cx="413577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00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Bot</a:t>
            </a:r>
          </a:p>
        </p:txBody>
      </p:sp>
      <p:sp>
        <p:nvSpPr>
          <p:cNvPr id="1402" name="Text 126"/>
          <p:cNvSpPr txBox="1"/>
          <p:nvPr/>
        </p:nvSpPr>
        <p:spPr>
          <a:xfrm>
            <a:off x="4749701" y="2520643"/>
            <a:ext cx="4135771" cy="30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I'm connecting you with our sales team now. They'll be with you shortly.</a:t>
            </a:r>
          </a:p>
          <a:p>
            <a:pPr>
              <a:lnSpc>
                <a:spcPts val="800"/>
              </a:lnSpc>
              <a:defRPr sz="600">
                <a:latin typeface="+mn-lt"/>
                <a:ea typeface="+mn-ea"/>
                <a:cs typeface="+mn-cs"/>
                <a:sym typeface="Calibri"/>
              </a:defRPr>
            </a:pPr>
          </a:p>
          <a:p>
            <a:pPr>
              <a:lnSpc>
                <a:spcPts val="800"/>
              </a:lnSpc>
              <a:defRPr sz="60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They'll have your details on file and can put 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05" name="Text 1"/>
          <p:cNvSpPr txBox="1"/>
          <p:nvPr/>
        </p:nvSpPr>
        <p:spPr>
          <a:xfrm>
            <a:off x="548640" y="317498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E293B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报价模式概览</a:t>
            </a:r>
          </a:p>
        </p:txBody>
      </p:sp>
      <p:sp>
        <p:nvSpPr>
          <p:cNvPr id="1406" name="Text 2"/>
          <p:cNvSpPr txBox="1"/>
          <p:nvPr/>
        </p:nvSpPr>
        <p:spPr>
          <a:xfrm>
            <a:off x="548640" y="984084"/>
            <a:ext cx="2011679" cy="592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2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$0.1</a:t>
            </a:r>
          </a:p>
        </p:txBody>
      </p:sp>
      <p:sp>
        <p:nvSpPr>
          <p:cNvPr id="1407" name="Text 3"/>
          <p:cNvSpPr txBox="1"/>
          <p:nvPr/>
        </p:nvSpPr>
        <p:spPr>
          <a:xfrm>
            <a:off x="2560318" y="1153160"/>
            <a:ext cx="3657604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USD / </a:t>
            </a: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资源点（基础单价）</a:t>
            </a:r>
          </a:p>
        </p:txBody>
      </p:sp>
      <p:sp>
        <p:nvSpPr>
          <p:cNvPr id="1408" name="Shape 4"/>
          <p:cNvSpPr/>
          <p:nvPr/>
        </p:nvSpPr>
        <p:spPr>
          <a:xfrm>
            <a:off x="548640" y="182880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09" name="Text 5"/>
          <p:cNvSpPr txBox="1"/>
          <p:nvPr/>
        </p:nvSpPr>
        <p:spPr>
          <a:xfrm>
            <a:off x="685798" y="1988820"/>
            <a:ext cx="164592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891B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按需使用</a:t>
            </a:r>
          </a:p>
        </p:txBody>
      </p:sp>
      <p:sp>
        <p:nvSpPr>
          <p:cNvPr id="1410" name="Text 6"/>
          <p:cNvSpPr txBox="1"/>
          <p:nvPr/>
        </p:nvSpPr>
        <p:spPr>
          <a:xfrm>
            <a:off x="685798" y="2405377"/>
            <a:ext cx="1645924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用多少付多少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无固定成本压力</a:t>
            </a:r>
          </a:p>
        </p:txBody>
      </p:sp>
      <p:sp>
        <p:nvSpPr>
          <p:cNvPr id="1411" name="Shape 7"/>
          <p:cNvSpPr/>
          <p:nvPr/>
        </p:nvSpPr>
        <p:spPr>
          <a:xfrm>
            <a:off x="2697478" y="182880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12" name="Text 8"/>
          <p:cNvSpPr txBox="1"/>
          <p:nvPr/>
        </p:nvSpPr>
        <p:spPr>
          <a:xfrm>
            <a:off x="2834638" y="1988820"/>
            <a:ext cx="164592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891B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场景分级</a:t>
            </a:r>
          </a:p>
        </p:txBody>
      </p:sp>
      <p:sp>
        <p:nvSpPr>
          <p:cNvPr id="1413" name="Text 9"/>
          <p:cNvSpPr txBox="1"/>
          <p:nvPr/>
        </p:nvSpPr>
        <p:spPr>
          <a:xfrm>
            <a:off x="2834638" y="2403300"/>
            <a:ext cx="1645924" cy="359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客服场景</a:t>
            </a:r>
            <a:r>
              <a:rPr>
                <a:latin typeface="Arial"/>
                <a:ea typeface="Arial"/>
                <a:cs typeface="Arial"/>
                <a:sym typeface="Arial"/>
              </a:rPr>
              <a:t>/</a:t>
            </a:r>
            <a:r>
              <a:t>销售场景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按复杂度定价（一般</a:t>
            </a:r>
            <a:r>
              <a:rPr>
                <a:latin typeface="Arial"/>
                <a:ea typeface="Arial"/>
                <a:cs typeface="Arial"/>
                <a:sym typeface="Arial"/>
              </a:rPr>
              <a:t>/</a:t>
            </a:r>
            <a:r>
              <a:t>专家）</a:t>
            </a:r>
          </a:p>
        </p:txBody>
      </p:sp>
      <p:sp>
        <p:nvSpPr>
          <p:cNvPr id="1414" name="Shape 10"/>
          <p:cNvSpPr/>
          <p:nvPr/>
        </p:nvSpPr>
        <p:spPr>
          <a:xfrm>
            <a:off x="4846320" y="1828800"/>
            <a:ext cx="1920241" cy="11887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15" name="Text 11"/>
          <p:cNvSpPr txBox="1"/>
          <p:nvPr/>
        </p:nvSpPr>
        <p:spPr>
          <a:xfrm>
            <a:off x="4983479" y="1988820"/>
            <a:ext cx="164592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891B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模态叠加</a:t>
            </a:r>
          </a:p>
        </p:txBody>
      </p:sp>
      <p:sp>
        <p:nvSpPr>
          <p:cNvPr id="1416" name="Text 12"/>
          <p:cNvSpPr txBox="1"/>
          <p:nvPr/>
        </p:nvSpPr>
        <p:spPr>
          <a:xfrm>
            <a:off x="4983479" y="2403300"/>
            <a:ext cx="1645923" cy="359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语音</a:t>
            </a:r>
            <a:r>
              <a:rPr>
                <a:latin typeface="Arial"/>
                <a:ea typeface="Arial"/>
                <a:cs typeface="Arial"/>
                <a:sym typeface="Arial"/>
              </a:rPr>
              <a:t>/</a:t>
            </a:r>
            <a:r>
              <a:t>数字人输出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额外叠加计费</a:t>
            </a:r>
          </a:p>
        </p:txBody>
      </p:sp>
      <p:sp>
        <p:nvSpPr>
          <p:cNvPr id="1417" name="Shape 13"/>
          <p:cNvSpPr/>
          <p:nvPr/>
        </p:nvSpPr>
        <p:spPr>
          <a:xfrm>
            <a:off x="6995159" y="1828800"/>
            <a:ext cx="1920241" cy="11887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18" name="Text 14"/>
          <p:cNvSpPr txBox="1"/>
          <p:nvPr/>
        </p:nvSpPr>
        <p:spPr>
          <a:xfrm>
            <a:off x="7132318" y="1988820"/>
            <a:ext cx="164592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891B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月度释放</a:t>
            </a:r>
          </a:p>
        </p:txBody>
      </p:sp>
      <p:sp>
        <p:nvSpPr>
          <p:cNvPr id="1419" name="Text 15"/>
          <p:cNvSpPr txBox="1"/>
          <p:nvPr/>
        </p:nvSpPr>
        <p:spPr>
          <a:xfrm>
            <a:off x="7132318" y="2405377"/>
            <a:ext cx="164592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储值后按月释放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1000">
                <a:solidFill>
                  <a:srgbClr val="64748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灵活控制预算</a:t>
            </a:r>
          </a:p>
        </p:txBody>
      </p:sp>
      <p:sp>
        <p:nvSpPr>
          <p:cNvPr id="1420" name="Text 16"/>
          <p:cNvSpPr txBox="1"/>
          <p:nvPr/>
        </p:nvSpPr>
        <p:spPr>
          <a:xfrm>
            <a:off x="548638" y="3129552"/>
            <a:ext cx="365760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293B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场景定价对比</a:t>
            </a:r>
          </a:p>
        </p:txBody>
      </p:sp>
      <p:graphicFrame>
        <p:nvGraphicFramePr>
          <p:cNvPr id="1421" name="Table 0"/>
          <p:cNvGraphicFramePr/>
          <p:nvPr/>
        </p:nvGraphicFramePr>
        <p:xfrm>
          <a:off x="548640" y="3462349"/>
          <a:ext cx="8046720" cy="157277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43200"/>
                <a:gridCol w="2651760"/>
                <a:gridCol w="265176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场景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defRPr>
                      </a:pPr>
                      <a:r>
                        <a:t>中国内地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t>香港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全球其他地区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defRPr>
                      </a:pPr>
                      <a:r>
                        <a:t>一般客服（文本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t>被动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t>咨询）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1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资源点</a:t>
                      </a:r>
                      <a:r>
                        <a:t>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次对话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2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资源点</a:t>
                      </a:r>
                      <a:r>
                        <a:t>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次对话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defRPr>
                      </a:pPr>
                      <a:r>
                        <a:t>专家客服（文本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t>主动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t>售后）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3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资源点</a:t>
                      </a:r>
                      <a:r>
                        <a:t>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次对话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4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资源点</a:t>
                      </a:r>
                      <a:r>
                        <a:t>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次对话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defRPr>
                      </a:pPr>
                      <a:r>
                        <a:t>一般销售（文本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t>主动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t>商机）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3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资源点</a:t>
                      </a:r>
                      <a:r>
                        <a:t>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次对话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4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资源点</a:t>
                      </a:r>
                      <a:r>
                        <a:t>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次对话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defRPr>
                      </a:pPr>
                      <a:r>
                        <a:t>专家销售（文本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t>主动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t>方案）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8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资源点</a:t>
                      </a:r>
                      <a:r>
                        <a:t>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次对话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9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资源点</a:t>
                      </a:r>
                      <a:r>
                        <a:t>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次对话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defRPr>
                      </a:pPr>
                      <a:r>
                        <a:t>流式语音 </a:t>
                      </a:r>
                      <a:r>
                        <a:rPr>
                          <a:latin typeface="Arial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t>数字人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+1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资源点</a:t>
                      </a:r>
                      <a:r>
                        <a:t>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分钟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+2 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资源点</a:t>
                      </a:r>
                      <a:r>
                        <a:t>/</a:t>
                      </a:r>
                      <a:r>
                        <a:rPr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分钟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422" name="Text 17"/>
          <p:cNvSpPr txBox="1"/>
          <p:nvPr/>
        </p:nvSpPr>
        <p:spPr>
          <a:xfrm>
            <a:off x="8092439" y="4789082"/>
            <a:ext cx="822963" cy="20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8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