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ry Cao" userId="9b0b4a041cf61ded" providerId="LiveId" clId="{36D2BDD4-F3C7-4B07-95AE-7A4870F8DA2A}"/>
    <pc:docChg chg="modSld">
      <pc:chgData name="Jerry Cao" userId="9b0b4a041cf61ded" providerId="LiveId" clId="{36D2BDD4-F3C7-4B07-95AE-7A4870F8DA2A}" dt="2026-02-10T05:33:34.736" v="208" actId="20577"/>
      <pc:docMkLst>
        <pc:docMk/>
      </pc:docMkLst>
      <pc:sldChg chg="modSp mod">
        <pc:chgData name="Jerry Cao" userId="9b0b4a041cf61ded" providerId="LiveId" clId="{36D2BDD4-F3C7-4B07-95AE-7A4870F8DA2A}" dt="2026-02-10T05:31:17.948" v="174" actId="20577"/>
        <pc:sldMkLst>
          <pc:docMk/>
          <pc:sldMk cId="0" sldId="277"/>
        </pc:sldMkLst>
        <pc:spChg chg="mod">
          <ac:chgData name="Jerry Cao" userId="9b0b4a041cf61ded" providerId="LiveId" clId="{36D2BDD4-F3C7-4B07-95AE-7A4870F8DA2A}" dt="2026-02-10T05:28:02.186" v="25"/>
          <ac:spMkLst>
            <pc:docMk/>
            <pc:sldMk cId="0" sldId="277"/>
            <ac:spMk id="11" creationId="{00000000-0000-0000-0000-000000000000}"/>
          </ac:spMkLst>
        </pc:spChg>
        <pc:spChg chg="mod">
          <ac:chgData name="Jerry Cao" userId="9b0b4a041cf61ded" providerId="LiveId" clId="{36D2BDD4-F3C7-4B07-95AE-7A4870F8DA2A}" dt="2026-02-10T05:27:28.511" v="5"/>
          <ac:spMkLst>
            <pc:docMk/>
            <pc:sldMk cId="0" sldId="277"/>
            <ac:spMk id="18" creationId="{00000000-0000-0000-0000-000000000000}"/>
          </ac:spMkLst>
        </pc:spChg>
        <pc:graphicFrameChg chg="mod modGraphic">
          <ac:chgData name="Jerry Cao" userId="9b0b4a041cf61ded" providerId="LiveId" clId="{36D2BDD4-F3C7-4B07-95AE-7A4870F8DA2A}" dt="2026-02-10T05:31:17.948" v="174" actId="20577"/>
          <ac:graphicFrameMkLst>
            <pc:docMk/>
            <pc:sldMk cId="0" sldId="277"/>
            <ac:graphicFrameMk id="19" creationId="{00000000-0000-0000-0000-000000000000}"/>
          </ac:graphicFrameMkLst>
        </pc:graphicFrameChg>
      </pc:sldChg>
      <pc:sldChg chg="modSp mod">
        <pc:chgData name="Jerry Cao" userId="9b0b4a041cf61ded" providerId="LiveId" clId="{36D2BDD4-F3C7-4B07-95AE-7A4870F8DA2A}" dt="2026-02-10T05:33:34.736" v="208" actId="20577"/>
        <pc:sldMkLst>
          <pc:docMk/>
          <pc:sldMk cId="0" sldId="278"/>
        </pc:sldMkLst>
        <pc:graphicFrameChg chg="mod modGraphic">
          <ac:chgData name="Jerry Cao" userId="9b0b4a041cf61ded" providerId="LiveId" clId="{36D2BDD4-F3C7-4B07-95AE-7A4870F8DA2A}" dt="2026-02-10T05:33:34.736" v="208" actId="20577"/>
          <ac:graphicFrameMkLst>
            <pc:docMk/>
            <pc:sldMk cId="0" sldId="278"/>
            <ac:graphicFrameMk id="10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8660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0805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EZAgent AI 智能对话系统  |  M800 / CinnoX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0" y="73152"/>
            <a:ext cx="54864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2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EZAgent AI</a:t>
            </a:r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智能对话系统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客户服务 × 营销销售  一体化解决方案</a:t>
            </a:r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22860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Text 8"/>
          <p:cNvSpPr/>
          <p:nvPr/>
        </p:nvSpPr>
        <p:spPr>
          <a:xfrm>
            <a:off x="731520" y="3977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让每一次对话都更专业</a:t>
            </a:r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M800 / CinnoX 合作伙伴专属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您是否面临这些挑战？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在当今竞争激烈的市场环境中，企业在客户服务和销售领域普遍面临以下挑战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548640" y="1350010"/>
            <a:ext cx="2846070" cy="1016635"/>
            <a:chOff x="864" y="2376"/>
            <a:chExt cx="6048" cy="2160"/>
          </a:xfrm>
        </p:grpSpPr>
        <p:sp>
          <p:nvSpPr>
            <p:cNvPr id="5" name="Shape 3"/>
            <p:cNvSpPr/>
            <p:nvPr/>
          </p:nvSpPr>
          <p:spPr>
            <a:xfrm>
              <a:off x="864" y="2376"/>
              <a:ext cx="6048" cy="2160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864" y="2376"/>
              <a:ext cx="86" cy="2160"/>
            </a:xfrm>
            <a:prstGeom prst="rect">
              <a:avLst/>
            </a:prstGeom>
            <a:solidFill>
              <a:srgbClr val="EF4444"/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224" y="2880"/>
              <a:ext cx="936" cy="936"/>
            </a:xfrm>
            <a:prstGeom prst="ellipse">
              <a:avLst/>
            </a:prstGeom>
            <a:solidFill>
              <a:srgbClr val="EF4444">
                <a:alpha val="85000"/>
              </a:srgbClr>
            </a:solidFill>
          </p:spPr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0" y="3096"/>
              <a:ext cx="504" cy="504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2448" y="2664"/>
              <a:ext cx="403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Arial" panose="020B0604020202090204" pitchFamily="34" charset="0"/>
                  <a:ea typeface="微软雅黑" panose="020B0703020204020201" charset="-122"/>
                  <a:cs typeface="Trebuchet MS" panose="020B0603020202020204" pitchFamily="34" charset="-120"/>
                </a:rPr>
                <a:t>客服响应慢</a:t>
              </a:r>
            </a:p>
          </p:txBody>
        </p:sp>
        <p:sp>
          <p:nvSpPr>
            <p:cNvPr id="10" name="Text 7"/>
            <p:cNvSpPr/>
            <p:nvPr/>
          </p:nvSpPr>
          <p:spPr>
            <a:xfrm>
              <a:off x="2448" y="3240"/>
              <a:ext cx="4032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anose="020B0604020202090204" pitchFamily="34" charset="0"/>
                  <a:ea typeface="微软雅黑" panose="020B0703020204020201" charset="-122"/>
                  <a:cs typeface="Calibri" pitchFamily="34" charset="-120"/>
                </a:rPr>
                <a:t>客户等待超过30秒，满意度下降20-30%，大量客户转向竞争对手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467735" y="2481580"/>
            <a:ext cx="2844800" cy="1016000"/>
            <a:chOff x="7488" y="2376"/>
            <a:chExt cx="6048" cy="2160"/>
          </a:xfrm>
        </p:grpSpPr>
        <p:sp>
          <p:nvSpPr>
            <p:cNvPr id="11" name="Shape 8"/>
            <p:cNvSpPr/>
            <p:nvPr/>
          </p:nvSpPr>
          <p:spPr>
            <a:xfrm>
              <a:off x="7488" y="2376"/>
              <a:ext cx="6048" cy="2160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Shape 9"/>
            <p:cNvSpPr/>
            <p:nvPr/>
          </p:nvSpPr>
          <p:spPr>
            <a:xfrm>
              <a:off x="7488" y="2376"/>
              <a:ext cx="86" cy="2160"/>
            </a:xfrm>
            <a:prstGeom prst="rect">
              <a:avLst/>
            </a:prstGeom>
            <a:solidFill>
              <a:srgbClr val="F59E0B"/>
            </a:solidFill>
          </p:spPr>
        </p:sp>
        <p:sp>
          <p:nvSpPr>
            <p:cNvPr id="13" name="Shape 10"/>
            <p:cNvSpPr/>
            <p:nvPr/>
          </p:nvSpPr>
          <p:spPr>
            <a:xfrm>
              <a:off x="7848" y="2880"/>
              <a:ext cx="936" cy="936"/>
            </a:xfrm>
            <a:prstGeom prst="ellipse">
              <a:avLst/>
            </a:prstGeom>
            <a:solidFill>
              <a:srgbClr val="F59E0B">
                <a:alpha val="85000"/>
              </a:srgbClr>
            </a:solidFill>
          </p:spPr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64" y="3096"/>
              <a:ext cx="504" cy="504"/>
            </a:xfrm>
            <a:prstGeom prst="rect">
              <a:avLst/>
            </a:prstGeom>
          </p:spPr>
        </p:pic>
        <p:sp>
          <p:nvSpPr>
            <p:cNvPr id="15" name="Text 11"/>
            <p:cNvSpPr/>
            <p:nvPr/>
          </p:nvSpPr>
          <p:spPr>
            <a:xfrm>
              <a:off x="9072" y="2664"/>
              <a:ext cx="403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Arial" panose="020B0604020202090204" pitchFamily="34" charset="0"/>
                  <a:ea typeface="微软雅黑" panose="020B0703020204020201" charset="-122"/>
                  <a:cs typeface="Trebuchet MS" panose="020B0603020202020204" pitchFamily="34" charset="-120"/>
                </a:rPr>
                <a:t>销售话术不统一</a:t>
              </a:r>
            </a:p>
          </p:txBody>
        </p:sp>
        <p:sp>
          <p:nvSpPr>
            <p:cNvPr id="16" name="Text 12"/>
            <p:cNvSpPr/>
            <p:nvPr/>
          </p:nvSpPr>
          <p:spPr>
            <a:xfrm>
              <a:off x="9072" y="3240"/>
              <a:ext cx="4032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anose="020B0604020202090204" pitchFamily="34" charset="0"/>
                  <a:ea typeface="微软雅黑" panose="020B0703020204020201" charset="-122"/>
                  <a:cs typeface="Calibri" pitchFamily="34" charset="-120"/>
                </a:rPr>
                <a:t>10个销售10种说法，转化率波动大，优秀经验无法复制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48640" y="2522855"/>
            <a:ext cx="2846070" cy="1016635"/>
            <a:chOff x="864" y="4896"/>
            <a:chExt cx="6048" cy="2160"/>
          </a:xfrm>
        </p:grpSpPr>
        <p:sp>
          <p:nvSpPr>
            <p:cNvPr id="17" name="Shape 13"/>
            <p:cNvSpPr/>
            <p:nvPr/>
          </p:nvSpPr>
          <p:spPr>
            <a:xfrm>
              <a:off x="864" y="4896"/>
              <a:ext cx="6048" cy="2160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Shape 14"/>
            <p:cNvSpPr/>
            <p:nvPr/>
          </p:nvSpPr>
          <p:spPr>
            <a:xfrm>
              <a:off x="864" y="4896"/>
              <a:ext cx="86" cy="2160"/>
            </a:xfrm>
            <a:prstGeom prst="rect">
              <a:avLst/>
            </a:prstGeom>
            <a:solidFill>
              <a:srgbClr val="065A82"/>
            </a:solidFill>
          </p:spPr>
        </p:sp>
        <p:sp>
          <p:nvSpPr>
            <p:cNvPr id="19" name="Shape 15"/>
            <p:cNvSpPr/>
            <p:nvPr/>
          </p:nvSpPr>
          <p:spPr>
            <a:xfrm>
              <a:off x="1224" y="5400"/>
              <a:ext cx="936" cy="936"/>
            </a:xfrm>
            <a:prstGeom prst="ellipse">
              <a:avLst/>
            </a:prstGeom>
            <a:solidFill>
              <a:srgbClr val="065A82">
                <a:alpha val="85000"/>
              </a:srgbClr>
            </a:solidFill>
          </p:spPr>
        </p:sp>
        <p:pic>
          <p:nvPicPr>
            <p:cNvPr id="20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0" y="5616"/>
              <a:ext cx="504" cy="504"/>
            </a:xfrm>
            <a:prstGeom prst="rect">
              <a:avLst/>
            </a:prstGeom>
          </p:spPr>
        </p:pic>
        <p:sp>
          <p:nvSpPr>
            <p:cNvPr id="21" name="Text 16"/>
            <p:cNvSpPr/>
            <p:nvPr/>
          </p:nvSpPr>
          <p:spPr>
            <a:xfrm>
              <a:off x="2448" y="5184"/>
              <a:ext cx="403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Arial" panose="020B0604020202090204" pitchFamily="34" charset="0"/>
                  <a:ea typeface="微软雅黑" panose="020B0703020204020201" charset="-122"/>
                  <a:cs typeface="Trebuchet MS" panose="020B0603020202020204" pitchFamily="34" charset="-120"/>
                </a:rPr>
                <a:t>培训成本高</a:t>
              </a:r>
            </a:p>
          </p:txBody>
        </p:sp>
        <p:sp>
          <p:nvSpPr>
            <p:cNvPr id="22" name="Text 17"/>
            <p:cNvSpPr/>
            <p:nvPr/>
          </p:nvSpPr>
          <p:spPr>
            <a:xfrm>
              <a:off x="2448" y="5760"/>
              <a:ext cx="4032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anose="020B0604020202090204" pitchFamily="34" charset="0"/>
                  <a:ea typeface="微软雅黑" panose="020B0703020204020201" charset="-122"/>
                  <a:cs typeface="Calibri" pitchFamily="34" charset="-120"/>
                </a:rPr>
                <a:t>新人上手需数周，一对一指导成本高，效果不稳定且难以衡量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475990" y="1350010"/>
            <a:ext cx="2846070" cy="1016000"/>
            <a:chOff x="7488" y="4896"/>
            <a:chExt cx="6048" cy="2160"/>
          </a:xfrm>
        </p:grpSpPr>
        <p:sp>
          <p:nvSpPr>
            <p:cNvPr id="23" name="Shape 18"/>
            <p:cNvSpPr/>
            <p:nvPr/>
          </p:nvSpPr>
          <p:spPr>
            <a:xfrm>
              <a:off x="7488" y="4896"/>
              <a:ext cx="6048" cy="2160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4" name="Shape 19"/>
            <p:cNvSpPr/>
            <p:nvPr/>
          </p:nvSpPr>
          <p:spPr>
            <a:xfrm>
              <a:off x="7488" y="4896"/>
              <a:ext cx="86" cy="2160"/>
            </a:xfrm>
            <a:prstGeom prst="rect">
              <a:avLst/>
            </a:prstGeom>
            <a:solidFill>
              <a:srgbClr val="0891B2"/>
            </a:solidFill>
          </p:spPr>
        </p:sp>
        <p:sp>
          <p:nvSpPr>
            <p:cNvPr id="25" name="Shape 20"/>
            <p:cNvSpPr/>
            <p:nvPr/>
          </p:nvSpPr>
          <p:spPr>
            <a:xfrm>
              <a:off x="7848" y="5400"/>
              <a:ext cx="936" cy="936"/>
            </a:xfrm>
            <a:prstGeom prst="ellipse">
              <a:avLst/>
            </a:prstGeom>
            <a:solidFill>
              <a:srgbClr val="0891B2">
                <a:alpha val="85000"/>
              </a:srgbClr>
            </a:solidFill>
          </p:spPr>
        </p:sp>
        <p:pic>
          <p:nvPicPr>
            <p:cNvPr id="26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64" y="5616"/>
              <a:ext cx="504" cy="504"/>
            </a:xfrm>
            <a:prstGeom prst="rect">
              <a:avLst/>
            </a:prstGeom>
          </p:spPr>
        </p:pic>
        <p:sp>
          <p:nvSpPr>
            <p:cNvPr id="27" name="Text 21"/>
            <p:cNvSpPr/>
            <p:nvPr/>
          </p:nvSpPr>
          <p:spPr>
            <a:xfrm>
              <a:off x="9072" y="5184"/>
              <a:ext cx="403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Arial" panose="020B0604020202090204" pitchFamily="34" charset="0"/>
                  <a:ea typeface="微软雅黑" panose="020B0703020204020201" charset="-122"/>
                  <a:cs typeface="Trebuchet MS" panose="020B0603020202020204" pitchFamily="34" charset="-120"/>
                </a:rPr>
                <a:t>数据分散无法复用</a:t>
              </a:r>
            </a:p>
          </p:txBody>
        </p:sp>
        <p:sp>
          <p:nvSpPr>
            <p:cNvPr id="28" name="Text 22"/>
            <p:cNvSpPr/>
            <p:nvPr/>
          </p:nvSpPr>
          <p:spPr>
            <a:xfrm>
              <a:off x="9072" y="5760"/>
              <a:ext cx="4032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anose="020B0604020202090204" pitchFamily="34" charset="0"/>
                  <a:ea typeface="微软雅黑" panose="020B0703020204020201" charset="-122"/>
                  <a:cs typeface="Calibri" pitchFamily="34" charset="-120"/>
                </a:rPr>
                <a:t>对话经验无法沉淀，优秀案例难以提取，决策缺乏数据支撑</a:t>
              </a:r>
            </a:p>
          </p:txBody>
        </p:sp>
      </p:grpSp>
      <p:sp>
        <p:nvSpPr>
          <p:cNvPr id="30" name="Text 24"/>
          <p:cNvSpPr/>
          <p:nvPr/>
        </p:nvSpPr>
        <p:spPr>
          <a:xfrm>
            <a:off x="589280" y="422275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ctr" fontAlgn="auto">
              <a:spcAft>
                <a:spcPts val="1200"/>
              </a:spcAft>
              <a:buNone/>
            </a:pPr>
            <a:r>
              <a:rPr lang="en-US" sz="2600" dirty="0">
                <a:solidFill>
                  <a:srgbClr val="065A82"/>
                </a:solidFill>
                <a:latin typeface="Microsoft YaHei Regular" panose="020B0703020204020201" charset="-122"/>
                <a:ea typeface="Microsoft YaHei Regular" panose="020B0703020204020201" charset="-122"/>
                <a:cs typeface="Microsoft YaHei Regular" panose="020B0703020204020201" charset="-122"/>
              </a:rPr>
              <a:t>EZAgent = AI 增强 </a:t>
            </a:r>
          </a:p>
          <a:p>
            <a:pPr indent="0" algn="ctr" fontAlgn="auto">
              <a:spcAft>
                <a:spcPts val="1200"/>
              </a:spcAft>
              <a:buNone/>
            </a:pPr>
            <a:r>
              <a:rPr lang="en-US" sz="2600" dirty="0">
                <a:solidFill>
                  <a:srgbClr val="065A82"/>
                </a:solidFill>
                <a:latin typeface="Microsoft YaHei Regular" panose="020B0703020204020201" charset="-122"/>
                <a:ea typeface="Microsoft YaHei Regular" panose="020B0703020204020201" charset="-122"/>
                <a:cs typeface="Microsoft YaHei Regular" panose="020B0703020204020201" charset="-122"/>
              </a:rPr>
              <a:t>每次对话更专业</a:t>
            </a:r>
            <a:endParaRPr lang="en-US" sz="2600" dirty="0">
              <a:latin typeface="Microsoft YaHei Regular" panose="020B0703020204020201" charset="-122"/>
              <a:ea typeface="Microsoft YaHei Regular" panose="020B0703020204020201" charset="-122"/>
              <a:cs typeface="Microsoft YaHei Regular" panose="020B0703020204020201" charset="-122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37" name="文本框 36"/>
          <p:cNvSpPr txBox="1"/>
          <p:nvPr/>
        </p:nvSpPr>
        <p:spPr>
          <a:xfrm>
            <a:off x="6674485" y="1828165"/>
            <a:ext cx="168973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传统方案 = 加人</a:t>
            </a:r>
          </a:p>
          <a:p>
            <a:r>
              <a:rPr lang="zh-CN" alt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❌</a:t>
            </a:r>
            <a:r>
              <a:rPr lang="en-US" altLang="zh-CN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成本上升 </a:t>
            </a:r>
          </a:p>
          <a:p>
            <a:r>
              <a:rPr lang="zh-CN" alt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❌</a:t>
            </a:r>
            <a:r>
              <a:rPr lang="en-US" altLang="zh-CN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效果不确定</a:t>
            </a:r>
            <a:endParaRPr lang="en-US" altLang="en-US" sz="1600" b="1" dirty="0">
              <a:solidFill>
                <a:srgbClr val="065A82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EZAgent 如何解决这些问题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核心理念：「AI 增强，而非替代」——让团队的每一次对话都更专业、更高效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20240" cy="2926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783080"/>
            <a:ext cx="731520" cy="731520"/>
          </a:xfrm>
          <a:prstGeom prst="ellipse">
            <a:avLst/>
          </a:prstGeom>
          <a:solidFill>
            <a:srgbClr val="0891B2">
              <a:alpha val="9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90195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97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实时信息验证</a:t>
            </a:r>
          </a:p>
        </p:txBody>
      </p:sp>
      <p:sp>
        <p:nvSpPr>
          <p:cNvPr id="9" name="Shape 6"/>
          <p:cNvSpPr/>
          <p:nvPr/>
        </p:nvSpPr>
        <p:spPr>
          <a:xfrm>
            <a:off x="868680" y="3108960"/>
            <a:ext cx="1280160" cy="320040"/>
          </a:xfrm>
          <a:prstGeom prst="rect">
            <a:avLst/>
          </a:prstGeom>
          <a:solidFill>
            <a:srgbClr val="0891B2">
              <a:alpha val="1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868680" y="3108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杜绝 AI 编造</a:t>
            </a:r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对接业务系统 API，先查询真实数据再回应客户</a:t>
            </a:r>
          </a:p>
        </p:txBody>
      </p:sp>
      <p:sp>
        <p:nvSpPr>
          <p:cNvPr id="12" name="Shape 9"/>
          <p:cNvSpPr/>
          <p:nvPr/>
        </p:nvSpPr>
        <p:spPr>
          <a:xfrm>
            <a:off x="2651760" y="1508760"/>
            <a:ext cx="1920240" cy="2926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783080"/>
            <a:ext cx="731520" cy="731520"/>
          </a:xfrm>
          <a:prstGeom prst="ellipse">
            <a:avLst/>
          </a:prstGeom>
          <a:solidFill>
            <a:srgbClr val="0891B2">
              <a:alpha val="90000"/>
            </a:srgbClr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90195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88920" y="2697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智能权限控制</a:t>
            </a:r>
          </a:p>
        </p:txBody>
      </p:sp>
      <p:sp>
        <p:nvSpPr>
          <p:cNvPr id="16" name="Shape 12"/>
          <p:cNvSpPr/>
          <p:nvPr/>
        </p:nvSpPr>
        <p:spPr>
          <a:xfrm>
            <a:off x="2971800" y="3108960"/>
            <a:ext cx="1280160" cy="320040"/>
          </a:xfrm>
          <a:prstGeom prst="rect">
            <a:avLst/>
          </a:prstGeom>
          <a:solidFill>
            <a:srgbClr val="0891B2">
              <a:alpha val="10000"/>
            </a:srgbClr>
          </a:solidFill>
        </p:spPr>
      </p:sp>
      <p:sp>
        <p:nvSpPr>
          <p:cNvPr id="17" name="Text 13"/>
          <p:cNvSpPr/>
          <p:nvPr/>
        </p:nvSpPr>
        <p:spPr>
          <a:xfrm>
            <a:off x="2971800" y="3108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合规有保障</a:t>
            </a:r>
          </a:p>
        </p:txBody>
      </p:sp>
      <p:sp>
        <p:nvSpPr>
          <p:cNvPr id="18" name="Text 14"/>
          <p:cNvSpPr/>
          <p:nvPr/>
        </p:nvSpPr>
        <p:spPr>
          <a:xfrm>
            <a:off x="2834640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预设规则自动检查，防止越权承诺</a:t>
            </a:r>
          </a:p>
        </p:txBody>
      </p:sp>
      <p:sp>
        <p:nvSpPr>
          <p:cNvPr id="19" name="Shape 15"/>
          <p:cNvSpPr/>
          <p:nvPr/>
        </p:nvSpPr>
        <p:spPr>
          <a:xfrm>
            <a:off x="4754880" y="1508760"/>
            <a:ext cx="1920240" cy="2926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49240" y="1783080"/>
            <a:ext cx="731520" cy="731520"/>
          </a:xfrm>
          <a:prstGeom prst="ellipse">
            <a:avLst/>
          </a:prstGeom>
          <a:solidFill>
            <a:srgbClr val="0891B2">
              <a:alpha val="90000"/>
            </a:srgbClr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901952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92040" y="2697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专业话术支持</a:t>
            </a:r>
          </a:p>
        </p:txBody>
      </p:sp>
      <p:sp>
        <p:nvSpPr>
          <p:cNvPr id="23" name="Shape 18"/>
          <p:cNvSpPr/>
          <p:nvPr/>
        </p:nvSpPr>
        <p:spPr>
          <a:xfrm>
            <a:off x="5074920" y="3108960"/>
            <a:ext cx="1280160" cy="320040"/>
          </a:xfrm>
          <a:prstGeom prst="rect">
            <a:avLst/>
          </a:prstGeom>
          <a:solidFill>
            <a:srgbClr val="0891B2">
              <a:alpha val="10000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5074920" y="3108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经验可复用</a:t>
            </a:r>
          </a:p>
        </p:txBody>
      </p:sp>
      <p:sp>
        <p:nvSpPr>
          <p:cNvPr id="25" name="Text 20"/>
          <p:cNvSpPr/>
          <p:nvPr/>
        </p:nvSpPr>
        <p:spPr>
          <a:xfrm>
            <a:off x="4937760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SPIN / HEAR 方法论内置，对话质量有保障</a:t>
            </a:r>
          </a:p>
        </p:txBody>
      </p:sp>
      <p:sp>
        <p:nvSpPr>
          <p:cNvPr id="26" name="Shape 21"/>
          <p:cNvSpPr/>
          <p:nvPr/>
        </p:nvSpPr>
        <p:spPr>
          <a:xfrm>
            <a:off x="6858000" y="1508760"/>
            <a:ext cx="1920240" cy="2926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52360" y="1783080"/>
            <a:ext cx="731520" cy="731520"/>
          </a:xfrm>
          <a:prstGeom prst="ellipse">
            <a:avLst/>
          </a:prstGeom>
          <a:solidFill>
            <a:srgbClr val="0891B2">
              <a:alpha val="90000"/>
            </a:srgbClr>
          </a:solidFill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901952"/>
            <a:ext cx="493776" cy="49377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95160" y="2697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对话自动记录</a:t>
            </a:r>
          </a:p>
        </p:txBody>
      </p:sp>
      <p:sp>
        <p:nvSpPr>
          <p:cNvPr id="30" name="Shape 24"/>
          <p:cNvSpPr/>
          <p:nvPr/>
        </p:nvSpPr>
        <p:spPr>
          <a:xfrm>
            <a:off x="7178040" y="3108960"/>
            <a:ext cx="1280160" cy="320040"/>
          </a:xfrm>
          <a:prstGeom prst="rect">
            <a:avLst/>
          </a:prstGeom>
          <a:solidFill>
            <a:srgbClr val="0891B2">
              <a:alpha val="10000"/>
            </a:srgbClr>
          </a:solidFill>
        </p:spPr>
      </p:sp>
      <p:sp>
        <p:nvSpPr>
          <p:cNvPr id="31" name="Text 25"/>
          <p:cNvSpPr/>
          <p:nvPr/>
        </p:nvSpPr>
        <p:spPr>
          <a:xfrm>
            <a:off x="7178040" y="3108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管理有依据</a:t>
            </a:r>
          </a:p>
        </p:txBody>
      </p:sp>
      <p:sp>
        <p:nvSpPr>
          <p:cNvPr id="32" name="Text 26"/>
          <p:cNvSpPr/>
          <p:nvPr/>
        </p:nvSpPr>
        <p:spPr>
          <a:xfrm>
            <a:off x="7040880" y="35661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全量保存可复盘，经验沉淀与优化</a:t>
            </a:r>
          </a:p>
        </p:txBody>
      </p:sp>
      <p:sp>
        <p:nvSpPr>
          <p:cNvPr id="33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两大核心场景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相同底层架构，策略和话术完全针对场景优化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32004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7" name="Shape 5"/>
          <p:cNvSpPr/>
          <p:nvPr/>
        </p:nvSpPr>
        <p:spPr>
          <a:xfrm>
            <a:off x="548640" y="1463040"/>
            <a:ext cx="3840480" cy="822960"/>
          </a:xfrm>
          <a:prstGeom prst="rect">
            <a:avLst/>
          </a:prstGeom>
          <a:solidFill>
            <a:srgbClr val="065A82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276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54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智能客户服务</a:t>
            </a:r>
          </a:p>
        </p:txBody>
      </p:sp>
      <p:sp>
        <p:nvSpPr>
          <p:cNvPr id="10" name="Text 7"/>
          <p:cNvSpPr/>
          <p:nvPr/>
        </p:nvSpPr>
        <p:spPr>
          <a:xfrm>
            <a:off x="141732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/customer-service</a:t>
            </a:r>
          </a:p>
        </p:txBody>
      </p:sp>
      <p:sp>
        <p:nvSpPr>
          <p:cNvPr id="11" name="Text 8"/>
          <p:cNvSpPr/>
          <p:nvPr/>
        </p:nvSpPr>
        <p:spPr>
          <a:xfrm>
            <a:off x="777240" y="2468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支持的方法论</a:t>
            </a:r>
          </a:p>
        </p:txBody>
      </p:sp>
      <p:sp>
        <p:nvSpPr>
          <p:cNvPr id="12" name="Shape 9"/>
          <p:cNvSpPr/>
          <p:nvPr/>
        </p:nvSpPr>
        <p:spPr>
          <a:xfrm>
            <a:off x="777240" y="2834640"/>
            <a:ext cx="59436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3" name="Text 10"/>
          <p:cNvSpPr/>
          <p:nvPr/>
        </p:nvSpPr>
        <p:spPr>
          <a:xfrm>
            <a:off x="777240" y="283464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HEAR</a:t>
            </a:r>
          </a:p>
        </p:txBody>
      </p:sp>
      <p:sp>
        <p:nvSpPr>
          <p:cNvPr id="14" name="Text 11"/>
          <p:cNvSpPr/>
          <p:nvPr/>
        </p:nvSpPr>
        <p:spPr>
          <a:xfrm>
            <a:off x="150876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倾听→共情→道歉→解决</a:t>
            </a:r>
          </a:p>
        </p:txBody>
      </p:sp>
      <p:sp>
        <p:nvSpPr>
          <p:cNvPr id="15" name="Shape 12"/>
          <p:cNvSpPr/>
          <p:nvPr/>
        </p:nvSpPr>
        <p:spPr>
          <a:xfrm>
            <a:off x="777240" y="3383280"/>
            <a:ext cx="59436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6" name="Text 13"/>
          <p:cNvSpPr/>
          <p:nvPr/>
        </p:nvSpPr>
        <p:spPr>
          <a:xfrm>
            <a:off x="777240" y="338328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LAST</a:t>
            </a:r>
          </a:p>
        </p:txBody>
      </p:sp>
      <p:sp>
        <p:nvSpPr>
          <p:cNvPr id="17" name="Text 14"/>
          <p:cNvSpPr/>
          <p:nvPr/>
        </p:nvSpPr>
        <p:spPr>
          <a:xfrm>
            <a:off x="1508760" y="33832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聆听→道歉→解决→感谢</a:t>
            </a:r>
          </a:p>
        </p:txBody>
      </p:sp>
      <p:sp>
        <p:nvSpPr>
          <p:cNvPr id="18" name="Shape 15"/>
          <p:cNvSpPr/>
          <p:nvPr/>
        </p:nvSpPr>
        <p:spPr>
          <a:xfrm>
            <a:off x="777240" y="3931920"/>
            <a:ext cx="594360" cy="320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9" name="Text 16"/>
          <p:cNvSpPr/>
          <p:nvPr/>
        </p:nvSpPr>
        <p:spPr>
          <a:xfrm>
            <a:off x="777240" y="393192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LEARN</a:t>
            </a:r>
          </a:p>
        </p:txBody>
      </p:sp>
      <p:sp>
        <p:nvSpPr>
          <p:cNvPr id="20" name="Text 17"/>
          <p:cNvSpPr/>
          <p:nvPr/>
        </p:nvSpPr>
        <p:spPr>
          <a:xfrm>
            <a:off x="1508760" y="39319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聆听→共情→询问→解决→通知</a:t>
            </a:r>
          </a:p>
        </p:txBody>
      </p:sp>
      <p:sp>
        <p:nvSpPr>
          <p:cNvPr id="21" name="Shape 18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1463040"/>
            <a:ext cx="54864" cy="32004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Shape 20"/>
          <p:cNvSpPr/>
          <p:nvPr/>
        </p:nvSpPr>
        <p:spPr>
          <a:xfrm>
            <a:off x="4754880" y="1463040"/>
            <a:ext cx="3840480" cy="82296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27632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23560" y="1554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智能营销销售</a:t>
            </a:r>
          </a:p>
        </p:txBody>
      </p:sp>
      <p:sp>
        <p:nvSpPr>
          <p:cNvPr id="26" name="Text 22"/>
          <p:cNvSpPr/>
          <p:nvPr/>
        </p:nvSpPr>
        <p:spPr>
          <a:xfrm>
            <a:off x="562356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/marketing</a:t>
            </a:r>
          </a:p>
        </p:txBody>
      </p:sp>
      <p:sp>
        <p:nvSpPr>
          <p:cNvPr id="27" name="Text 23"/>
          <p:cNvSpPr/>
          <p:nvPr/>
        </p:nvSpPr>
        <p:spPr>
          <a:xfrm>
            <a:off x="4983480" y="2468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支持的方法论</a:t>
            </a:r>
          </a:p>
        </p:txBody>
      </p:sp>
      <p:sp>
        <p:nvSpPr>
          <p:cNvPr id="28" name="Shape 24"/>
          <p:cNvSpPr/>
          <p:nvPr/>
        </p:nvSpPr>
        <p:spPr>
          <a:xfrm>
            <a:off x="4983480" y="2834640"/>
            <a:ext cx="822960" cy="320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9" name="Text 25"/>
          <p:cNvSpPr/>
          <p:nvPr/>
        </p:nvSpPr>
        <p:spPr>
          <a:xfrm>
            <a:off x="4983480" y="283464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SPIN</a:t>
            </a:r>
          </a:p>
        </p:txBody>
      </p:sp>
      <p:sp>
        <p:nvSpPr>
          <p:cNvPr id="30" name="Text 26"/>
          <p:cNvSpPr/>
          <p:nvPr/>
        </p:nvSpPr>
        <p:spPr>
          <a:xfrm>
            <a:off x="5943600" y="28346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现状→问题→影响→价值</a:t>
            </a:r>
          </a:p>
        </p:txBody>
      </p:sp>
      <p:sp>
        <p:nvSpPr>
          <p:cNvPr id="31" name="Shape 27"/>
          <p:cNvSpPr/>
          <p:nvPr/>
        </p:nvSpPr>
        <p:spPr>
          <a:xfrm>
            <a:off x="4983480" y="3383280"/>
            <a:ext cx="822960" cy="320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2" name="Text 28"/>
          <p:cNvSpPr/>
          <p:nvPr/>
        </p:nvSpPr>
        <p:spPr>
          <a:xfrm>
            <a:off x="4983480" y="338328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Challenger</a:t>
            </a:r>
          </a:p>
        </p:txBody>
      </p:sp>
      <p:sp>
        <p:nvSpPr>
          <p:cNvPr id="33" name="Text 29"/>
          <p:cNvSpPr/>
          <p:nvPr/>
        </p:nvSpPr>
        <p:spPr>
          <a:xfrm>
            <a:off x="5943600" y="33832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教导→定制→主导</a:t>
            </a:r>
          </a:p>
        </p:txBody>
      </p:sp>
      <p:sp>
        <p:nvSpPr>
          <p:cNvPr id="34" name="Shape 30"/>
          <p:cNvSpPr/>
          <p:nvPr/>
        </p:nvSpPr>
        <p:spPr>
          <a:xfrm>
            <a:off x="4983480" y="3931920"/>
            <a:ext cx="822960" cy="320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5" name="Text 31"/>
          <p:cNvSpPr/>
          <p:nvPr/>
        </p:nvSpPr>
        <p:spPr>
          <a:xfrm>
            <a:off x="4983480" y="393192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Solution</a:t>
            </a:r>
          </a:p>
        </p:txBody>
      </p:sp>
      <p:sp>
        <p:nvSpPr>
          <p:cNvPr id="36" name="Text 32"/>
          <p:cNvSpPr/>
          <p:nvPr/>
        </p:nvSpPr>
        <p:spPr>
          <a:xfrm>
            <a:off x="5943600" y="39319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痛点→决策→愿景→价值→把控</a:t>
            </a:r>
          </a:p>
        </p:txBody>
      </p:sp>
      <p:sp>
        <p:nvSpPr>
          <p:cNvPr id="37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场景示例：智能客服对话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客户：</a:t>
            </a:r>
            <a:r>
              <a:rPr lang="en-US" sz="120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"我没订阅大会员，为什么扣了我15块钱！"</a:t>
            </a:r>
            <a:endParaRPr lang="en-US" sz="12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1600200"/>
            <a:ext cx="6400800" cy="77724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7" name="Text 5"/>
          <p:cNvSpPr/>
          <p:nvPr/>
        </p:nvSpPr>
        <p:spPr>
          <a:xfrm>
            <a:off x="1554480" y="1673352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🔍 系统自动查询 API</a:t>
            </a:r>
            <a:endParaRPr lang="en-US" sz="1100" dirty="0">
              <a:latin typeface="Arial" panose="020B0604020202090204" pitchFamily="34" charset="0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→ 返回：超级会员，月费15元，12月20日开通，自动续费状态</a:t>
            </a:r>
            <a:endParaRPr lang="en-US" sz="11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1234440"/>
          </a:xfrm>
          <a:prstGeom prst="rect">
            <a:avLst/>
          </a:prstGeom>
          <a:solidFill>
            <a:srgbClr val="F0FDFA"/>
          </a:solidFill>
        </p:spPr>
      </p:sp>
      <p:sp>
        <p:nvSpPr>
          <p:cNvPr id="9" name="Shape 7"/>
          <p:cNvSpPr/>
          <p:nvPr/>
        </p:nvSpPr>
        <p:spPr>
          <a:xfrm>
            <a:off x="548640" y="2560320"/>
            <a:ext cx="54864" cy="12344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" name="Text 8"/>
          <p:cNvSpPr/>
          <p:nvPr/>
        </p:nvSpPr>
        <p:spPr>
          <a:xfrm>
            <a:off x="777240" y="2651760"/>
            <a:ext cx="7589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AI 客服：</a:t>
            </a:r>
            <a:endParaRPr lang="en-US" sz="1150" dirty="0">
              <a:latin typeface="Arial" panose="020B0604020202090204" pitchFamily="34" charset="0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"我理解您的心情，突然扣费确实让人着急。我帮您查了一下，您12月20号开通了一个'超级会员'，月费15块，现在是自动续费的。您说的'大会员'应该就是这个？要不我帮您把自动续费关掉？"</a:t>
            </a:r>
            <a:endParaRPr lang="en-US" sz="115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关键亮点</a:t>
            </a: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6168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4325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数据来自系统查询，非 AI 编造</a:t>
            </a: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36168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4325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共情话术缓解客户情绪</a:t>
            </a: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36168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4325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主动提供解决方案</a:t>
            </a:r>
          </a:p>
        </p:txBody>
      </p:sp>
      <p:sp>
        <p:nvSpPr>
          <p:cNvPr id="18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场景示例：智能销售对话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客户：</a:t>
            </a:r>
            <a:r>
              <a:rPr lang="en-US" sz="120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"能给我申请一年免费试用吗？"</a:t>
            </a:r>
            <a:endParaRPr lang="en-US" sz="12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1600200"/>
            <a:ext cx="6400800" cy="77724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7" name="Text 5"/>
          <p:cNvSpPr/>
          <p:nvPr/>
        </p:nvSpPr>
        <p:spPr>
          <a:xfrm>
            <a:off x="1554480" y="1673352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🔒 系统检查权限</a:t>
            </a:r>
            <a:endParaRPr lang="en-US" sz="1100" dirty="0">
              <a:latin typeface="Arial" panose="020B0604020202090204" pitchFamily="34" charset="0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→ 返回：需要主管审批（试用 ≥ 30天）</a:t>
            </a:r>
            <a:endParaRPr lang="en-US" sz="11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1234440"/>
          </a:xfrm>
          <a:prstGeom prst="rect">
            <a:avLst/>
          </a:prstGeom>
          <a:solidFill>
            <a:srgbClr val="FFFBEB"/>
          </a:solidFill>
        </p:spPr>
      </p:sp>
      <p:sp>
        <p:nvSpPr>
          <p:cNvPr id="9" name="Shape 7"/>
          <p:cNvSpPr/>
          <p:nvPr/>
        </p:nvSpPr>
        <p:spPr>
          <a:xfrm>
            <a:off x="548640" y="2560320"/>
            <a:ext cx="54864" cy="1234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Text 8"/>
          <p:cNvSpPr/>
          <p:nvPr/>
        </p:nvSpPr>
        <p:spPr>
          <a:xfrm>
            <a:off x="777240" y="2651760"/>
            <a:ext cx="7589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AI 销售：</a:t>
            </a:r>
            <a:endParaRPr lang="en-US" sz="1150" dirty="0">
              <a:latin typeface="Arial" panose="020B0604020202090204" pitchFamily="34" charset="0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"一年的试用这边审批不了，说实话。但我可以先给您开30天的，让团队先用起来感受一下。同时我这边帮您申请延长，企业客户一般都可以商量的。您看这样行不？"</a:t>
            </a:r>
            <a:endParaRPr lang="en-US" sz="115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关键亮点</a:t>
            </a: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6168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4325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承诺前先检查权限</a:t>
            </a: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36168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4325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防止过度承诺风险</a:t>
            </a: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36168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4325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提供替代方案保持积极</a:t>
            </a:r>
          </a:p>
        </p:txBody>
      </p:sp>
      <p:sp>
        <p:nvSpPr>
          <p:cNvPr id="18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技术架构：Dev / Prod 双模式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5943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731520" y="12801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Dev 模式（默认）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933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938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本地 SQLite 数据库 + FastAPI 服务器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48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35000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即开即用，无需对接真实系统</a:t>
            </a: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1635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7614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适合验证效果和客户演示</a:t>
            </a: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2783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1729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数据来源清晰标注为 Mock</a:t>
            </a:r>
          </a:p>
        </p:txBody>
      </p:sp>
      <p:sp>
        <p:nvSpPr>
          <p:cNvPr id="15" name="Shape 9"/>
          <p:cNvSpPr/>
          <p:nvPr/>
        </p:nvSpPr>
        <p:spPr>
          <a:xfrm>
            <a:off x="4754880" y="1188720"/>
            <a:ext cx="3840480" cy="2560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754880" y="1188720"/>
            <a:ext cx="3840480" cy="5943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7" name="Text 11"/>
          <p:cNvSpPr/>
          <p:nvPr/>
        </p:nvSpPr>
        <p:spPr>
          <a:xfrm>
            <a:off x="4937760" y="12801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Prod 模式（生产）</a:t>
            </a: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993392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1938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对接真实业务系统 API</a:t>
            </a: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404872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235000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支持 Bearer Token 等标准认证</a:t>
            </a: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816352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27614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使用真实业务数据</a:t>
            </a:r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227832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31729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API 接口与 Dev完全一致，无缝切换</a:t>
            </a:r>
          </a:p>
        </p:txBody>
      </p:sp>
      <p:sp>
        <p:nvSpPr>
          <p:cNvPr id="26" name="Text 16"/>
          <p:cNvSpPr/>
          <p:nvPr/>
        </p:nvSpPr>
        <p:spPr>
          <a:xfrm>
            <a:off x="548640" y="3977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推荐流程</a:t>
            </a:r>
          </a:p>
        </p:txBody>
      </p:sp>
      <p:sp>
        <p:nvSpPr>
          <p:cNvPr id="27" name="Shape 17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28" name="Text 18"/>
          <p:cNvSpPr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1005840" y="436168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Dev验证效果</a:t>
            </a:r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4453128"/>
            <a:ext cx="182880" cy="182880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2697480" y="4389120"/>
            <a:ext cx="365760" cy="36576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32" name="Text 21"/>
          <p:cNvSpPr/>
          <p:nvPr/>
        </p:nvSpPr>
        <p:spPr>
          <a:xfrm>
            <a:off x="2697480" y="4389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3154680" y="436168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调整策略话术</a:t>
            </a:r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453128"/>
            <a:ext cx="182880" cy="182880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4846320" y="4389120"/>
            <a:ext cx="365760" cy="36576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36" name="Text 24"/>
          <p:cNvSpPr/>
          <p:nvPr/>
        </p:nvSpPr>
        <p:spPr>
          <a:xfrm>
            <a:off x="4846320" y="4389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5303520" y="436168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配置Prod模式</a:t>
            </a:r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53128"/>
            <a:ext cx="182880" cy="182880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6995160" y="4389120"/>
            <a:ext cx="365760" cy="36576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40" name="Text 27"/>
          <p:cNvSpPr/>
          <p:nvPr/>
        </p:nvSpPr>
        <p:spPr>
          <a:xfrm>
            <a:off x="6995160" y="4389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28"/>
          <p:cNvSpPr/>
          <p:nvPr/>
        </p:nvSpPr>
        <p:spPr>
          <a:xfrm>
            <a:off x="7452360" y="436168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持续优化迭代</a:t>
            </a:r>
          </a:p>
        </p:txBody>
      </p:sp>
      <p:sp>
        <p:nvSpPr>
          <p:cNvPr id="42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报价模式概览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$0.1</a:t>
            </a:r>
          </a:p>
        </p:txBody>
      </p:sp>
      <p:sp>
        <p:nvSpPr>
          <p:cNvPr id="5" name="Text 3"/>
          <p:cNvSpPr/>
          <p:nvPr/>
        </p:nvSpPr>
        <p:spPr>
          <a:xfrm>
            <a:off x="2560320" y="10515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USD / 资源点（基础单价）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920240" cy="1188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65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按需使用</a:t>
            </a:r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用多少付多少</a:t>
            </a:r>
            <a:endParaRPr lang="en-US" sz="1000" dirty="0">
              <a:latin typeface="Arial" panose="020B0604020202090204" pitchFamily="34" charset="0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无固定成本压力</a:t>
            </a:r>
            <a:endParaRPr lang="en-US" sz="10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97480" y="1828800"/>
            <a:ext cx="1920240" cy="1188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965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场景分级</a:t>
            </a:r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客服</a:t>
            </a:r>
            <a:r>
              <a:rPr lang="zh-CN" alt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场景</a:t>
            </a: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/</a:t>
            </a:r>
            <a:r>
              <a:rPr lang="en-US" sz="1000" dirty="0" err="1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销售</a:t>
            </a:r>
            <a:r>
              <a:rPr lang="zh-CN" alt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场景</a:t>
            </a:r>
            <a:endParaRPr lang="en-US" sz="1000" dirty="0">
              <a:latin typeface="Arial" panose="020B0604020202090204" pitchFamily="34" charset="0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按复杂度定价</a:t>
            </a:r>
            <a:r>
              <a:rPr lang="zh-CN" alt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（一般</a:t>
            </a:r>
            <a:r>
              <a:rPr lang="en-US" altLang="zh-CN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/</a:t>
            </a:r>
            <a:r>
              <a:rPr lang="zh-CN" alt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专家）</a:t>
            </a:r>
            <a:endParaRPr lang="en-US" sz="10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1920240" cy="1188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965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模态叠加</a:t>
            </a:r>
          </a:p>
        </p:txBody>
      </p:sp>
      <p:sp>
        <p:nvSpPr>
          <p:cNvPr id="14" name="Text 12"/>
          <p:cNvSpPr/>
          <p:nvPr/>
        </p:nvSpPr>
        <p:spPr>
          <a:xfrm>
            <a:off x="4983480" y="22860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语音/数字人输出</a:t>
            </a:r>
            <a:endParaRPr lang="en-US" sz="1000" dirty="0">
              <a:latin typeface="Arial" panose="020B0604020202090204" pitchFamily="34" charset="0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额外叠加计费</a:t>
            </a:r>
            <a:endParaRPr lang="en-US" sz="10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95160" y="1828800"/>
            <a:ext cx="1920240" cy="1188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1965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月度释放</a:t>
            </a:r>
          </a:p>
        </p:txBody>
      </p:sp>
      <p:sp>
        <p:nvSpPr>
          <p:cNvPr id="17" name="Text 15"/>
          <p:cNvSpPr/>
          <p:nvPr/>
        </p:nvSpPr>
        <p:spPr>
          <a:xfrm>
            <a:off x="7132320" y="228600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储值后按月释放</a:t>
            </a:r>
            <a:endParaRPr lang="en-US" sz="1000" dirty="0">
              <a:latin typeface="Arial" panose="020B0604020202090204" pitchFamily="34" charset="0"/>
              <a:ea typeface="微软雅黑" panose="020B0703020204020201" charset="-122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灵活控制预算</a:t>
            </a:r>
            <a:endParaRPr lang="en-US" sz="10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30965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场景</a:t>
            </a:r>
            <a:r>
              <a:rPr lang="en-US" sz="1400" b="1" dirty="0" err="1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定价对比</a:t>
            </a:r>
            <a:endParaRPr lang="en-US" sz="1400" b="1" dirty="0">
              <a:solidFill>
                <a:srgbClr val="1E293B"/>
              </a:solidFill>
              <a:latin typeface="Arial" panose="020B0604020202090204" pitchFamily="34" charset="0"/>
              <a:ea typeface="微软雅黑" panose="020B0703020204020201" charset="-122"/>
              <a:cs typeface="Trebuchet MS" panose="020B0603020202020204" pitchFamily="34" charset="-12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221892"/>
              </p:ext>
            </p:extLst>
          </p:nvPr>
        </p:nvGraphicFramePr>
        <p:xfrm>
          <a:off x="548640" y="3462350"/>
          <a:ext cx="8046720" cy="15727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场景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中国内地/香港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全球其他地区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一般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客服（文本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被动</a:t>
                      </a:r>
                      <a:r>
                        <a:rPr lang="en-US" altLang="zh-CN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咨询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）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资源点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次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对话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2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资源点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次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对话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专家客服（文本</a:t>
                      </a:r>
                      <a:r>
                        <a:rPr lang="en-US" altLang="zh-CN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主动</a:t>
                      </a:r>
                      <a:r>
                        <a:rPr lang="en-US" altLang="zh-CN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售后）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3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资源点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次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对话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4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资源点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次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对话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9449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一般销售（文本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主动</a:t>
                      </a:r>
                      <a:r>
                        <a:rPr lang="en-US" altLang="zh-CN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商机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）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3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资源点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次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对话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4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资源点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次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对话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专家销售（文本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主动</a:t>
                      </a:r>
                      <a:r>
                        <a:rPr lang="en-US" altLang="zh-CN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方案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）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8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资源点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次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对话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9 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资源点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次</a:t>
                      </a:r>
                      <a:r>
                        <a:rPr lang="en-US" sz="1000" dirty="0" err="1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对话</a:t>
                      </a:r>
                      <a:endParaRPr lang="en-US" sz="1000" dirty="0">
                        <a:solidFill>
                          <a:srgbClr val="1E293B"/>
                        </a:solidFill>
                        <a:latin typeface="Arial" panose="020B0604020202090204" pitchFamily="34" charset="0"/>
                        <a:ea typeface="微软雅黑" panose="020B0703020204020201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流式语音 / 数字人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+1 资源点/分钟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+2 资源点/分钟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阶梯报价表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66471"/>
              </p:ext>
            </p:extLst>
          </p:nvPr>
        </p:nvGraphicFramePr>
        <p:xfrm>
          <a:off x="548640" y="1051560"/>
          <a:ext cx="8046720" cy="1947672"/>
        </p:xfrm>
        <a:graphic>
          <a:graphicData uri="http://schemas.openxmlformats.org/drawingml/2006/table">
            <a:tbl>
              <a:tblPr/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月资源点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月费 (USD)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智能体数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并发通道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Token (k/月)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$1,000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10 个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5 通道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100,000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50,000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$5,000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50 个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30 通道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550,000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100,000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$10,000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100 个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50 通道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1,200,000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500,000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$50,000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500 个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100 通道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7,000,000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1,000,000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$100,000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1000 个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200 通道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15,000,000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计费规则说明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1097280" cy="274320"/>
          </a:xfrm>
          <a:prstGeom prst="rect">
            <a:avLst/>
          </a:prstGeom>
          <a:solidFill>
            <a:srgbClr val="0891B2">
              <a:alpha val="1500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548640" y="3931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资源点释放</a:t>
            </a:r>
          </a:p>
        </p:txBody>
      </p:sp>
      <p:sp>
        <p:nvSpPr>
          <p:cNvPr id="8" name="Text 5"/>
          <p:cNvSpPr/>
          <p:nvPr/>
        </p:nvSpPr>
        <p:spPr>
          <a:xfrm>
            <a:off x="1783080" y="3931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储值后按月释放到账户</a:t>
            </a:r>
          </a:p>
        </p:txBody>
      </p:sp>
      <p:sp>
        <p:nvSpPr>
          <p:cNvPr id="9" name="Shape 6"/>
          <p:cNvSpPr/>
          <p:nvPr/>
        </p:nvSpPr>
        <p:spPr>
          <a:xfrm>
            <a:off x="4754880" y="3931920"/>
            <a:ext cx="1097280" cy="274320"/>
          </a:xfrm>
          <a:prstGeom prst="rect">
            <a:avLst/>
          </a:prstGeom>
          <a:solidFill>
            <a:srgbClr val="0891B2">
              <a:alpha val="15000"/>
            </a:srgbClr>
          </a:solidFill>
        </p:spPr>
      </p:sp>
      <p:sp>
        <p:nvSpPr>
          <p:cNvPr id="4" name="Text 7"/>
          <p:cNvSpPr/>
          <p:nvPr/>
        </p:nvSpPr>
        <p:spPr>
          <a:xfrm>
            <a:off x="4754880" y="3931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Token 关联</a:t>
            </a:r>
          </a:p>
        </p:txBody>
      </p:sp>
      <p:sp>
        <p:nvSpPr>
          <p:cNvPr id="11" name="Text 8"/>
          <p:cNvSpPr/>
          <p:nvPr/>
        </p:nvSpPr>
        <p:spPr>
          <a:xfrm>
            <a:off x="5989320" y="3931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每 1 资源点 = 10K Token（输入+输出）</a:t>
            </a:r>
          </a:p>
        </p:txBody>
      </p:sp>
      <p:sp>
        <p:nvSpPr>
          <p:cNvPr id="12" name="Shape 9"/>
          <p:cNvSpPr/>
          <p:nvPr/>
        </p:nvSpPr>
        <p:spPr>
          <a:xfrm>
            <a:off x="548640" y="4343400"/>
            <a:ext cx="1097280" cy="274320"/>
          </a:xfrm>
          <a:prstGeom prst="rect">
            <a:avLst/>
          </a:prstGeom>
          <a:solidFill>
            <a:srgbClr val="0891B2">
              <a:alpha val="15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548640" y="43434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超额计费</a:t>
            </a:r>
          </a:p>
        </p:txBody>
      </p:sp>
      <p:sp>
        <p:nvSpPr>
          <p:cNvPr id="14" name="Text 11"/>
          <p:cNvSpPr/>
          <p:nvPr/>
        </p:nvSpPr>
        <p:spPr>
          <a:xfrm>
            <a:off x="1783080" y="4343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达上限后按 1资源点:10K Token 比例核销</a:t>
            </a:r>
          </a:p>
        </p:txBody>
      </p:sp>
      <p:sp>
        <p:nvSpPr>
          <p:cNvPr id="15" name="Shape 12"/>
          <p:cNvSpPr/>
          <p:nvPr/>
        </p:nvSpPr>
        <p:spPr>
          <a:xfrm>
            <a:off x="4754880" y="4343400"/>
            <a:ext cx="1097280" cy="274320"/>
          </a:xfrm>
          <a:prstGeom prst="rect">
            <a:avLst/>
          </a:prstGeom>
          <a:solidFill>
            <a:srgbClr val="0891B2">
              <a:alpha val="15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4754880" y="43434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余额处理</a:t>
            </a:r>
          </a:p>
        </p:txBody>
      </p:sp>
      <p:sp>
        <p:nvSpPr>
          <p:cNvPr id="17" name="Text 14"/>
          <p:cNvSpPr/>
          <p:nvPr/>
        </p:nvSpPr>
        <p:spPr>
          <a:xfrm>
            <a:off x="5989320" y="4343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月末未用完减半留至下月，再未消耗则核销</a:t>
            </a:r>
          </a:p>
        </p:txBody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对接流程与资料准备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核心原则：最小成本启动，边用边完善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2011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3840480" cy="5029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7" name="Text 5"/>
          <p:cNvSpPr/>
          <p:nvPr/>
        </p:nvSpPr>
        <p:spPr>
          <a:xfrm>
            <a:off x="731520" y="139903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第一阶段：基础对接（1-2 天）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228600" cy="22860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9" name="Text 7"/>
          <p:cNvSpPr/>
          <p:nvPr/>
        </p:nvSpPr>
        <p:spPr>
          <a:xfrm>
            <a:off x="777240" y="20116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1</a:t>
            </a:r>
          </a:p>
        </p:txBody>
      </p:sp>
      <p:sp>
        <p:nvSpPr>
          <p:cNvPr id="10" name="Text 8"/>
          <p:cNvSpPr/>
          <p:nvPr/>
        </p:nvSpPr>
        <p:spPr>
          <a:xfrm>
            <a:off x="1097280" y="19842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准备产品信息（名称、功能、FAQ等）</a:t>
            </a:r>
          </a:p>
        </p:txBody>
      </p:sp>
      <p:sp>
        <p:nvSpPr>
          <p:cNvPr id="11" name="Shape 9"/>
          <p:cNvSpPr/>
          <p:nvPr/>
        </p:nvSpPr>
        <p:spPr>
          <a:xfrm>
            <a:off x="777240" y="2331720"/>
            <a:ext cx="228600" cy="22860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2" name="Text 10"/>
          <p:cNvSpPr/>
          <p:nvPr/>
        </p:nvSpPr>
        <p:spPr>
          <a:xfrm>
            <a:off x="777240" y="23317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1097280" y="23042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准备运营策略（方法论、话术等）</a:t>
            </a:r>
          </a:p>
        </p:txBody>
      </p:sp>
      <p:sp>
        <p:nvSpPr>
          <p:cNvPr id="14" name="Shape 12"/>
          <p:cNvSpPr/>
          <p:nvPr/>
        </p:nvSpPr>
        <p:spPr>
          <a:xfrm>
            <a:off x="777240" y="2651760"/>
            <a:ext cx="228600" cy="22860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5" name="Text 13"/>
          <p:cNvSpPr/>
          <p:nvPr/>
        </p:nvSpPr>
        <p:spPr>
          <a:xfrm>
            <a:off x="777240" y="265176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3</a:t>
            </a:r>
          </a:p>
        </p:txBody>
      </p:sp>
      <p:sp>
        <p:nvSpPr>
          <p:cNvPr id="16" name="Text 14"/>
          <p:cNvSpPr/>
          <p:nvPr/>
        </p:nvSpPr>
        <p:spPr>
          <a:xfrm>
            <a:off x="1097280" y="26243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我方加载数据到系统</a:t>
            </a:r>
          </a:p>
        </p:txBody>
      </p:sp>
      <p:sp>
        <p:nvSpPr>
          <p:cNvPr id="17" name="Shape 15"/>
          <p:cNvSpPr/>
          <p:nvPr/>
        </p:nvSpPr>
        <p:spPr>
          <a:xfrm>
            <a:off x="777240" y="2971800"/>
            <a:ext cx="228600" cy="22860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8" name="Text 16"/>
          <p:cNvSpPr/>
          <p:nvPr/>
        </p:nvSpPr>
        <p:spPr>
          <a:xfrm>
            <a:off x="777240" y="2971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4</a:t>
            </a:r>
          </a:p>
        </p:txBody>
      </p:sp>
      <p:sp>
        <p:nvSpPr>
          <p:cNvPr id="19" name="Text 17"/>
          <p:cNvSpPr/>
          <p:nvPr/>
        </p:nvSpPr>
        <p:spPr>
          <a:xfrm>
            <a:off x="1097280" y="294436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Dev 模式测试验证</a:t>
            </a:r>
          </a:p>
        </p:txBody>
      </p:sp>
      <p:sp>
        <p:nvSpPr>
          <p:cNvPr id="20" name="Shape 18"/>
          <p:cNvSpPr/>
          <p:nvPr/>
        </p:nvSpPr>
        <p:spPr>
          <a:xfrm>
            <a:off x="4754880" y="1325880"/>
            <a:ext cx="3840480" cy="2011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25880"/>
            <a:ext cx="3840480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20"/>
          <p:cNvSpPr/>
          <p:nvPr/>
        </p:nvSpPr>
        <p:spPr>
          <a:xfrm>
            <a:off x="4937760" y="139903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第二阶段：渐进优化（按需）</a:t>
            </a:r>
          </a:p>
        </p:txBody>
      </p:sp>
      <p:sp>
        <p:nvSpPr>
          <p:cNvPr id="23" name="Shape 21"/>
          <p:cNvSpPr/>
          <p:nvPr/>
        </p:nvSpPr>
        <p:spPr>
          <a:xfrm>
            <a:off x="4983480" y="2011680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4983480" y="20116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1</a:t>
            </a:r>
          </a:p>
        </p:txBody>
      </p:sp>
      <p:sp>
        <p:nvSpPr>
          <p:cNvPr id="25" name="Text 23"/>
          <p:cNvSpPr/>
          <p:nvPr/>
        </p:nvSpPr>
        <p:spPr>
          <a:xfrm>
            <a:off x="5303520" y="19842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导入客户数据（支持冷启动）</a:t>
            </a:r>
          </a:p>
        </p:txBody>
      </p:sp>
      <p:sp>
        <p:nvSpPr>
          <p:cNvPr id="26" name="Shape 24"/>
          <p:cNvSpPr/>
          <p:nvPr/>
        </p:nvSpPr>
        <p:spPr>
          <a:xfrm>
            <a:off x="4983480" y="2331720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4983480" y="23317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2</a:t>
            </a:r>
          </a:p>
        </p:txBody>
      </p:sp>
      <p:sp>
        <p:nvSpPr>
          <p:cNvPr id="28" name="Text 26"/>
          <p:cNvSpPr/>
          <p:nvPr/>
        </p:nvSpPr>
        <p:spPr>
          <a:xfrm>
            <a:off x="5303520" y="23042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对接真实业务系统 API</a:t>
            </a:r>
          </a:p>
        </p:txBody>
      </p:sp>
      <p:sp>
        <p:nvSpPr>
          <p:cNvPr id="29" name="Shape 27"/>
          <p:cNvSpPr/>
          <p:nvPr/>
        </p:nvSpPr>
        <p:spPr>
          <a:xfrm>
            <a:off x="4983480" y="2651760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0" name="Text 28"/>
          <p:cNvSpPr/>
          <p:nvPr/>
        </p:nvSpPr>
        <p:spPr>
          <a:xfrm>
            <a:off x="4983480" y="265176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3</a:t>
            </a:r>
          </a:p>
        </p:txBody>
      </p:sp>
      <p:sp>
        <p:nvSpPr>
          <p:cNvPr id="31" name="Text 29"/>
          <p:cNvSpPr/>
          <p:nvPr/>
        </p:nvSpPr>
        <p:spPr>
          <a:xfrm>
            <a:off x="5303520" y="26243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定制权限规则</a:t>
            </a:r>
          </a:p>
        </p:txBody>
      </p:sp>
      <p:sp>
        <p:nvSpPr>
          <p:cNvPr id="32" name="Shape 30"/>
          <p:cNvSpPr/>
          <p:nvPr/>
        </p:nvSpPr>
        <p:spPr>
          <a:xfrm>
            <a:off x="4983480" y="2971800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4983480" y="2971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4</a:t>
            </a:r>
          </a:p>
        </p:txBody>
      </p:sp>
      <p:sp>
        <p:nvSpPr>
          <p:cNvPr id="34" name="Text 32"/>
          <p:cNvSpPr/>
          <p:nvPr/>
        </p:nvSpPr>
        <p:spPr>
          <a:xfrm>
            <a:off x="5303520" y="294436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持续优化话术和策略</a:t>
            </a:r>
          </a:p>
        </p:txBody>
      </p:sp>
      <p:sp>
        <p:nvSpPr>
          <p:cNvPr id="35" name="Text 33"/>
          <p:cNvSpPr/>
          <p:nvPr/>
        </p:nvSpPr>
        <p:spPr>
          <a:xfrm>
            <a:off x="548640" y="3566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必选资料一览</a:t>
            </a:r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548640" y="3931920"/>
          <a:ext cx="8046720" cy="87782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类别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客服场景必选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销售场景必选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产品信息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名称、简介、功能、常见问题、解决方案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名称、简介、功能、客户收益、定价、异议应对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运营策略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方法论、开场白、问题挖掘、共情话术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方法论、开场策略、问题挖掘、价值主张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权限控制规则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AI 在做出任何承诺前自动调用权限检查 API，确保合规运营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客户服务场景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645920"/>
          <a:ext cx="3840480" cy="129844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权限级别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操作示例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✓ 可立即批准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退款&lt;100元、重置密码、取消自动续费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! 需主管审批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退款≥100元、账户注销、延长会员&gt;30天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⟫ 需走流程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投诉处理、赔偿申请、批量退款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✗ 禁止操作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透露他人信息、承诺未上线功能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280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营销销售场景</a:t>
            </a:r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4754880" y="1645920"/>
          <a:ext cx="3840480" cy="129844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权限级别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操作示例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✓ 可立即批准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试用&lt;14天、折扣&lt;5%、演示安排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! 需主管审批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试用≥14天、折扣≥5%、定制报价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⟫ 需走流程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年度框架协议、战略合作、源码授权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✗ 禁止操作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虚假承诺功能、贬低竞品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API 接口规范（RESTful）</a:t>
            </a:r>
          </a:p>
        </p:txBody>
      </p:sp>
      <p:graphicFrame>
        <p:nvGraphicFramePr>
          <p:cNvPr id="34" name="Table 2"/>
          <p:cNvGraphicFramePr>
            <a:graphicFrameLocks noGrp="1"/>
          </p:cNvGraphicFramePr>
          <p:nvPr/>
        </p:nvGraphicFramePr>
        <p:xfrm>
          <a:off x="548640" y="3749040"/>
          <a:ext cx="8046720" cy="117043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接口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端点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方法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用途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客户信息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/api/v1/customers/{id}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GET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查询客户资料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订阅列表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/api/v1/customers/{id}/subscriptions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GET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查询订阅状态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产品定价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/api/v1/products/{id}/pricing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GET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查询价格折扣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权限检查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/api/v1/permissions/check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POST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anose="020B0604020202090204" pitchFamily="34" charset="0"/>
                          <a:ea typeface="微软雅黑" panose="020B0703020204020201" charset="-122"/>
                          <a:cs typeface="Calibri" pitchFamily="34" charset="-120"/>
                        </a:rPr>
                        <a:t>检查操作权限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仿真</a:t>
            </a:r>
            <a:r>
              <a:rPr lang="en-US" sz="26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案例：SPIN 方法论实战</a:t>
            </a:r>
            <a:endParaRPr lang="en-US" sz="2600" dirty="0">
              <a:latin typeface="Arial" panose="020B0604020202090204" pitchFamily="34" charset="0"/>
              <a:ea typeface="微软雅黑" panose="020B0703020204020201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5" name="Text 3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新锐科技有限公司  |  王小明（创新部总监）  |  200人销售团队  |  现用 Salesforce CRM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7" name="Text 5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S</a:t>
            </a:r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现状</a:t>
            </a:r>
          </a:p>
        </p:txBody>
      </p:sp>
      <p:sp>
        <p:nvSpPr>
          <p:cNvPr id="9" name="Shape 7"/>
          <p:cNvSpPr/>
          <p:nvPr/>
        </p:nvSpPr>
        <p:spPr>
          <a:xfrm>
            <a:off x="1828800" y="1463040"/>
            <a:ext cx="6766560" cy="548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0" y="1463040"/>
            <a:ext cx="54864" cy="5486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1" name="Text 9"/>
          <p:cNvSpPr/>
          <p:nvPr/>
        </p:nvSpPr>
        <p:spPr>
          <a:xfrm>
            <a:off x="2011680" y="15087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你们团队跟客户沟通主要用什么渠道？Salesforce 跟微信打通了吗？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P</a:t>
            </a:r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问题</a:t>
            </a:r>
          </a:p>
        </p:txBody>
      </p:sp>
      <p:sp>
        <p:nvSpPr>
          <p:cNvPr id="15" name="Shape 13"/>
          <p:cNvSpPr/>
          <p:nvPr/>
        </p:nvSpPr>
        <p:spPr>
          <a:xfrm>
            <a:off x="1828800" y="2148840"/>
            <a:ext cx="6766560" cy="548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0" y="2148840"/>
            <a:ext cx="54864" cy="5486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2011680" y="21945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没有打通 → 200人团队手动搬数据，发现漏填导致客户跟丢</a:t>
            </a:r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I</a:t>
            </a:r>
          </a:p>
        </p:txBody>
      </p:sp>
      <p:sp>
        <p:nvSpPr>
          <p:cNvPr id="20" name="Text 18"/>
          <p:cNvSpPr/>
          <p:nvPr/>
        </p:nvSpPr>
        <p:spPr>
          <a:xfrm>
            <a:off x="1097280" y="28803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影响</a:t>
            </a:r>
          </a:p>
        </p:txBody>
      </p:sp>
      <p:sp>
        <p:nvSpPr>
          <p:cNvPr id="21" name="Shape 19"/>
          <p:cNvSpPr/>
          <p:nvPr/>
        </p:nvSpPr>
        <p:spPr>
          <a:xfrm>
            <a:off x="1828800" y="2834640"/>
            <a:ext cx="6766560" cy="548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0" y="2834640"/>
            <a:ext cx="54864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2011680" y="28803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有没有因为信息断档导致客户跟丢？（量化损失，放大痛点）</a:t>
            </a:r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N</a:t>
            </a:r>
          </a:p>
        </p:txBody>
      </p:sp>
      <p:sp>
        <p:nvSpPr>
          <p:cNvPr id="26" name="Text 24"/>
          <p:cNvSpPr/>
          <p:nvPr/>
        </p:nvSpPr>
        <p:spPr>
          <a:xfrm>
            <a:off x="1097280" y="35661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价值</a:t>
            </a:r>
          </a:p>
        </p:txBody>
      </p:sp>
      <p:sp>
        <p:nvSpPr>
          <p:cNvPr id="27" name="Shape 25"/>
          <p:cNvSpPr/>
          <p:nvPr/>
        </p:nvSpPr>
        <p:spPr>
          <a:xfrm>
            <a:off x="1828800" y="3520440"/>
            <a:ext cx="6766560" cy="548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0" y="3520440"/>
            <a:ext cx="54864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2011680" y="35661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微信生态直接打通，聊天记录自动同步 → 成功约到演示</a:t>
            </a:r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系统自动生成：</a:t>
            </a:r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17720"/>
            <a:ext cx="182880" cy="1828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04672" y="4572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开场自然，直接了解需求</a:t>
            </a:r>
            <a:endParaRPr lang="en-US" sz="10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617720"/>
            <a:ext cx="182880" cy="18288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953512" y="4572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挖掘关键痛点</a:t>
            </a:r>
            <a:endParaRPr lang="en-US" sz="10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617720"/>
            <a:ext cx="182880" cy="1828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102352" y="4572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幽默化解客户戒备</a:t>
            </a:r>
            <a:endParaRPr lang="en-US" sz="10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617720"/>
            <a:ext cx="182880" cy="1828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251192" y="4572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约到演示 + 关键决策人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常见问题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1005840"/>
          </a:xfrm>
          <a:prstGeom prst="rect">
            <a:avLst/>
          </a:prstGeom>
          <a:solidFill>
            <a:srgbClr val="0891B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430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没有客户数据能用吗？</a:t>
            </a:r>
          </a:p>
        </p:txBody>
      </p:sp>
      <p:sp>
        <p:nvSpPr>
          <p:cNvPr id="8" name="Text 5"/>
          <p:cNvSpPr/>
          <p:nvPr/>
        </p:nvSpPr>
        <p:spPr>
          <a:xfrm>
            <a:off x="1097280" y="15087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支持「冷启动」模式，对话中自动收集客户信息并保存</a:t>
            </a:r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8404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54864" cy="1005840"/>
          </a:xfrm>
          <a:prstGeom prst="rect">
            <a:avLst/>
          </a:prstGeom>
          <a:solidFill>
            <a:srgbClr val="0891B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88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1430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没有 API 能用吗？</a:t>
            </a:r>
          </a:p>
        </p:txBody>
      </p:sp>
      <p:sp>
        <p:nvSpPr>
          <p:cNvPr id="13" name="Text 9"/>
          <p:cNvSpPr/>
          <p:nvPr/>
        </p:nvSpPr>
        <p:spPr>
          <a:xfrm>
            <a:off x="5303520" y="15087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Dev模式自动提供本地数据库和 API，无需对接外部系统</a:t>
            </a:r>
          </a:p>
        </p:txBody>
      </p:sp>
      <p:sp>
        <p:nvSpPr>
          <p:cNvPr id="14" name="Shape 10"/>
          <p:cNvSpPr/>
          <p:nvPr/>
        </p:nvSpPr>
        <p:spPr>
          <a:xfrm>
            <a:off x="548640" y="2286000"/>
            <a:ext cx="38404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286000"/>
            <a:ext cx="54864" cy="1005840"/>
          </a:xfrm>
          <a:prstGeom prst="rect">
            <a:avLst/>
          </a:prstGeom>
          <a:solidFill>
            <a:srgbClr val="0891B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23774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数据安全如何保障？</a:t>
            </a:r>
          </a:p>
        </p:txBody>
      </p:sp>
      <p:sp>
        <p:nvSpPr>
          <p:cNvPr id="18" name="Text 13"/>
          <p:cNvSpPr/>
          <p:nvPr/>
        </p:nvSpPr>
        <p:spPr>
          <a:xfrm>
            <a:off x="1097280" y="27432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可选择本地部署，所有数据存储在您的环境中，完全可控</a:t>
            </a:r>
          </a:p>
        </p:txBody>
      </p:sp>
      <p:sp>
        <p:nvSpPr>
          <p:cNvPr id="19" name="Shape 14"/>
          <p:cNvSpPr/>
          <p:nvPr/>
        </p:nvSpPr>
        <p:spPr>
          <a:xfrm>
            <a:off x="4754880" y="2286000"/>
            <a:ext cx="38404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286000"/>
            <a:ext cx="54864" cy="1005840"/>
          </a:xfrm>
          <a:prstGeom prst="rect">
            <a:avLst/>
          </a:prstGeom>
          <a:solidFill>
            <a:srgbClr val="0891B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231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3774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支持多语言吗？</a:t>
            </a:r>
          </a:p>
        </p:txBody>
      </p:sp>
      <p:sp>
        <p:nvSpPr>
          <p:cNvPr id="23" name="Text 17"/>
          <p:cNvSpPr/>
          <p:nvPr/>
        </p:nvSpPr>
        <p:spPr>
          <a:xfrm>
            <a:off x="5303520" y="27432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支持中英文及对话中动态切换，AI 自动跟随</a:t>
            </a:r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38404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3520440"/>
            <a:ext cx="54864" cy="1005840"/>
          </a:xfrm>
          <a:prstGeom prst="rect">
            <a:avLst/>
          </a:prstGeom>
          <a:solidFill>
            <a:srgbClr val="0891B2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36118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对接周期多久？</a:t>
            </a:r>
          </a:p>
        </p:txBody>
      </p:sp>
      <p:sp>
        <p:nvSpPr>
          <p:cNvPr id="28" name="Text 21"/>
          <p:cNvSpPr/>
          <p:nvPr/>
        </p:nvSpPr>
        <p:spPr>
          <a:xfrm>
            <a:off x="1097280" y="39776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基础配置 1-2 天完成，Mock 模式立即可用</a:t>
            </a:r>
          </a:p>
        </p:txBody>
      </p:sp>
      <p:sp>
        <p:nvSpPr>
          <p:cNvPr id="29" name="Shape 22"/>
          <p:cNvSpPr/>
          <p:nvPr/>
        </p:nvSpPr>
        <p:spPr>
          <a:xfrm>
            <a:off x="4754880" y="3520440"/>
            <a:ext cx="384048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520440"/>
            <a:ext cx="54864" cy="1005840"/>
          </a:xfrm>
          <a:prstGeom prst="rect">
            <a:avLst/>
          </a:prstGeom>
          <a:solidFill>
            <a:srgbClr val="0891B2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权限规则如何生效？</a:t>
            </a:r>
          </a:p>
        </p:txBody>
      </p:sp>
      <p:sp>
        <p:nvSpPr>
          <p:cNvPr id="33" name="Text 25"/>
          <p:cNvSpPr/>
          <p:nvPr/>
        </p:nvSpPr>
        <p:spPr>
          <a:xfrm>
            <a:off x="5303520" y="39776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AI 承诺前自动调用权限检查 API，超权限提示审批</a:t>
            </a:r>
          </a:p>
        </p:txBody>
      </p:sp>
      <p:sp>
        <p:nvSpPr>
          <p:cNvPr id="34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0" y="73152"/>
            <a:ext cx="548640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5A82">
              <a:alpha val="2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下一步行动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7" name="Text 5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36576" cy="228600"/>
          </a:xfrm>
          <a:prstGeom prst="rect">
            <a:avLst/>
          </a:prstGeom>
          <a:solidFill>
            <a:srgbClr val="0891B2">
              <a:alpha val="5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371600" y="13533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提交对接资料</a:t>
            </a:r>
          </a:p>
        </p:txBody>
      </p:sp>
      <p:sp>
        <p:nvSpPr>
          <p:cNvPr id="10" name="Text 8"/>
          <p:cNvSpPr/>
          <p:nvPr/>
        </p:nvSpPr>
        <p:spPr>
          <a:xfrm>
            <a:off x="1371600" y="1600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产品信息 + 运营策略</a:t>
            </a:r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2" name="Text 10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2423160"/>
            <a:ext cx="36576" cy="228600"/>
          </a:xfrm>
          <a:prstGeom prst="rect">
            <a:avLst/>
          </a:prstGeom>
          <a:solidFill>
            <a:srgbClr val="0891B2">
              <a:alpha val="5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371600" y="1993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我方加载数据</a:t>
            </a:r>
          </a:p>
        </p:txBody>
      </p:sp>
      <p:sp>
        <p:nvSpPr>
          <p:cNvPr id="15" name="Text 13"/>
          <p:cNvSpPr/>
          <p:nvPr/>
        </p:nvSpPr>
        <p:spPr>
          <a:xfrm>
            <a:off x="1371600" y="22402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预计 1-2 天完成</a:t>
            </a:r>
          </a:p>
        </p:txBody>
      </p:sp>
      <p:sp>
        <p:nvSpPr>
          <p:cNvPr id="16" name="Shape 14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7" name="Text 15"/>
          <p:cNvSpPr/>
          <p:nvPr/>
        </p:nvSpPr>
        <p:spPr>
          <a:xfrm>
            <a:off x="731520" y="2651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063240"/>
            <a:ext cx="36576" cy="228600"/>
          </a:xfrm>
          <a:prstGeom prst="rect">
            <a:avLst/>
          </a:prstGeom>
          <a:solidFill>
            <a:srgbClr val="0891B2">
              <a:alpha val="5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1371600" y="2633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Dev 模式演示</a:t>
            </a:r>
          </a:p>
        </p:txBody>
      </p:sp>
      <p:sp>
        <p:nvSpPr>
          <p:cNvPr id="20" name="Text 18"/>
          <p:cNvSpPr/>
          <p:nvPr/>
        </p:nvSpPr>
        <p:spPr>
          <a:xfrm>
            <a:off x="137160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30-60分钟实际对话演示</a:t>
            </a:r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22" name="Text 20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3703320"/>
            <a:ext cx="36576" cy="228600"/>
          </a:xfrm>
          <a:prstGeom prst="rect">
            <a:avLst/>
          </a:prstGeom>
          <a:solidFill>
            <a:srgbClr val="0891B2">
              <a:alpha val="5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371600" y="3273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确认与优化</a:t>
            </a:r>
          </a:p>
        </p:txBody>
      </p:sp>
      <p:sp>
        <p:nvSpPr>
          <p:cNvPr id="25" name="Text 23"/>
          <p:cNvSpPr/>
          <p:nvPr/>
        </p:nvSpPr>
        <p:spPr>
          <a:xfrm>
            <a:off x="1371600" y="35204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讨论调整方向</a:t>
            </a:r>
          </a:p>
        </p:txBody>
      </p:sp>
      <p:sp>
        <p:nvSpPr>
          <p:cNvPr id="26" name="Shape 24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27" name="Text 25"/>
          <p:cNvSpPr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3913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Prod模式对接</a:t>
            </a:r>
          </a:p>
        </p:txBody>
      </p:sp>
      <p:sp>
        <p:nvSpPr>
          <p:cNvPr id="29" name="Text 27"/>
          <p:cNvSpPr/>
          <p:nvPr/>
        </p:nvSpPr>
        <p:spPr>
          <a:xfrm>
            <a:off x="1371600" y="416052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API 配置，按需推进</a:t>
            </a:r>
          </a:p>
        </p:txBody>
      </p:sp>
      <p:sp>
        <p:nvSpPr>
          <p:cNvPr id="30" name="Shape 28"/>
          <p:cNvSpPr/>
          <p:nvPr/>
        </p:nvSpPr>
        <p:spPr>
          <a:xfrm>
            <a:off x="5029200" y="1371600"/>
            <a:ext cx="3657600" cy="2926080"/>
          </a:xfrm>
          <a:prstGeom prst="rect">
            <a:avLst/>
          </a:prstGeom>
          <a:solidFill>
            <a:srgbClr val="0891B2">
              <a:alpha val="15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anose="020B0604020202090204" pitchFamily="34" charset="0"/>
                <a:ea typeface="微软雅黑" panose="020B0703020204020201" charset="-122"/>
                <a:cs typeface="Trebuchet MS" panose="020B0603020202020204" pitchFamily="34" charset="-120"/>
              </a:rPr>
              <a:t>我们提供的支持</a:t>
            </a:r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011680"/>
            <a:ext cx="228600" cy="2286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577840" y="19659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资料模板（JSON 格式）</a:t>
            </a:r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468880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577840" y="24231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全程技术对接支持</a:t>
            </a:r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926080"/>
            <a:ext cx="228600" cy="2286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577840" y="28803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Mock 演示环境</a:t>
            </a:r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383280"/>
            <a:ext cx="228600" cy="2286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577840" y="33375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微软雅黑" panose="020B0703020204020201" charset="-122"/>
                <a:cs typeface="Calibri" pitchFamily="34" charset="-120"/>
              </a:rPr>
              <a:t>定制化配置协助</a:t>
            </a:r>
          </a:p>
        </p:txBody>
      </p:sp>
      <p:sp>
        <p:nvSpPr>
          <p:cNvPr id="40" name="Shape 34"/>
          <p:cNvSpPr/>
          <p:nvPr/>
        </p:nvSpPr>
        <p:spPr>
          <a:xfrm>
            <a:off x="731520" y="4434840"/>
            <a:ext cx="2743200" cy="2743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1" name="Text 35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让每一次对话都更专业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EZAgent AI  ×  M800 / CinnoX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966</Words>
  <Application>Microsoft Office PowerPoint</Application>
  <PresentationFormat>全屏显示(16:9)</PresentationFormat>
  <Paragraphs>324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Microsoft YaHei Regular</vt:lpstr>
      <vt:lpstr>Arial</vt:lpstr>
      <vt:lpstr>Calibri</vt:lpstr>
      <vt:lpstr>Trebuchet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EZAgent AI 智能对话系统 - 客户对接指南</dc:title>
  <dc:subject>PptxGenJS Presentation</dc:subject>
  <dc:creator>EZAgent</dc:creator>
  <cp:lastModifiedBy>Jerry Cao</cp:lastModifiedBy>
  <cp:revision>4</cp:revision>
  <dcterms:created xsi:type="dcterms:W3CDTF">2026-02-04T14:27:40Z</dcterms:created>
  <dcterms:modified xsi:type="dcterms:W3CDTF">2026-02-10T05:33:45Z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DAA2415908467CED5C578369CC72C008_43</vt:lpwstr>
  </property>
</Properties>
</file>