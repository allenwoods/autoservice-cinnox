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6" r:id="rId32"/>
    <p:sldId id="287" r:id="rId33"/>
  </p:sldIdLst>
  <p:notesMasterIdLst>
    <p:notesMasterId r:id="rId3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89250" y="1668512"/>
            <a:ext cx="256549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ONESYN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289250" y="1963787"/>
            <a:ext cx="2565499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200"/>
              </a:spcBef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CINNOX AI Bot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89250" y="2449562"/>
            <a:ext cx="256549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buNone/>
            </a:pPr>
            <a:r>
              <a:rPr lang="en-US" sz="1800" dirty="0">
                <a:solidFill>
                  <a:srgbClr val="E8F4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UAT Round 3 Report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191000" y="2919413"/>
            <a:ext cx="762000" cy="25301"/>
          </a:xfrm>
          <a:prstGeom prst="rect">
            <a:avLst/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289250" y="3147864"/>
            <a:ext cx="256549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200"/>
              </a:spcBef>
              <a:buNone/>
            </a:pPr>
            <a:r>
              <a:rPr lang="en-US" sz="10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2026-03-04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89250" y="3341489"/>
            <a:ext cx="25654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OneSyn Technology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34901"/>
          </a:xfrm>
          <a:prstGeom prst="rect">
            <a:avLst/>
          </a:prstGeom>
          <a:solidFill>
            <a:srgbClr val="1B2A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53901" y="134838"/>
            <a:ext cx="880892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07802" y="357039"/>
            <a:ext cx="854994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8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测试概览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28600" y="787152"/>
            <a:ext cx="2793950" cy="876151"/>
          </a:xfrm>
          <a:prstGeom prst="roundRect">
            <a:avLst>
              <a:gd name="adj" fmla="val 8697"/>
            </a:avLst>
          </a:prstGeom>
          <a:solidFill>
            <a:srgbClr val="E8F8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30150" y="914102"/>
            <a:ext cx="259085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19/19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30150" y="1374428"/>
            <a:ext cx="259085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 (100%)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174950" y="787152"/>
            <a:ext cx="2794099" cy="876151"/>
          </a:xfrm>
          <a:prstGeom prst="roundRect">
            <a:avLst>
              <a:gd name="adj" fmla="val 8697"/>
            </a:avLst>
          </a:prstGeom>
          <a:solidFill>
            <a:srgbClr val="FFF3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276499" y="914102"/>
            <a:ext cx="2591002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v1.2 + v1.3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276499" y="1374428"/>
            <a:ext cx="259100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两轮 SKILL.md 修复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121450" y="787152"/>
            <a:ext cx="2793950" cy="876151"/>
          </a:xfrm>
          <a:prstGeom prst="roundRect">
            <a:avLst>
              <a:gd name="adj" fmla="val 8697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223000" y="914102"/>
            <a:ext cx="259085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E8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3/3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223000" y="1374428"/>
            <a:ext cx="259085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回归测试全部通过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28600" y="1764804"/>
            <a:ext cx="2793950" cy="536377"/>
          </a:xfrm>
          <a:prstGeom prst="roundRect">
            <a:avLst>
              <a:gd name="adj" fmla="val 14206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30101" y="1866305"/>
            <a:ext cx="264276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已解决的 10 个历史问题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30101" y="2066330"/>
            <a:ext cx="264276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7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Q1-Q4, Q6, P4, P5, P7, P9, P14, P15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3174950" y="1764804"/>
            <a:ext cx="2794099" cy="536377"/>
          </a:xfrm>
          <a:prstGeom prst="roundRect">
            <a:avLst>
              <a:gd name="adj" fmla="val 14206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276451" y="1866305"/>
            <a:ext cx="264292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转人工相关 2 项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276451" y="2066330"/>
            <a:ext cx="26429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7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P3/P8: 待 CINNOX 提供真实转接接口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6121450" y="1764804"/>
            <a:ext cx="2793950" cy="536377"/>
          </a:xfrm>
          <a:prstGeom prst="roundRect">
            <a:avLst>
              <a:gd name="adj" fmla="val 14206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222950" y="1866305"/>
            <a:ext cx="264276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体验优化建议 5 项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222950" y="2066330"/>
            <a:ext cx="264276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7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Q5, P6, P10, P11, P12/P13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228600" y="2402681"/>
            <a:ext cx="8686800" cy="425351"/>
          </a:xfrm>
          <a:prstGeom prst="rect">
            <a:avLst/>
          </a:prstGeom>
          <a:solidFill>
            <a:srgbClr val="FD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247650" y="2402681"/>
            <a:ext cx="0" cy="425351"/>
          </a:xfrm>
          <a:prstGeom prst="line">
            <a:avLst/>
          </a:prstGeom>
          <a:noFill/>
          <a:ln w="38100">
            <a:solidFill>
              <a:srgbClr val="E74C3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93650" y="2478881"/>
            <a:ext cx="856269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TCs (Showstopper)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93650" y="2618482"/>
            <a:ext cx="856269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TC-B3 反幻觉测试 PASS — 零虚构 ｜ TC-F2 立即转人工 PASS — 零追问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34901"/>
          </a:xfrm>
          <a:prstGeom prst="rect">
            <a:avLst/>
          </a:prstGeom>
          <a:solidFill>
            <a:srgbClr val="1B2A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53901" y="130076"/>
            <a:ext cx="880892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关键数字对比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07802" y="390376"/>
            <a:ext cx="854994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8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 2 → Round 3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28600" y="812602"/>
            <a:ext cx="3987850" cy="1206401"/>
          </a:xfrm>
          <a:prstGeom prst="roundRect">
            <a:avLst>
              <a:gd name="adj" fmla="val 8422"/>
            </a:avLst>
          </a:prstGeom>
          <a:solidFill>
            <a:srgbClr val="FD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44170" y="965002"/>
            <a:ext cx="375671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 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44170" y="1149102"/>
            <a:ext cx="3756711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36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17/19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44170" y="1723727"/>
            <a:ext cx="375671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89% Pass Rate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419600" y="1239589"/>
            <a:ext cx="31089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927550" y="812602"/>
            <a:ext cx="3987850" cy="1206401"/>
          </a:xfrm>
          <a:prstGeom prst="roundRect">
            <a:avLst>
              <a:gd name="adj" fmla="val 8422"/>
            </a:avLst>
          </a:prstGeom>
          <a:solidFill>
            <a:srgbClr val="E8F8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043120" y="965002"/>
            <a:ext cx="375671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 3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43120" y="1149102"/>
            <a:ext cx="3756711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36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19/19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5043120" y="1723727"/>
            <a:ext cx="375671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Pass Rate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28600" y="2171402"/>
            <a:ext cx="886053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回归测试 (Previously FAIL → Now PASS)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8600" y="2428577"/>
            <a:ext cx="2827883" cy="558701"/>
          </a:xfrm>
          <a:prstGeom prst="roundRect">
            <a:avLst>
              <a:gd name="adj" fmla="val 9093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247650" y="2428577"/>
            <a:ext cx="0" cy="558701"/>
          </a:xfrm>
          <a:prstGeom prst="line">
            <a:avLst/>
          </a:prstGeom>
          <a:noFill/>
          <a:ln w="38100">
            <a:solidFill>
              <a:srgbClr val="F39C1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2900" y="2504777"/>
            <a:ext cx="269013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TC-A2 ⚠️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42900" y="2692003"/>
            <a:ext cx="2690131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未收集 → 已回退规格：投诉流程收集 Company/Account ID/Service/Agent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3157984" y="2428577"/>
            <a:ext cx="2828032" cy="558701"/>
          </a:xfrm>
          <a:prstGeom prst="roundRect">
            <a:avLst>
              <a:gd name="adj" fmla="val 9093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3177034" y="2428577"/>
            <a:ext cx="0" cy="558701"/>
          </a:xfrm>
          <a:prstGeom prst="line">
            <a:avLst/>
          </a:prstGeom>
          <a:noFill/>
          <a:ln w="38100">
            <a:solidFill>
              <a:srgbClr val="F39C1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72284" y="2504777"/>
            <a:ext cx="269028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TC-B1 ⚠️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272284" y="2692003"/>
            <a:ext cx="269028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直接回答跳过 Lead → v1.2: 无身份信号先问路由问题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6087517" y="2428577"/>
            <a:ext cx="2827883" cy="558701"/>
          </a:xfrm>
          <a:prstGeom prst="roundRect">
            <a:avLst>
              <a:gd name="adj" fmla="val 9093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6106567" y="2428577"/>
            <a:ext cx="0" cy="558701"/>
          </a:xfrm>
          <a:prstGeom prst="line">
            <a:avLst/>
          </a:prstGeom>
          <a:noFill/>
          <a:ln w="38100">
            <a:solidFill>
              <a:srgbClr val="F39C1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01817" y="2504777"/>
            <a:ext cx="269013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TC-H2 ⚠️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201817" y="2692003"/>
            <a:ext cx="269013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后直接产品介绍 → v1.3: Discovery Phase 先问 clarifying Qs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34901"/>
          </a:xfrm>
          <a:prstGeom prst="rect">
            <a:avLst/>
          </a:prstGeom>
          <a:solidFill>
            <a:srgbClr val="1B2A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53901" y="115788"/>
            <a:ext cx="880892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CINNOX 聊天记录分析概览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07802" y="376089"/>
            <a:ext cx="854994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8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个历史会话分析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28600" y="812602"/>
            <a:ext cx="2777133" cy="806351"/>
          </a:xfrm>
          <a:prstGeom prst="roundRect">
            <a:avLst>
              <a:gd name="adj" fmla="val 9450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30318" y="939552"/>
            <a:ext cx="2573697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8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30318" y="1349127"/>
            <a:ext cx="257369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分析会话总数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183434" y="812602"/>
            <a:ext cx="2777133" cy="806351"/>
          </a:xfrm>
          <a:prstGeom prst="roundRect">
            <a:avLst>
              <a:gd name="adj" fmla="val 9450"/>
            </a:avLst>
          </a:prstGeom>
          <a:solidFill>
            <a:srgbClr val="FFF3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285152" y="939552"/>
            <a:ext cx="2573697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61%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285152" y="1349127"/>
            <a:ext cx="257369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发生 AI→人工 Escalation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138267" y="812602"/>
            <a:ext cx="2777133" cy="806351"/>
          </a:xfrm>
          <a:prstGeom prst="roundRect">
            <a:avLst>
              <a:gd name="adj" fmla="val 9450"/>
            </a:avLst>
          </a:prstGeom>
          <a:solidFill>
            <a:srgbClr val="FD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239985" y="939552"/>
            <a:ext cx="2573697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(41%)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239985" y="1349127"/>
            <a:ext cx="257369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异常/过早转人工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28600" y="1745903"/>
            <a:ext cx="8686800" cy="904577"/>
          </a:xfrm>
          <a:prstGeom prst="roundRect">
            <a:avLst>
              <a:gd name="adj" fmla="val 8424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55550" y="1872853"/>
            <a:ext cx="860155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数据来源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55550" y="2072878"/>
            <a:ext cx="860155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7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CINNOX 客服聊天记录（18 个话题分类），时间范围：2025年12月 - 2026年2月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355550" y="2231529"/>
            <a:ext cx="860155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会话类型：98 个 Broadcast Chat，1 个 Direct Chat，1 个未知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355550" y="2390180"/>
            <a:ext cx="860155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实例：Vega（主要）、Mira（Virtual Assistant）、Chihiro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228600" y="2726680"/>
            <a:ext cx="8686800" cy="504527"/>
          </a:xfrm>
          <a:prstGeom prst="roundRect">
            <a:avLst>
              <a:gd name="adj" fmla="val 15103"/>
            </a:avLst>
          </a:prstGeom>
          <a:solidFill>
            <a:srgbClr val="E8F8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30101" y="2828181"/>
            <a:ext cx="865347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分析目的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30101" y="2996357"/>
            <a:ext cx="865347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识别 AI 机器人异常转人工的规律与根本原因 → 确保我们的架构设计能系统性规避这些问题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34901"/>
          </a:xfrm>
          <a:prstGeom prst="rect">
            <a:avLst/>
          </a:prstGeom>
          <a:solidFill>
            <a:srgbClr val="1B2A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53901" y="115788"/>
            <a:ext cx="880892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三类核心问题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07802" y="376089"/>
            <a:ext cx="854994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8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异常转人工的根本原因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28600" y="787152"/>
            <a:ext cx="8686800" cy="704552"/>
          </a:xfrm>
          <a:prstGeom prst="rect">
            <a:avLst/>
          </a:prstGeom>
          <a:solidFill>
            <a:srgbClr val="FD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252413" y="787152"/>
            <a:ext cx="0" cy="704552"/>
          </a:xfrm>
          <a:prstGeom prst="line">
            <a:avLst/>
          </a:prstGeom>
          <a:noFill/>
          <a:ln w="47625">
            <a:solidFill>
              <a:srgbClr val="E74C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3175" y="888653"/>
            <a:ext cx="855298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A类：AI 从未介入（23 个案例）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03175" y="1107728"/>
            <a:ext cx="855298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客户打开聊天窗口，Vega 完全没有发出任何响应，人工客服在 0~2 秒内直接加入房间。路由配置问题：Broadcast Chat 配置了"人工在线时跳过 AI"的规则。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403175" y="1266379"/>
            <a:ext cx="855298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高发话题：sales (70%), target_China (67%), agent (71%), complaint (50%)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228600" y="1567904"/>
            <a:ext cx="8686800" cy="704552"/>
          </a:xfrm>
          <a:prstGeom prst="rect">
            <a:avLst/>
          </a:prstGeom>
          <a:solidFill>
            <a:srgbClr val="FFF3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252413" y="1567904"/>
            <a:ext cx="0" cy="704552"/>
          </a:xfrm>
          <a:prstGeom prst="line">
            <a:avLst/>
          </a:prstGeom>
          <a:noFill/>
          <a:ln w="47625">
            <a:solidFill>
              <a:srgbClr val="F39C1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3175" y="1669405"/>
            <a:ext cx="855298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B类：AI 提问后不等回答，立刻离开（5 个案例）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03175" y="1888480"/>
            <a:ext cx="855298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向客户提出澄清问题，客户还未回答，AI 就触发 room.leave。会话生命周期逻辑 Bug：等待超时设置过短，给出模板回复后认为对话结束。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403175" y="2047131"/>
            <a:ext cx="855298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典型：INQ-002EL5 — "请问有印度bc的营销通道吗" → AI 问完就离开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228600" y="2348657"/>
            <a:ext cx="8686800" cy="704552"/>
          </a:xfrm>
          <a:prstGeom prst="rect">
            <a:avLst/>
          </a:prstGeom>
          <a:solidFill>
            <a:srgbClr val="FFFDE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252413" y="2348657"/>
            <a:ext cx="0" cy="704552"/>
          </a:xfrm>
          <a:prstGeom prst="line">
            <a:avLst/>
          </a:prstGeom>
          <a:noFill/>
          <a:ln w="47625">
            <a:solidFill>
              <a:srgbClr val="FDD8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3175" y="2450157"/>
            <a:ext cx="855298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9A8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C类：AI 对自家产品说"不知道"（5 个案例）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03175" y="2669232"/>
            <a:ext cx="855298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客户询问 CINNOX 核心产品功能（toll-free、VoIP、SIP、API rate limit），AI 回答"没有相关信息"。知识库（KB）覆盖不足问题。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403175" y="2827883"/>
            <a:ext cx="855298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典型：INQ-002EK2 — "I need Denmark toll free" → "I don't have specific information"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34901"/>
          </a:xfrm>
          <a:prstGeom prst="rect">
            <a:avLst/>
          </a:prstGeom>
          <a:solidFill>
            <a:srgbClr val="1B2A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53901" y="115788"/>
            <a:ext cx="880892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我们的架构如何规避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07802" y="376089"/>
            <a:ext cx="854994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8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针对三类问题的系统性解决方案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28600" y="787152"/>
            <a:ext cx="863501" cy="672703"/>
          </a:xfrm>
          <a:prstGeom prst="roundRect">
            <a:avLst>
              <a:gd name="adj" fmla="val 7552"/>
            </a:avLst>
          </a:prstGeom>
          <a:solidFill>
            <a:srgbClr val="E74C3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71091" y="1052066"/>
            <a:ext cx="17837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A类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93602" y="787152"/>
            <a:ext cx="7721798" cy="672703"/>
          </a:xfrm>
          <a:prstGeom prst="roundRect">
            <a:avLst>
              <a:gd name="adj" fmla="val 7552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295102" y="888653"/>
            <a:ext cx="766917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MANDATORY GATE 强制路由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295102" y="1075879"/>
            <a:ext cx="766917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每条消息必经 MANDATORY GATE 检查 → 未识别客户类型前不回答任何问题 → 确保 AI 始终介入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1295102" y="1234529"/>
            <a:ext cx="766917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验证：19/19 TC 全部经过 GATE 检查，零遗漏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228600" y="1536055"/>
            <a:ext cx="863501" cy="672703"/>
          </a:xfrm>
          <a:prstGeom prst="roundRect">
            <a:avLst>
              <a:gd name="adj" fmla="val 7552"/>
            </a:avLst>
          </a:prstGeom>
          <a:solidFill>
            <a:srgbClr val="F39C1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71091" y="1800969"/>
            <a:ext cx="17837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B类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193602" y="1536055"/>
            <a:ext cx="7721798" cy="672703"/>
          </a:xfrm>
          <a:prstGeom prst="roundRect">
            <a:avLst>
              <a:gd name="adj" fmla="val 7552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295102" y="1637556"/>
            <a:ext cx="766917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多轮对话状态管理 (Discovery Phase)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295102" y="1824782"/>
            <a:ext cx="766917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v1.3 新增 Discovery Phase → 模糊请求不立即推荐 → 先问 1-2 个 clarifying questions → 基于客户回答再推荐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1295102" y="1983432"/>
            <a:ext cx="766917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验证：TC-H2 从 FAIL(v1.2) 到 PASS(v1.3)，Bot 主动追问需求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228600" y="2284958"/>
            <a:ext cx="863501" cy="672703"/>
          </a:xfrm>
          <a:prstGeom prst="roundRect">
            <a:avLst>
              <a:gd name="adj" fmla="val 7552"/>
            </a:avLst>
          </a:prstGeom>
          <a:solidFill>
            <a:srgbClr val="FDD83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71091" y="2549872"/>
            <a:ext cx="17837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C类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193602" y="2284958"/>
            <a:ext cx="7721798" cy="672703"/>
          </a:xfrm>
          <a:prstGeom prst="roundRect">
            <a:avLst>
              <a:gd name="adj" fmla="val 7552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295102" y="2386459"/>
            <a:ext cx="766917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本地 KB 构建 + RAG + 反幻觉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295102" y="2573685"/>
            <a:ext cx="766917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产品文档/定价/费率表全部入库 → kb_search.py RAG 检索 → 无结果时明确说"不在文档中" → 绝不虚构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295102" y="2732336"/>
            <a:ext cx="766917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验证：TC-B3 全息投影测试 — 两次施压均坚守"不在文档中"，零幻觉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34901"/>
          </a:xfrm>
          <a:prstGeom prst="rect">
            <a:avLst/>
          </a:prstGeom>
          <a:solidFill>
            <a:srgbClr val="1B2A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53901" y="115788"/>
            <a:ext cx="880892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架构总览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07802" y="376089"/>
            <a:ext cx="854994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8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SKILL.md 消息处理流程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557165" y="761702"/>
            <a:ext cx="914102" cy="244376"/>
          </a:xfrm>
          <a:prstGeom prst="roundRect">
            <a:avLst>
              <a:gd name="adj" fmla="val 20788"/>
            </a:avLst>
          </a:prstGeom>
          <a:solidFill>
            <a:srgbClr val="1B2A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703472" y="812453"/>
            <a:ext cx="62148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用户消息进入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72888" y="1056829"/>
            <a:ext cx="568265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2387947" y="1190179"/>
            <a:ext cx="1252538" cy="241102"/>
          </a:xfrm>
          <a:prstGeom prst="roundRect">
            <a:avLst>
              <a:gd name="adj" fmla="val 21070"/>
            </a:avLst>
          </a:prstGeom>
          <a:solidFill>
            <a:srgbClr val="E74C3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530870" y="1253579"/>
            <a:ext cx="96669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MANDATORY GATE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72888" y="1482030"/>
            <a:ext cx="568265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客户类型判断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228600" y="1643955"/>
            <a:ext cx="1806178" cy="295126"/>
          </a:xfrm>
          <a:prstGeom prst="roundRect">
            <a:avLst>
              <a:gd name="adj" fmla="val 17213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62304" y="1694706"/>
            <a:ext cx="173877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E8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Customer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262304" y="1802606"/>
            <a:ext cx="173877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Name+Company+Email+Phone</a:t>
            </a:r>
            <a:endParaRPr lang="en-US" sz="600" dirty="0"/>
          </a:p>
        </p:txBody>
      </p:sp>
      <p:sp>
        <p:nvSpPr>
          <p:cNvPr id="14" name="Text 12"/>
          <p:cNvSpPr/>
          <p:nvPr/>
        </p:nvSpPr>
        <p:spPr>
          <a:xfrm>
            <a:off x="2110978" y="1643955"/>
            <a:ext cx="1806327" cy="295126"/>
          </a:xfrm>
          <a:prstGeom prst="roundRect">
            <a:avLst>
              <a:gd name="adj" fmla="val 17213"/>
            </a:avLst>
          </a:prstGeom>
          <a:solidFill>
            <a:srgbClr val="FFF3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144680" y="1694706"/>
            <a:ext cx="173892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Customer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2144680" y="1802606"/>
            <a:ext cx="173892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Company+Account ID</a:t>
            </a:r>
            <a:endParaRPr lang="en-US" sz="600" dirty="0"/>
          </a:p>
        </p:txBody>
      </p:sp>
      <p:sp>
        <p:nvSpPr>
          <p:cNvPr id="17" name="Text 15"/>
          <p:cNvSpPr/>
          <p:nvPr/>
        </p:nvSpPr>
        <p:spPr>
          <a:xfrm>
            <a:off x="3993505" y="1643955"/>
            <a:ext cx="1806327" cy="295126"/>
          </a:xfrm>
          <a:prstGeom prst="roundRect">
            <a:avLst>
              <a:gd name="adj" fmla="val 17213"/>
            </a:avLst>
          </a:prstGeom>
          <a:solidFill>
            <a:srgbClr val="F3E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027207" y="1694706"/>
            <a:ext cx="173892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E2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4027207" y="1802606"/>
            <a:ext cx="173892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Name+Company+Email+Phone</a:t>
            </a:r>
            <a:endParaRPr lang="en-US" sz="600" dirty="0"/>
          </a:p>
        </p:txBody>
      </p:sp>
      <p:sp>
        <p:nvSpPr>
          <p:cNvPr id="20" name="Text 18"/>
          <p:cNvSpPr/>
          <p:nvPr/>
        </p:nvSpPr>
        <p:spPr>
          <a:xfrm>
            <a:off x="172888" y="1989832"/>
            <a:ext cx="568265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Lead/身份 收集完成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228600" y="2151757"/>
            <a:ext cx="1806178" cy="342751"/>
          </a:xfrm>
          <a:prstGeom prst="roundRect">
            <a:avLst>
              <a:gd name="adj" fmla="val 14821"/>
            </a:avLst>
          </a:prstGeom>
          <a:solidFill>
            <a:srgbClr val="E8F8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262304" y="2202507"/>
            <a:ext cx="173877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具体问题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262304" y="2338983"/>
            <a:ext cx="173877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KB RAG 回答</a:t>
            </a:r>
            <a:endParaRPr lang="en-US" sz="600" dirty="0"/>
          </a:p>
        </p:txBody>
      </p:sp>
      <p:sp>
        <p:nvSpPr>
          <p:cNvPr id="24" name="Text 22"/>
          <p:cNvSpPr/>
          <p:nvPr/>
        </p:nvSpPr>
        <p:spPr>
          <a:xfrm>
            <a:off x="2110978" y="2151757"/>
            <a:ext cx="1806327" cy="342751"/>
          </a:xfrm>
          <a:prstGeom prst="roundRect">
            <a:avLst>
              <a:gd name="adj" fmla="val 14821"/>
            </a:avLst>
          </a:prstGeom>
          <a:solidFill>
            <a:srgbClr val="FFFDE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2144680" y="2202507"/>
            <a:ext cx="173892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9A8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模糊请求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2144680" y="2338983"/>
            <a:ext cx="173892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Discovery Phase</a:t>
            </a:r>
            <a:endParaRPr lang="en-US" sz="600" dirty="0"/>
          </a:p>
        </p:txBody>
      </p:sp>
      <p:sp>
        <p:nvSpPr>
          <p:cNvPr id="27" name="Text 25"/>
          <p:cNvSpPr/>
          <p:nvPr/>
        </p:nvSpPr>
        <p:spPr>
          <a:xfrm>
            <a:off x="3993505" y="2151757"/>
            <a:ext cx="1806327" cy="342751"/>
          </a:xfrm>
          <a:prstGeom prst="roundRect">
            <a:avLst>
              <a:gd name="adj" fmla="val 14821"/>
            </a:avLst>
          </a:prstGeom>
          <a:solidFill>
            <a:srgbClr val="FD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027207" y="2202507"/>
            <a:ext cx="173892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投诉/故障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4027207" y="2338983"/>
            <a:ext cx="173892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转人工支持</a:t>
            </a:r>
            <a:endParaRPr lang="en-US" sz="600" dirty="0"/>
          </a:p>
        </p:txBody>
      </p:sp>
      <p:sp>
        <p:nvSpPr>
          <p:cNvPr id="30" name="Text 28"/>
          <p:cNvSpPr/>
          <p:nvPr/>
        </p:nvSpPr>
        <p:spPr>
          <a:xfrm>
            <a:off x="172888" y="2545259"/>
            <a:ext cx="568265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228600" y="2678609"/>
            <a:ext cx="2747516" cy="225326"/>
          </a:xfrm>
          <a:prstGeom prst="roundRect">
            <a:avLst>
              <a:gd name="adj" fmla="val 22545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252890" y="2729359"/>
            <a:ext cx="269893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KB 有答案 → 回答 + 来源引用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3052316" y="2678609"/>
            <a:ext cx="2747516" cy="225326"/>
          </a:xfrm>
          <a:prstGeom prst="roundRect">
            <a:avLst>
              <a:gd name="adj" fmla="val 22545"/>
            </a:avLst>
          </a:prstGeom>
          <a:solidFill>
            <a:srgbClr val="F39C1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3076606" y="2729359"/>
            <a:ext cx="269893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KB 无答案 → 转人工专家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5926782" y="761702"/>
            <a:ext cx="2988618" cy="2142232"/>
          </a:xfrm>
          <a:prstGeom prst="roundRect">
            <a:avLst>
              <a:gd name="adj" fmla="val 3557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6028283" y="863203"/>
            <a:ext cx="284132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特殊处理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028283" y="1056829"/>
            <a:ext cx="2785616" cy="288875"/>
          </a:xfrm>
          <a:prstGeom prst="roundRect">
            <a:avLst>
              <a:gd name="adj" fmla="val 13189"/>
            </a:avLst>
          </a:prstGeom>
          <a:solidFill>
            <a:srgbClr val="FD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6091684" y="1094929"/>
            <a:ext cx="271199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OVERRIDE</a:t>
            </a:r>
            <a:endParaRPr lang="en-US" sz="650" dirty="0"/>
          </a:p>
        </p:txBody>
      </p:sp>
      <p:sp>
        <p:nvSpPr>
          <p:cNvPr id="39" name="Text 37"/>
          <p:cNvSpPr/>
          <p:nvPr/>
        </p:nvSpPr>
        <p:spPr>
          <a:xfrm>
            <a:off x="6091684" y="1202829"/>
            <a:ext cx="271199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直接要求转人工 → 跳过所有步骤，立即路由 (TC-F2)</a:t>
            </a:r>
            <a:endParaRPr lang="en-US" sz="600" dirty="0"/>
          </a:p>
        </p:txBody>
      </p:sp>
      <p:sp>
        <p:nvSpPr>
          <p:cNvPr id="40" name="Text 38"/>
          <p:cNvSpPr/>
          <p:nvPr/>
        </p:nvSpPr>
        <p:spPr>
          <a:xfrm>
            <a:off x="6028283" y="1383804"/>
            <a:ext cx="2785616" cy="288875"/>
          </a:xfrm>
          <a:prstGeom prst="roundRect">
            <a:avLst>
              <a:gd name="adj" fmla="val 13189"/>
            </a:avLst>
          </a:prstGeom>
          <a:solidFill>
            <a:srgbClr val="FFFDE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6091684" y="1421904"/>
            <a:ext cx="271199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F9A8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IDENTITY SIGNAL</a:t>
            </a:r>
            <a:endParaRPr lang="en-US" sz="650" dirty="0"/>
          </a:p>
        </p:txBody>
      </p:sp>
      <p:sp>
        <p:nvSpPr>
          <p:cNvPr id="42" name="Text 40"/>
          <p:cNvSpPr/>
          <p:nvPr/>
        </p:nvSpPr>
        <p:spPr>
          <a:xfrm>
            <a:off x="6091684" y="1529804"/>
            <a:ext cx="271199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无法判断客户类型 → 先问路由问题 (TC-B1/G1/H1)</a:t>
            </a:r>
            <a:endParaRPr lang="en-US" sz="600" dirty="0"/>
          </a:p>
        </p:txBody>
      </p:sp>
      <p:sp>
        <p:nvSpPr>
          <p:cNvPr id="43" name="Text 41"/>
          <p:cNvSpPr/>
          <p:nvPr/>
        </p:nvSpPr>
        <p:spPr>
          <a:xfrm>
            <a:off x="6028283" y="1710779"/>
            <a:ext cx="2785616" cy="288875"/>
          </a:xfrm>
          <a:prstGeom prst="roundRect">
            <a:avLst>
              <a:gd name="adj" fmla="val 13189"/>
            </a:avLst>
          </a:prstGeom>
          <a:solidFill>
            <a:srgbClr val="E8F8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6091684" y="1748879"/>
            <a:ext cx="271199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ANTI-HALLUCINATION</a:t>
            </a:r>
            <a:endParaRPr lang="en-US" sz="650" dirty="0"/>
          </a:p>
        </p:txBody>
      </p:sp>
      <p:sp>
        <p:nvSpPr>
          <p:cNvPr id="45" name="Text 43"/>
          <p:cNvSpPr/>
          <p:nvPr/>
        </p:nvSpPr>
        <p:spPr>
          <a:xfrm>
            <a:off x="6091684" y="1856780"/>
            <a:ext cx="271199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KB 无结果 → 明确说"不在文档中" → 绝不虚构 (TC-B3)</a:t>
            </a:r>
            <a:endParaRPr lang="en-US" sz="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34901"/>
          </a:xfrm>
          <a:prstGeom prst="rect">
            <a:avLst/>
          </a:prstGeom>
          <a:solidFill>
            <a:srgbClr val="1B2A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53901" y="115788"/>
            <a:ext cx="880892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关键设计决策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07802" y="376089"/>
            <a:ext cx="854994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8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SKILL.md 核心机制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28600" y="787152"/>
            <a:ext cx="4292650" cy="850702"/>
          </a:xfrm>
          <a:prstGeom prst="roundRect">
            <a:avLst>
              <a:gd name="adj" fmla="val 8957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228600" y="806202"/>
            <a:ext cx="4292650" cy="0"/>
          </a:xfrm>
          <a:prstGeom prst="line">
            <a:avLst/>
          </a:prstGeom>
          <a:noFill/>
          <a:ln w="38100">
            <a:solidFill>
              <a:srgbClr val="E74C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0101" y="926753"/>
            <a:ext cx="41714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MANDATORY GATE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30101" y="1107728"/>
            <a:ext cx="417144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7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每条消息必经 Gate 检查。未识别客户类型、未收集 Lead 信息前，禁止调用 kb_search.py，禁止回答任何产品/定价问题。即使客户说"先回答我的问题"也不跳过。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30101" y="1412528"/>
            <a:ext cx="417144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覆盖：全部 19 个 TC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622750" y="787152"/>
            <a:ext cx="4292650" cy="850702"/>
          </a:xfrm>
          <a:prstGeom prst="roundRect">
            <a:avLst>
              <a:gd name="adj" fmla="val 8957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4622750" y="806202"/>
            <a:ext cx="4292650" cy="0"/>
          </a:xfrm>
          <a:prstGeom prst="line">
            <a:avLst/>
          </a:prstGeom>
          <a:noFill/>
          <a:ln w="38100">
            <a:solidFill>
              <a:srgbClr val="27AE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24251" y="926753"/>
            <a:ext cx="41714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Anti-Hallucination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724251" y="1107728"/>
            <a:ext cx="417144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7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KB 检索无结果时，明确告知客户"不在文档中"。即使客户施压（"我们在展会上看到了"），也坚守立场不虚构功能。来源引用使用用户友好名称。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4724251" y="1412528"/>
            <a:ext cx="417144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关键验证：TC-B3 (全息投影), TC-C3 ($5/分钟纠正)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228600" y="1714054"/>
            <a:ext cx="4292650" cy="850702"/>
          </a:xfrm>
          <a:prstGeom prst="roundRect">
            <a:avLst>
              <a:gd name="adj" fmla="val 8957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228600" y="1733104"/>
            <a:ext cx="4292650" cy="0"/>
          </a:xfrm>
          <a:prstGeom prst="line">
            <a:avLst/>
          </a:prstGeom>
          <a:noFill/>
          <a:ln w="38100">
            <a:solidFill>
              <a:srgbClr val="F39C1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0101" y="1853654"/>
            <a:ext cx="41714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Discovery Phase (v1.3)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0101" y="2034629"/>
            <a:ext cx="417144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7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模糊请求不直接推荐产品。Lead 收集后进入 Discovery Phase：先问 1-2 个 clarifying questions 了解需求（渠道、团队规模、痛点），再给出针对性推荐。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330101" y="2339429"/>
            <a:ext cx="417144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关键验证：TC-H2 (v1.2 FAIL → v1.3 PASS)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4622750" y="1714054"/>
            <a:ext cx="4292650" cy="850702"/>
          </a:xfrm>
          <a:prstGeom prst="roundRect">
            <a:avLst>
              <a:gd name="adj" fmla="val 8957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4622750" y="1733104"/>
            <a:ext cx="4292650" cy="0"/>
          </a:xfrm>
          <a:prstGeom prst="line">
            <a:avLst/>
          </a:prstGeom>
          <a:noFill/>
          <a:ln w="38100">
            <a:solidFill>
              <a:srgbClr val="2E86D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24251" y="1853654"/>
            <a:ext cx="41714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Citation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24251" y="2034629"/>
            <a:ext cx="417144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7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所有 KB 回答附带来源引用。v1.2 修复：从内部文件名（EN_CINNOX_Pricing_07012024_v3.xlsx）改为用户友好名称（"pricing documentation"）。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4724251" y="2339429"/>
            <a:ext cx="417144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关键验证：TC-B1/C1/G1 来源引用格式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19 TC 测试结果总表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502920"/>
          <a:ext cx="877824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097280"/>
                <a:gridCol w="1645920"/>
                <a:gridCol w="548640"/>
                <a:gridCol w="4480560"/>
              </a:tblGrid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</a:rPr>
                        <a:t>TC</a:t>
                      </a:r>
                      <a:endParaRPr lang="en-US" sz="6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</a:rPr>
                        <a:t>类别</a:t>
                      </a:r>
                      <a:endParaRPr lang="en-US" sz="6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</a:rPr>
                        <a:t>名称</a:t>
                      </a:r>
                      <a:endParaRPr lang="en-US" sz="6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</a:rPr>
                        <a:t>结果</a:t>
                      </a:r>
                      <a:endParaRPr lang="en-US" sz="6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</a:rPr>
                        <a:t>关键备注</a:t>
                      </a:r>
                      <a:endParaRPr lang="en-US" sz="6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2C3E50"/>
                          </a:solidFill>
                        </a:rPr>
                        <a:t>TC-A1</a:t>
                      </a:r>
                      <a:endParaRPr lang="en-US" sz="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7F8C8D"/>
                          </a:solidFill>
                        </a:rPr>
                        <a:t>Customer Type</a:t>
                      </a:r>
                      <a:endParaRPr lang="en-US" sz="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</a:rPr>
                        <a:t>New Customer ID</a:t>
                      </a:r>
                      <a:endParaRPr lang="en-US" sz="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27AE60"/>
                          </a:solidFill>
                        </a:rPr>
                        <a:t>PASS</a:t>
                      </a:r>
                      <a:endParaRPr lang="en-US" sz="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50" dirty="0">
                          <a:solidFill>
                            <a:srgbClr val="7F8C8D"/>
                          </a:solidFill>
                        </a:rPr>
                        <a:t>4 fields + confirmation</a:t>
                      </a:r>
                      <a:endParaRPr lang="en-US" sz="5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b="1" dirty="0">
                          <a:solidFill>
                            <a:srgbClr val="F39C12"/>
                          </a:solidFill>
                        </a:rPr>
                        <a:t>TC-A2 ⚠️</a:t>
                      </a:r>
                      <a:endParaRPr lang="en-US" sz="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7F8C8D"/>
                          </a:solidFill>
                        </a:rPr>
                        <a:t>Customer Type</a:t>
                      </a:r>
                      <a:endParaRPr lang="en-US" sz="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</a:rPr>
                        <a:t>Existing Customer ID</a:t>
                      </a:r>
                      <a:endParaRPr lang="en-US" sz="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27AE60"/>
                          </a:solidFill>
                        </a:rPr>
                        <a:t>PASS</a:t>
                      </a:r>
                      <a:endParaRPr lang="en-US" sz="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50" dirty="0">
                          <a:solidFill>
                            <a:srgbClr val="7F8C8D"/>
                          </a:solidFill>
                        </a:rPr>
                        <a:t>回归: Email 规格回退</a:t>
                      </a:r>
                      <a:endParaRPr lang="en-US" sz="5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2C3E50"/>
                          </a:solidFill>
                        </a:rPr>
                        <a:t>TC-A3</a:t>
                      </a:r>
                      <a:endParaRPr lang="en-US" sz="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7F8C8D"/>
                          </a:solidFill>
                        </a:rPr>
                        <a:t>Customer Type</a:t>
                      </a:r>
                      <a:endParaRPr lang="en-US" sz="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</a:rPr>
                        <a:t>Partner ID</a:t>
                      </a:r>
                      <a:endParaRPr lang="en-US" sz="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27AE60"/>
                          </a:solidFill>
                        </a:rPr>
                        <a:t>PASS</a:t>
                      </a:r>
                      <a:endParaRPr lang="en-US" sz="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50" dirty="0">
                          <a:solidFill>
                            <a:srgbClr val="7F8C8D"/>
                          </a:solidFill>
                        </a:rPr>
                        <a:t>路由至 Partnership</a:t>
                      </a:r>
                      <a:endParaRPr lang="en-US" sz="5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2C3E50"/>
                          </a:solidFill>
                        </a:rPr>
                        <a:t>TC-A4</a:t>
                      </a:r>
                      <a:endParaRPr lang="en-US" sz="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7F8C8D"/>
                          </a:solidFill>
                        </a:rPr>
                        <a:t>Customer Type</a:t>
                      </a:r>
                      <a:endParaRPr lang="en-US" sz="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</a:rPr>
                        <a:t>Existing Product Q</a:t>
                      </a:r>
                      <a:endParaRPr lang="en-US" sz="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27AE60"/>
                          </a:solidFill>
                        </a:rPr>
                        <a:t>PASS</a:t>
                      </a:r>
                      <a:endParaRPr lang="en-US" sz="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50" dirty="0">
                          <a:solidFill>
                            <a:srgbClr val="7F8C8D"/>
                          </a:solidFill>
                        </a:rPr>
                        <a:t>RAG + 来源引用</a:t>
                      </a:r>
                      <a:endParaRPr lang="en-US" sz="5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b="1" dirty="0">
                          <a:solidFill>
                            <a:srgbClr val="F39C12"/>
                          </a:solidFill>
                        </a:rPr>
                        <a:t>TC-B1 ⚠️</a:t>
                      </a:r>
                      <a:endParaRPr lang="en-US" sz="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7F8C8D"/>
                          </a:solidFill>
                        </a:rPr>
                        <a:t>Product/RAG</a:t>
                      </a:r>
                      <a:endParaRPr lang="en-US" sz="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</a:rPr>
                        <a:t>WhatsApp Integration</a:t>
                      </a:r>
                      <a:endParaRPr lang="en-US" sz="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27AE60"/>
                          </a:solidFill>
                        </a:rPr>
                        <a:t>PASS</a:t>
                      </a:r>
                      <a:endParaRPr lang="en-US" sz="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50" dirty="0">
                          <a:solidFill>
                            <a:srgbClr val="7F8C8D"/>
                          </a:solidFill>
                        </a:rPr>
                        <a:t>回归: 路由问题→Lead→回答</a:t>
                      </a:r>
                      <a:endParaRPr lang="en-US" sz="5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2C3E50"/>
                          </a:solidFill>
                        </a:rPr>
                        <a:t>TC-B2</a:t>
                      </a:r>
                      <a:endParaRPr lang="en-US" sz="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7F8C8D"/>
                          </a:solidFill>
                        </a:rPr>
                        <a:t>Product/RAG</a:t>
                      </a:r>
                      <a:endParaRPr lang="en-US" sz="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</a:rPr>
                        <a:t>High Vol Banking</a:t>
                      </a:r>
                      <a:endParaRPr lang="en-US" sz="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27AE60"/>
                          </a:solidFill>
                        </a:rPr>
                        <a:t>PASS</a:t>
                      </a:r>
                      <a:endParaRPr lang="en-US" sz="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50" dirty="0">
                          <a:solidFill>
                            <a:srgbClr val="7F8C8D"/>
                          </a:solidFill>
                        </a:rPr>
                        <a:t>OCC/CXHub 推荐</a:t>
                      </a:r>
                      <a:endParaRPr lang="en-US" sz="5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b="1" dirty="0">
                          <a:solidFill>
                            <a:srgbClr val="F39C12"/>
                          </a:solidFill>
                        </a:rPr>
                        <a:t>TC-B3 ⚠️</a:t>
                      </a:r>
                      <a:endParaRPr lang="en-US" sz="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7F8C8D"/>
                          </a:solidFill>
                        </a:rPr>
                        <a:t>Product/RAG</a:t>
                      </a:r>
                      <a:endParaRPr lang="en-US" sz="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</a:rPr>
                        <a:t>Non-Existent Feature</a:t>
                      </a:r>
                      <a:endParaRPr lang="en-US" sz="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27AE60"/>
                          </a:solidFill>
                        </a:rPr>
                        <a:t>PASS</a:t>
                      </a:r>
                      <a:endParaRPr lang="en-US" sz="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50" dirty="0">
                          <a:solidFill>
                            <a:srgbClr val="7F8C8D"/>
                          </a:solidFill>
                        </a:rPr>
                        <a:t>CRITICAL: 零幻觉</a:t>
                      </a:r>
                      <a:endParaRPr lang="en-US" sz="5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2C3E50"/>
                          </a:solidFill>
                        </a:rPr>
                        <a:t>TC-C1</a:t>
                      </a:r>
                      <a:endParaRPr lang="en-US" sz="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7F8C8D"/>
                          </a:solidFill>
                        </a:rPr>
                        <a:t>Pricing</a:t>
                      </a:r>
                      <a:endParaRPr lang="en-US" sz="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</a:rPr>
                        <a:t>DID Number Price</a:t>
                      </a:r>
                      <a:endParaRPr lang="en-US" sz="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27AE60"/>
                          </a:solidFill>
                        </a:rPr>
                        <a:t>PASS</a:t>
                      </a:r>
                      <a:endParaRPr lang="en-US" sz="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50" dirty="0">
                          <a:solidFill>
                            <a:srgbClr val="7F8C8D"/>
                          </a:solidFill>
                        </a:rPr>
                        <a:t>US DID 不在 KB → 转销售</a:t>
                      </a:r>
                      <a:endParaRPr lang="en-US" sz="5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2C3E50"/>
                          </a:solidFill>
                        </a:rPr>
                        <a:t>TC-C2</a:t>
                      </a:r>
                      <a:endParaRPr lang="en-US" sz="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7F8C8D"/>
                          </a:solidFill>
                        </a:rPr>
                        <a:t>Pricing</a:t>
                      </a:r>
                      <a:endParaRPr lang="en-US" sz="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</a:rPr>
                        <a:t>50-Agent Volume</a:t>
                      </a:r>
                      <a:endParaRPr lang="en-US" sz="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27AE60"/>
                          </a:solidFill>
                        </a:rPr>
                        <a:t>PASS</a:t>
                      </a:r>
                      <a:endParaRPr lang="en-US" sz="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50" dirty="0">
                          <a:solidFill>
                            <a:srgbClr val="7F8C8D"/>
                          </a:solidFill>
                        </a:rPr>
                        <a:t>不虚构总价 → 转销售</a:t>
                      </a:r>
                      <a:endParaRPr lang="en-US" sz="5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2C3E50"/>
                          </a:solidFill>
                        </a:rPr>
                        <a:t>TC-C3</a:t>
                      </a:r>
                      <a:endParaRPr lang="en-US" sz="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7F8C8D"/>
                          </a:solidFill>
                        </a:rPr>
                        <a:t>Pricing</a:t>
                      </a:r>
                      <a:endParaRPr lang="en-US" sz="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</a:rPr>
                        <a:t>False Price Correct</a:t>
                      </a:r>
                      <a:endParaRPr lang="en-US" sz="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27AE60"/>
                          </a:solidFill>
                        </a:rPr>
                        <a:t>PASS</a:t>
                      </a:r>
                      <a:endParaRPr lang="en-US" sz="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50" dirty="0">
                          <a:solidFill>
                            <a:srgbClr val="7F8C8D"/>
                          </a:solidFill>
                        </a:rPr>
                        <a:t>纠正 $5/min x2</a:t>
                      </a:r>
                      <a:endParaRPr lang="en-US" sz="5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2C3E50"/>
                          </a:solidFill>
                        </a:rPr>
                        <a:t>TC-D1</a:t>
                      </a:r>
                      <a:endParaRPr lang="en-US" sz="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7F8C8D"/>
                          </a:solidFill>
                        </a:rPr>
                        <a:t>Data Collection</a:t>
                      </a:r>
                      <a:endParaRPr lang="en-US" sz="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</a:rPr>
                        <a:t>Demo Request</a:t>
                      </a:r>
                      <a:endParaRPr lang="en-US" sz="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27AE60"/>
                          </a:solidFill>
                        </a:rPr>
                        <a:t>PASS</a:t>
                      </a:r>
                      <a:endParaRPr lang="en-US" sz="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50" dirty="0">
                          <a:solidFill>
                            <a:srgbClr val="7F8C8D"/>
                          </a:solidFill>
                        </a:rPr>
                        <a:t>4 fields + demo 确认</a:t>
                      </a:r>
                      <a:endParaRPr lang="en-US" sz="5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2C3E50"/>
                          </a:solidFill>
                        </a:rPr>
                        <a:t>TC-D2</a:t>
                      </a:r>
                      <a:endParaRPr lang="en-US" sz="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7F8C8D"/>
                          </a:solidFill>
                        </a:rPr>
                        <a:t>Data Collection</a:t>
                      </a:r>
                      <a:endParaRPr lang="en-US" sz="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</a:rPr>
                        <a:t>Phone Refused</a:t>
                      </a:r>
                      <a:endParaRPr lang="en-US" sz="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27AE60"/>
                          </a:solidFill>
                        </a:rPr>
                        <a:t>PASS</a:t>
                      </a:r>
                      <a:endParaRPr lang="en-US" sz="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50" dirty="0">
                          <a:solidFill>
                            <a:srgbClr val="7F8C8D"/>
                          </a:solidFill>
                        </a:rPr>
                        <a:t>接受拒绝 → email 替代</a:t>
                      </a:r>
                      <a:endParaRPr lang="en-US" sz="5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2C3E50"/>
                          </a:solidFill>
                        </a:rPr>
                        <a:t>TC-E1</a:t>
                      </a:r>
                      <a:endParaRPr lang="en-US" sz="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7F8C8D"/>
                          </a:solidFill>
                        </a:rPr>
                        <a:t>Existing Cust</a:t>
                      </a:r>
                      <a:endParaRPr lang="en-US" sz="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</a:rPr>
                        <a:t>Billing Issue</a:t>
                      </a:r>
                      <a:endParaRPr lang="en-US" sz="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27AE60"/>
                          </a:solidFill>
                        </a:rPr>
                        <a:t>PASS</a:t>
                      </a:r>
                      <a:endParaRPr lang="en-US" sz="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50" dirty="0">
                          <a:solidFill>
                            <a:srgbClr val="7F8C8D"/>
                          </a:solidFill>
                        </a:rPr>
                        <a:t>计费分流 + 升级</a:t>
                      </a:r>
                      <a:endParaRPr lang="en-US" sz="5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2C3E50"/>
                          </a:solidFill>
                        </a:rPr>
                        <a:t>TC-E2</a:t>
                      </a:r>
                      <a:endParaRPr lang="en-US" sz="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7F8C8D"/>
                          </a:solidFill>
                        </a:rPr>
                        <a:t>Existing Cust</a:t>
                      </a:r>
                      <a:endParaRPr lang="en-US" sz="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</a:rPr>
                        <a:t>Tech Issue</a:t>
                      </a:r>
                      <a:endParaRPr lang="en-US" sz="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27AE60"/>
                          </a:solidFill>
                        </a:rPr>
                        <a:t>PASS</a:t>
                      </a:r>
                      <a:endParaRPr lang="en-US" sz="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50" dirty="0">
                          <a:solidFill>
                            <a:srgbClr val="7F8C8D"/>
                          </a:solidFill>
                        </a:rPr>
                        <a:t>技术分流 + 升级</a:t>
                      </a:r>
                      <a:endParaRPr lang="en-US" sz="5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2C3E50"/>
                          </a:solidFill>
                        </a:rPr>
                        <a:t>TC-F1</a:t>
                      </a:r>
                      <a:endParaRPr lang="en-US" sz="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7F8C8D"/>
                          </a:solidFill>
                        </a:rPr>
                        <a:t>Human Handoff</a:t>
                      </a:r>
                      <a:endParaRPr lang="en-US" sz="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</a:rPr>
                        <a:t>Knowledge Boundary</a:t>
                      </a:r>
                      <a:endParaRPr lang="en-US" sz="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27AE60"/>
                          </a:solidFill>
                        </a:rPr>
                        <a:t>PASS</a:t>
                      </a:r>
                      <a:endParaRPr lang="en-US" sz="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50" dirty="0">
                          <a:solidFill>
                            <a:srgbClr val="7F8C8D"/>
                          </a:solidFill>
                        </a:rPr>
                        <a:t>知识边界 → 转专家</a:t>
                      </a:r>
                      <a:endParaRPr lang="en-US" sz="5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b="1" dirty="0">
                          <a:solidFill>
                            <a:srgbClr val="F39C12"/>
                          </a:solidFill>
                        </a:rPr>
                        <a:t>TC-F2 ⚠️</a:t>
                      </a:r>
                      <a:endParaRPr lang="en-US" sz="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7F8C8D"/>
                          </a:solidFill>
                        </a:rPr>
                        <a:t>Human Handoff</a:t>
                      </a:r>
                      <a:endParaRPr lang="en-US" sz="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</a:rPr>
                        <a:t>Immediate Human</a:t>
                      </a:r>
                      <a:endParaRPr lang="en-US" sz="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27AE60"/>
                          </a:solidFill>
                        </a:rPr>
                        <a:t>PASS</a:t>
                      </a:r>
                      <a:endParaRPr lang="en-US" sz="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50" dirty="0">
                          <a:solidFill>
                            <a:srgbClr val="7F8C8D"/>
                          </a:solidFill>
                        </a:rPr>
                        <a:t>CRITICAL: 零追问</a:t>
                      </a:r>
                      <a:endParaRPr lang="en-US" sz="5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2C3E50"/>
                          </a:solidFill>
                        </a:rPr>
                        <a:t>TC-G1</a:t>
                      </a:r>
                      <a:endParaRPr lang="en-US" sz="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7F8C8D"/>
                          </a:solidFill>
                        </a:rPr>
                        <a:t>Context</a:t>
                      </a:r>
                      <a:endParaRPr lang="en-US" sz="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</a:rPr>
                        <a:t>Multi-Turn DID</a:t>
                      </a:r>
                      <a:endParaRPr lang="en-US" sz="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27AE60"/>
                          </a:solidFill>
                        </a:rPr>
                        <a:t>PASS</a:t>
                      </a:r>
                      <a:endParaRPr lang="en-US" sz="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50" dirty="0">
                          <a:solidFill>
                            <a:srgbClr val="7F8C8D"/>
                          </a:solidFill>
                        </a:rPr>
                        <a:t>UK/DE $19, HK $25</a:t>
                      </a:r>
                      <a:endParaRPr lang="en-US" sz="5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2C3E50"/>
                          </a:solidFill>
                        </a:rPr>
                        <a:t>TC-H1</a:t>
                      </a:r>
                      <a:endParaRPr lang="en-US" sz="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7F8C8D"/>
                          </a:solidFill>
                        </a:rPr>
                        <a:t>Error Tolerance</a:t>
                      </a:r>
                      <a:endParaRPr lang="en-US" sz="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</a:rPr>
                        <a:t>Spelling Errors</a:t>
                      </a:r>
                      <a:endParaRPr lang="en-US" sz="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27AE60"/>
                          </a:solidFill>
                        </a:rPr>
                        <a:t>PASS</a:t>
                      </a:r>
                      <a:endParaRPr lang="en-US" sz="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50" dirty="0">
                          <a:solidFill>
                            <a:srgbClr val="7F8C8D"/>
                          </a:solidFill>
                        </a:rPr>
                        <a:t>"whtsapp intergration" OK</a:t>
                      </a:r>
                      <a:endParaRPr lang="en-US" sz="5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b="1" dirty="0">
                          <a:solidFill>
                            <a:srgbClr val="F39C12"/>
                          </a:solidFill>
                        </a:rPr>
                        <a:t>TC-H2 ⚠️</a:t>
                      </a:r>
                      <a:endParaRPr lang="en-US" sz="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7F8C8D"/>
                          </a:solidFill>
                        </a:rPr>
                        <a:t>Error Tolerance</a:t>
                      </a:r>
                      <a:endParaRPr lang="en-US" sz="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</a:rPr>
                        <a:t>Vague Request</a:t>
                      </a:r>
                      <a:endParaRPr lang="en-US" sz="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27AE60"/>
                          </a:solidFill>
                        </a:rPr>
                        <a:t>PASS</a:t>
                      </a:r>
                      <a:endParaRPr lang="en-US" sz="6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50" dirty="0">
                          <a:solidFill>
                            <a:srgbClr val="7F8C8D"/>
                          </a:solidFill>
                        </a:rPr>
                        <a:t>回归: Discovery Phase</a:t>
                      </a:r>
                      <a:endParaRPr lang="en-US" sz="5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34901"/>
          </a:xfrm>
          <a:prstGeom prst="rect">
            <a:avLst/>
          </a:prstGeom>
          <a:solidFill>
            <a:srgbClr val="1B2A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53901" y="149126"/>
            <a:ext cx="880892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TC-A1 — New Customer Identification </a:t>
            </a:r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07802" y="371326"/>
            <a:ext cx="854994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8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Type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28600" y="736402"/>
            <a:ext cx="8686800" cy="145852"/>
          </a:xfrm>
          <a:prstGeom prst="roundRect">
            <a:avLst>
              <a:gd name="adj" fmla="val 26122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04800" y="761702"/>
            <a:ext cx="870508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4 fields collected in logical order. Source cited as "product documentation".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228600" y="920353"/>
            <a:ext cx="8686800" cy="266402"/>
          </a:xfrm>
          <a:prstGeom prst="rect">
            <a:avLst/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242888" y="920353"/>
            <a:ext cx="0" cy="266402"/>
          </a:xfrm>
          <a:prstGeom prst="line">
            <a:avLst/>
          </a:prstGeom>
          <a:noFill/>
          <a:ln w="28575">
            <a:solidFill>
              <a:srgbClr val="2E86D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576" y="945654"/>
            <a:ext cx="87020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E8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</a:t>
            </a:r>
            <a:endParaRPr lang="en-US" sz="550" dirty="0"/>
          </a:p>
        </p:txBody>
      </p:sp>
      <p:sp>
        <p:nvSpPr>
          <p:cNvPr id="10" name="Text 8"/>
          <p:cNvSpPr/>
          <p:nvPr/>
        </p:nvSpPr>
        <p:spPr>
          <a:xfrm>
            <a:off x="320576" y="1037630"/>
            <a:ext cx="870205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Hi, we are looking for a contact center solution for our team.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228600" y="1205805"/>
            <a:ext cx="8686800" cy="266402"/>
          </a:xfrm>
          <a:prstGeom prst="rect">
            <a:avLst/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242888" y="1205805"/>
            <a:ext cx="0" cy="266402"/>
          </a:xfrm>
          <a:prstGeom prst="line">
            <a:avLst/>
          </a:prstGeom>
          <a:noFill/>
          <a:ln w="28575">
            <a:solidFill>
              <a:srgbClr val="27AE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576" y="1231106"/>
            <a:ext cx="87020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</a:t>
            </a:r>
            <a:endParaRPr lang="en-US" sz="550" dirty="0"/>
          </a:p>
        </p:txBody>
      </p:sp>
      <p:sp>
        <p:nvSpPr>
          <p:cNvPr id="14" name="Text 12"/>
          <p:cNvSpPr/>
          <p:nvPr/>
        </p:nvSpPr>
        <p:spPr>
          <a:xfrm>
            <a:off x="320576" y="1323082"/>
            <a:ext cx="870205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 there! Welcome to CINNOX — I'd love to help you find the right contact center solution for your team! 😊</a:t>
            </a:r>
            <a:endParaRPr lang="en-US" sz="750" dirty="0"/>
          </a:p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endParaRPr lang="en-US" sz="750" dirty="0"/>
          </a:p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get started, may I have your name?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228600" y="1491258"/>
            <a:ext cx="8686800" cy="266402"/>
          </a:xfrm>
          <a:prstGeom prst="rect">
            <a:avLst/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242888" y="1491258"/>
            <a:ext cx="0" cy="266402"/>
          </a:xfrm>
          <a:prstGeom prst="line">
            <a:avLst/>
          </a:prstGeom>
          <a:noFill/>
          <a:ln w="28575">
            <a:solidFill>
              <a:srgbClr val="2E86D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576" y="1516559"/>
            <a:ext cx="87020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E8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</a:t>
            </a:r>
            <a:endParaRPr lang="en-US" sz="550" dirty="0"/>
          </a:p>
        </p:txBody>
      </p:sp>
      <p:sp>
        <p:nvSpPr>
          <p:cNvPr id="18" name="Text 16"/>
          <p:cNvSpPr/>
          <p:nvPr/>
        </p:nvSpPr>
        <p:spPr>
          <a:xfrm>
            <a:off x="320576" y="1608534"/>
            <a:ext cx="870205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name is Emma Xu, and I'm from Bright Retail.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228600" y="1776710"/>
            <a:ext cx="8686800" cy="266402"/>
          </a:xfrm>
          <a:prstGeom prst="rect">
            <a:avLst/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242888" y="1776710"/>
            <a:ext cx="0" cy="266402"/>
          </a:xfrm>
          <a:prstGeom prst="line">
            <a:avLst/>
          </a:prstGeom>
          <a:noFill/>
          <a:ln w="28575">
            <a:solidFill>
              <a:srgbClr val="27AE6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576" y="1802011"/>
            <a:ext cx="87020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</a:t>
            </a:r>
            <a:endParaRPr lang="en-US" sz="550" dirty="0"/>
          </a:p>
        </p:txBody>
      </p:sp>
      <p:sp>
        <p:nvSpPr>
          <p:cNvPr id="22" name="Text 20"/>
          <p:cNvSpPr/>
          <p:nvPr/>
        </p:nvSpPr>
        <p:spPr>
          <a:xfrm>
            <a:off x="320576" y="1893987"/>
            <a:ext cx="870205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Nice to meet you, Emma! And thanks for sharing that you're from Bright Retail. 😊</a:t>
            </a:r>
            <a:endParaRPr lang="en-US" sz="750" dirty="0"/>
          </a:p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endParaRPr lang="en-US" sz="750" dirty="0"/>
          </a:p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the best email address to reach you at?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228600" y="2062163"/>
            <a:ext cx="8686800" cy="266402"/>
          </a:xfrm>
          <a:prstGeom prst="rect">
            <a:avLst/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242888" y="2062163"/>
            <a:ext cx="0" cy="266402"/>
          </a:xfrm>
          <a:prstGeom prst="line">
            <a:avLst/>
          </a:prstGeom>
          <a:noFill/>
          <a:ln w="28575">
            <a:solidFill>
              <a:srgbClr val="2E86D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576" y="2087463"/>
            <a:ext cx="87020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E8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</a:t>
            </a:r>
            <a:endParaRPr lang="en-US" sz="550" dirty="0"/>
          </a:p>
        </p:txBody>
      </p:sp>
      <p:sp>
        <p:nvSpPr>
          <p:cNvPr id="26" name="Text 24"/>
          <p:cNvSpPr/>
          <p:nvPr/>
        </p:nvSpPr>
        <p:spPr>
          <a:xfrm>
            <a:off x="320576" y="2179439"/>
            <a:ext cx="870205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Sure, my email is emma.xu@brightretail.com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228600" y="2347615"/>
            <a:ext cx="8686800" cy="266402"/>
          </a:xfrm>
          <a:prstGeom prst="rect">
            <a:avLst/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242888" y="2347615"/>
            <a:ext cx="0" cy="266402"/>
          </a:xfrm>
          <a:prstGeom prst="line">
            <a:avLst/>
          </a:prstGeom>
          <a:noFill/>
          <a:ln w="28575">
            <a:solidFill>
              <a:srgbClr val="27AE6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576" y="2372916"/>
            <a:ext cx="87020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</a:t>
            </a:r>
            <a:endParaRPr lang="en-US" sz="550" dirty="0"/>
          </a:p>
        </p:txBody>
      </p:sp>
      <p:sp>
        <p:nvSpPr>
          <p:cNvPr id="30" name="Text 28"/>
          <p:cNvSpPr/>
          <p:nvPr/>
        </p:nvSpPr>
        <p:spPr>
          <a:xfrm>
            <a:off x="320576" y="2464891"/>
            <a:ext cx="870205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Perfect, got it! And a phone number we can reach you on?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228600" y="2633067"/>
            <a:ext cx="8686800" cy="266402"/>
          </a:xfrm>
          <a:prstGeom prst="rect">
            <a:avLst/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242888" y="2633067"/>
            <a:ext cx="0" cy="266402"/>
          </a:xfrm>
          <a:prstGeom prst="line">
            <a:avLst/>
          </a:prstGeom>
          <a:noFill/>
          <a:ln w="28575">
            <a:solidFill>
              <a:srgbClr val="2E86D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576" y="2658368"/>
            <a:ext cx="87020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E8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</a:t>
            </a:r>
            <a:endParaRPr lang="en-US" sz="550" dirty="0"/>
          </a:p>
        </p:txBody>
      </p:sp>
      <p:sp>
        <p:nvSpPr>
          <p:cNvPr id="34" name="Text 32"/>
          <p:cNvSpPr/>
          <p:nvPr/>
        </p:nvSpPr>
        <p:spPr>
          <a:xfrm>
            <a:off x="320576" y="2750344"/>
            <a:ext cx="870205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phone number is +852-9123-4567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228600" y="2918520"/>
            <a:ext cx="8686800" cy="266402"/>
          </a:xfrm>
          <a:prstGeom prst="rect">
            <a:avLst/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Shape 34"/>
          <p:cNvSpPr/>
          <p:nvPr/>
        </p:nvSpPr>
        <p:spPr>
          <a:xfrm>
            <a:off x="242888" y="2918520"/>
            <a:ext cx="0" cy="266402"/>
          </a:xfrm>
          <a:prstGeom prst="line">
            <a:avLst/>
          </a:prstGeom>
          <a:noFill/>
          <a:ln w="28575">
            <a:solidFill>
              <a:srgbClr val="27AE6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576" y="2943820"/>
            <a:ext cx="87020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</a:t>
            </a:r>
            <a:endParaRPr lang="en-US" sz="550" dirty="0"/>
          </a:p>
        </p:txBody>
      </p:sp>
      <p:sp>
        <p:nvSpPr>
          <p:cNvPr id="38" name="Text 36"/>
          <p:cNvSpPr/>
          <p:nvPr/>
        </p:nvSpPr>
        <p:spPr>
          <a:xfrm>
            <a:off x="320576" y="3035796"/>
            <a:ext cx="870205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 me confirm your details before I save them:</a:t>
            </a:r>
            <a:endParaRPr lang="en-US" sz="750" dirty="0"/>
          </a:p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endParaRPr lang="en-US" sz="750" dirty="0"/>
          </a:p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**Name**: Emma Xu</a:t>
            </a:r>
            <a:endParaRPr lang="en-US" sz="750" dirty="0"/>
          </a:p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**Company**: Bright Retail</a:t>
            </a:r>
            <a:endParaRPr lang="en-US" sz="750" dirty="0"/>
          </a:p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**Email**: emma.xu@brightretail.com</a:t>
            </a:r>
            <a:endParaRPr lang="en-US" sz="750" dirty="0"/>
          </a:p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**Phone**: +852-9123-4...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228600" y="3203972"/>
            <a:ext cx="8686800" cy="266402"/>
          </a:xfrm>
          <a:prstGeom prst="rect">
            <a:avLst/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Shape 38"/>
          <p:cNvSpPr/>
          <p:nvPr/>
        </p:nvSpPr>
        <p:spPr>
          <a:xfrm>
            <a:off x="242888" y="3203972"/>
            <a:ext cx="0" cy="266402"/>
          </a:xfrm>
          <a:prstGeom prst="line">
            <a:avLst/>
          </a:prstGeom>
          <a:noFill/>
          <a:ln w="28575">
            <a:solidFill>
              <a:srgbClr val="2E86D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0576" y="3229273"/>
            <a:ext cx="87020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E8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</a:t>
            </a:r>
            <a:endParaRPr lang="en-US" sz="550" dirty="0"/>
          </a:p>
        </p:txBody>
      </p:sp>
      <p:sp>
        <p:nvSpPr>
          <p:cNvPr id="42" name="Text 40"/>
          <p:cNvSpPr/>
          <p:nvPr/>
        </p:nvSpPr>
        <p:spPr>
          <a:xfrm>
            <a:off x="320576" y="3321248"/>
            <a:ext cx="870205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228600" y="3489424"/>
            <a:ext cx="8686800" cy="266402"/>
          </a:xfrm>
          <a:prstGeom prst="rect">
            <a:avLst/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Shape 42"/>
          <p:cNvSpPr/>
          <p:nvPr/>
        </p:nvSpPr>
        <p:spPr>
          <a:xfrm>
            <a:off x="242888" y="3489424"/>
            <a:ext cx="0" cy="266402"/>
          </a:xfrm>
          <a:prstGeom prst="line">
            <a:avLst/>
          </a:prstGeom>
          <a:noFill/>
          <a:ln w="28575">
            <a:solidFill>
              <a:srgbClr val="27AE6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20576" y="3514725"/>
            <a:ext cx="87020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</a:t>
            </a:r>
            <a:endParaRPr lang="en-US" sz="550" dirty="0"/>
          </a:p>
        </p:txBody>
      </p:sp>
      <p:sp>
        <p:nvSpPr>
          <p:cNvPr id="46" name="Text 44"/>
          <p:cNvSpPr/>
          <p:nvPr/>
        </p:nvSpPr>
        <p:spPr>
          <a:xfrm>
            <a:off x="320576" y="3606701"/>
            <a:ext cx="870205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you, Emma! Your information has been saved. 😊</a:t>
            </a:r>
            <a:endParaRPr lang="en-US" sz="750" dirty="0"/>
          </a:p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endParaRPr lang="en-US" sz="750" dirty="0"/>
          </a:p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Now, regarding your interest in a contact center solution — let me look that up for you!Great news, Emma! ...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228600" y="3774877"/>
            <a:ext cx="8686800" cy="266402"/>
          </a:xfrm>
          <a:prstGeom prst="rect">
            <a:avLst/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Shape 46"/>
          <p:cNvSpPr/>
          <p:nvPr/>
        </p:nvSpPr>
        <p:spPr>
          <a:xfrm>
            <a:off x="242888" y="3774877"/>
            <a:ext cx="0" cy="266402"/>
          </a:xfrm>
          <a:prstGeom prst="line">
            <a:avLst/>
          </a:prstGeom>
          <a:noFill/>
          <a:ln w="28575">
            <a:solidFill>
              <a:srgbClr val="2E86D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20576" y="3800177"/>
            <a:ext cx="87020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E8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</a:t>
            </a:r>
            <a:endParaRPr lang="en-US" sz="550" dirty="0"/>
          </a:p>
        </p:txBody>
      </p:sp>
      <p:sp>
        <p:nvSpPr>
          <p:cNvPr id="50" name="Text 48"/>
          <p:cNvSpPr/>
          <p:nvPr/>
        </p:nvSpPr>
        <p:spPr>
          <a:xfrm>
            <a:off x="320576" y="3892153"/>
            <a:ext cx="870205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agents. Mainly voice calss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228600" y="4060329"/>
            <a:ext cx="8686800" cy="266402"/>
          </a:xfrm>
          <a:prstGeom prst="rect">
            <a:avLst/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Shape 50"/>
          <p:cNvSpPr/>
          <p:nvPr/>
        </p:nvSpPr>
        <p:spPr>
          <a:xfrm>
            <a:off x="242888" y="4060329"/>
            <a:ext cx="0" cy="266402"/>
          </a:xfrm>
          <a:prstGeom prst="line">
            <a:avLst/>
          </a:prstGeom>
          <a:noFill/>
          <a:ln w="28575">
            <a:solidFill>
              <a:srgbClr val="27AE6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20576" y="4085630"/>
            <a:ext cx="87020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</a:t>
            </a:r>
            <a:endParaRPr lang="en-US" sz="550" dirty="0"/>
          </a:p>
        </p:txBody>
      </p:sp>
      <p:sp>
        <p:nvSpPr>
          <p:cNvPr id="54" name="Text 52"/>
          <p:cNvSpPr/>
          <p:nvPr/>
        </p:nvSpPr>
        <p:spPr>
          <a:xfrm>
            <a:off x="320576" y="4177605"/>
            <a:ext cx="870205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Based on our pricing documentation, the **Basic Contact Center (BCC)** plan sounds like a great fit for Bright Retail — it's designed specifically for voice-fir...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34901"/>
          </a:xfrm>
          <a:prstGeom prst="rect">
            <a:avLst/>
          </a:prstGeom>
          <a:solidFill>
            <a:srgbClr val="1B2A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53901" y="149126"/>
            <a:ext cx="880892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TC-A2 — Existing Customer Identification </a:t>
            </a:r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</a:t>
            </a:r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REGRESSION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07802" y="371326"/>
            <a:ext cx="854994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8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Type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28600" y="736402"/>
            <a:ext cx="8686800" cy="155377"/>
          </a:xfrm>
          <a:prstGeom prst="roundRect">
            <a:avLst>
              <a:gd name="adj" fmla="val 24521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04800" y="761702"/>
            <a:ext cx="870508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不再要求（规格回退）。投诉流程收集 Company/Account ID/Service/Agent。</a:t>
            </a:r>
            <a:endParaRPr lang="en-US" sz="600" dirty="0"/>
          </a:p>
        </p:txBody>
      </p:sp>
      <p:sp>
        <p:nvSpPr>
          <p:cNvPr id="7" name="Text 5"/>
          <p:cNvSpPr/>
          <p:nvPr/>
        </p:nvSpPr>
        <p:spPr>
          <a:xfrm>
            <a:off x="228600" y="929878"/>
            <a:ext cx="4305300" cy="145852"/>
          </a:xfrm>
          <a:prstGeom prst="roundRect">
            <a:avLst>
              <a:gd name="adj" fmla="val 26122"/>
            </a:avLst>
          </a:prstGeom>
          <a:solidFill>
            <a:srgbClr val="E74C3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04800" y="955179"/>
            <a:ext cx="423595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 2 FAIL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4529138" y="1075730"/>
            <a:ext cx="0" cy="2256234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" y="3327202"/>
            <a:ext cx="43053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33362" y="1075730"/>
            <a:ext cx="0" cy="2256234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6225" y="1132880"/>
            <a:ext cx="4210050" cy="249882"/>
          </a:xfrm>
          <a:prstGeom prst="rect">
            <a:avLst/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290513" y="1132880"/>
            <a:ext cx="0" cy="249882"/>
          </a:xfrm>
          <a:prstGeom prst="line">
            <a:avLst/>
          </a:prstGeom>
          <a:noFill/>
          <a:ln w="28575">
            <a:solidFill>
              <a:srgbClr val="2E86D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8201" y="1158180"/>
            <a:ext cx="413576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E8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</a:t>
            </a:r>
            <a:endParaRPr lang="en-US" sz="550" dirty="0"/>
          </a:p>
        </p:txBody>
      </p:sp>
      <p:sp>
        <p:nvSpPr>
          <p:cNvPr id="15" name="Text 13"/>
          <p:cNvSpPr/>
          <p:nvPr/>
        </p:nvSpPr>
        <p:spPr>
          <a:xfrm>
            <a:off x="368201" y="1250156"/>
            <a:ext cx="4135767" cy="107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5"/>
              </a:lnSpc>
              <a:spcBef>
                <a:spcPts val="50"/>
              </a:spcBef>
              <a:buNone/>
            </a:pPr>
            <a:r>
              <a:rPr lang="en-US" sz="6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agent cannot receive calls on the CINNOX platform.</a:t>
            </a:r>
            <a:endParaRPr lang="en-US" sz="650" dirty="0"/>
          </a:p>
        </p:txBody>
      </p:sp>
      <p:sp>
        <p:nvSpPr>
          <p:cNvPr id="16" name="Text 14"/>
          <p:cNvSpPr/>
          <p:nvPr/>
        </p:nvSpPr>
        <p:spPr>
          <a:xfrm>
            <a:off x="276225" y="1401812"/>
            <a:ext cx="4210050" cy="249882"/>
          </a:xfrm>
          <a:prstGeom prst="rect">
            <a:avLst/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290513" y="1401812"/>
            <a:ext cx="0" cy="249882"/>
          </a:xfrm>
          <a:prstGeom prst="line">
            <a:avLst/>
          </a:prstGeom>
          <a:noFill/>
          <a:ln w="28575">
            <a:solidFill>
              <a:srgbClr val="27AE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8201" y="1427113"/>
            <a:ext cx="413576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</a:t>
            </a:r>
            <a:endParaRPr lang="en-US" sz="550" dirty="0"/>
          </a:p>
        </p:txBody>
      </p:sp>
      <p:sp>
        <p:nvSpPr>
          <p:cNvPr id="19" name="Text 17"/>
          <p:cNvSpPr/>
          <p:nvPr/>
        </p:nvSpPr>
        <p:spPr>
          <a:xfrm>
            <a:off x="368201" y="1519089"/>
            <a:ext cx="4135767" cy="107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5"/>
              </a:lnSpc>
              <a:spcBef>
                <a:spcPts val="50"/>
              </a:spcBef>
              <a:buNone/>
            </a:pPr>
            <a:r>
              <a:rPr lang="en-US" sz="6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Could you please provide your account ID or company name?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276225" y="1670745"/>
            <a:ext cx="4210050" cy="249882"/>
          </a:xfrm>
          <a:prstGeom prst="rect">
            <a:avLst/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290513" y="1670745"/>
            <a:ext cx="0" cy="249882"/>
          </a:xfrm>
          <a:prstGeom prst="line">
            <a:avLst/>
          </a:prstGeom>
          <a:noFill/>
          <a:ln w="28575">
            <a:solidFill>
              <a:srgbClr val="2E86D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8201" y="1696045"/>
            <a:ext cx="413576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E8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</a:t>
            </a:r>
            <a:endParaRPr lang="en-US" sz="550" dirty="0"/>
          </a:p>
        </p:txBody>
      </p:sp>
      <p:sp>
        <p:nvSpPr>
          <p:cNvPr id="23" name="Text 21"/>
          <p:cNvSpPr/>
          <p:nvPr/>
        </p:nvSpPr>
        <p:spPr>
          <a:xfrm>
            <a:off x="368201" y="1788021"/>
            <a:ext cx="4135767" cy="107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5"/>
              </a:lnSpc>
              <a:spcBef>
                <a:spcPts val="50"/>
              </a:spcBef>
              <a:buNone/>
            </a:pPr>
            <a:r>
              <a:rPr lang="en-US" sz="6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 ID is PBHK-2024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276225" y="1939677"/>
            <a:ext cx="4210050" cy="249882"/>
          </a:xfrm>
          <a:prstGeom prst="rect">
            <a:avLst/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290513" y="1939677"/>
            <a:ext cx="0" cy="249882"/>
          </a:xfrm>
          <a:prstGeom prst="line">
            <a:avLst/>
          </a:prstGeom>
          <a:noFill/>
          <a:ln w="28575">
            <a:solidFill>
              <a:srgbClr val="27AE6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8201" y="1964978"/>
            <a:ext cx="413576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</a:t>
            </a:r>
            <a:endParaRPr lang="en-US" sz="550" dirty="0"/>
          </a:p>
        </p:txBody>
      </p:sp>
      <p:sp>
        <p:nvSpPr>
          <p:cNvPr id="27" name="Text 25"/>
          <p:cNvSpPr/>
          <p:nvPr/>
        </p:nvSpPr>
        <p:spPr>
          <a:xfrm>
            <a:off x="368201" y="2056954"/>
            <a:ext cx="4135767" cy="107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5"/>
              </a:lnSpc>
              <a:spcBef>
                <a:spcPts val="50"/>
              </a:spcBef>
              <a:buNone/>
            </a:pPr>
            <a:r>
              <a:rPr lang="en-US" sz="6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Could I get the name of the agent who is unable to receive calls?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276225" y="2208609"/>
            <a:ext cx="4210050" cy="249882"/>
          </a:xfrm>
          <a:prstGeom prst="rect">
            <a:avLst/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290513" y="2208609"/>
            <a:ext cx="0" cy="249882"/>
          </a:xfrm>
          <a:prstGeom prst="line">
            <a:avLst/>
          </a:prstGeom>
          <a:noFill/>
          <a:ln w="28575">
            <a:solidFill>
              <a:srgbClr val="2E86D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8201" y="2233910"/>
            <a:ext cx="413576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E8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</a:t>
            </a:r>
            <a:endParaRPr lang="en-US" sz="550" dirty="0"/>
          </a:p>
        </p:txBody>
      </p:sp>
      <p:sp>
        <p:nvSpPr>
          <p:cNvPr id="31" name="Text 29"/>
          <p:cNvSpPr/>
          <p:nvPr/>
        </p:nvSpPr>
        <p:spPr>
          <a:xfrm>
            <a:off x="368201" y="2325886"/>
            <a:ext cx="4135767" cy="107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5"/>
              </a:lnSpc>
              <a:spcBef>
                <a:spcPts val="50"/>
              </a:spcBef>
              <a:buNone/>
            </a:pPr>
            <a:r>
              <a:rPr lang="en-US" sz="6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agent's name is Alice.</a:t>
            </a:r>
            <a:endParaRPr lang="en-US" sz="650" dirty="0"/>
          </a:p>
        </p:txBody>
      </p:sp>
      <p:sp>
        <p:nvSpPr>
          <p:cNvPr id="32" name="Text 30"/>
          <p:cNvSpPr/>
          <p:nvPr/>
        </p:nvSpPr>
        <p:spPr>
          <a:xfrm>
            <a:off x="276225" y="2477542"/>
            <a:ext cx="4210050" cy="249882"/>
          </a:xfrm>
          <a:prstGeom prst="rect">
            <a:avLst/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290513" y="2477542"/>
            <a:ext cx="0" cy="249882"/>
          </a:xfrm>
          <a:prstGeom prst="line">
            <a:avLst/>
          </a:prstGeom>
          <a:noFill/>
          <a:ln w="28575">
            <a:solidFill>
              <a:srgbClr val="27AE6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8201" y="2502843"/>
            <a:ext cx="413576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</a:t>
            </a:r>
            <a:endParaRPr lang="en-US" sz="550" dirty="0"/>
          </a:p>
        </p:txBody>
      </p:sp>
      <p:sp>
        <p:nvSpPr>
          <p:cNvPr id="35" name="Text 33"/>
          <p:cNvSpPr/>
          <p:nvPr/>
        </p:nvSpPr>
        <p:spPr>
          <a:xfrm>
            <a:off x="368201" y="2594818"/>
            <a:ext cx="4135767" cy="107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5"/>
              </a:lnSpc>
              <a:spcBef>
                <a:spcPts val="50"/>
              </a:spcBef>
              <a:buNone/>
            </a:pPr>
            <a:r>
              <a:rPr lang="en-US" sz="6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you have the service number associated with Alice's account?</a:t>
            </a:r>
            <a:endParaRPr lang="en-US" sz="650" dirty="0"/>
          </a:p>
        </p:txBody>
      </p:sp>
      <p:sp>
        <p:nvSpPr>
          <p:cNvPr id="36" name="Text 34"/>
          <p:cNvSpPr/>
          <p:nvPr/>
        </p:nvSpPr>
        <p:spPr>
          <a:xfrm>
            <a:off x="276225" y="2746474"/>
            <a:ext cx="4210050" cy="249882"/>
          </a:xfrm>
          <a:prstGeom prst="rect">
            <a:avLst/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Shape 35"/>
          <p:cNvSpPr/>
          <p:nvPr/>
        </p:nvSpPr>
        <p:spPr>
          <a:xfrm>
            <a:off x="290513" y="2746474"/>
            <a:ext cx="0" cy="249882"/>
          </a:xfrm>
          <a:prstGeom prst="line">
            <a:avLst/>
          </a:prstGeom>
          <a:noFill/>
          <a:ln w="28575">
            <a:solidFill>
              <a:srgbClr val="2E86D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8201" y="2771775"/>
            <a:ext cx="413576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E8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</a:t>
            </a:r>
            <a:endParaRPr lang="en-US" sz="550" dirty="0"/>
          </a:p>
        </p:txBody>
      </p:sp>
      <p:sp>
        <p:nvSpPr>
          <p:cNvPr id="39" name="Text 37"/>
          <p:cNvSpPr/>
          <p:nvPr/>
        </p:nvSpPr>
        <p:spPr>
          <a:xfrm>
            <a:off x="368201" y="2863751"/>
            <a:ext cx="4135767" cy="107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5"/>
              </a:lnSpc>
              <a:spcBef>
                <a:spcPts val="50"/>
              </a:spcBef>
              <a:buNone/>
            </a:pPr>
            <a:r>
              <a:rPr lang="en-US" sz="6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number is +852-1234-5678</a:t>
            </a:r>
            <a:endParaRPr lang="en-US" sz="650" dirty="0"/>
          </a:p>
        </p:txBody>
      </p:sp>
      <p:sp>
        <p:nvSpPr>
          <p:cNvPr id="40" name="Text 38"/>
          <p:cNvSpPr/>
          <p:nvPr/>
        </p:nvSpPr>
        <p:spPr>
          <a:xfrm>
            <a:off x="276225" y="3015407"/>
            <a:ext cx="4210050" cy="249882"/>
          </a:xfrm>
          <a:prstGeom prst="rect">
            <a:avLst/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Shape 39"/>
          <p:cNvSpPr/>
          <p:nvPr/>
        </p:nvSpPr>
        <p:spPr>
          <a:xfrm>
            <a:off x="290513" y="3015407"/>
            <a:ext cx="0" cy="249882"/>
          </a:xfrm>
          <a:prstGeom prst="line">
            <a:avLst/>
          </a:prstGeom>
          <a:noFill/>
          <a:ln w="28575">
            <a:solidFill>
              <a:srgbClr val="27AE6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8201" y="3040707"/>
            <a:ext cx="413576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</a:t>
            </a:r>
            <a:endParaRPr lang="en-US" sz="550" dirty="0"/>
          </a:p>
        </p:txBody>
      </p:sp>
      <p:sp>
        <p:nvSpPr>
          <p:cNvPr id="43" name="Text 41"/>
          <p:cNvSpPr/>
          <p:nvPr/>
        </p:nvSpPr>
        <p:spPr>
          <a:xfrm>
            <a:off x="368201" y="3132683"/>
            <a:ext cx="4135767" cy="107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5"/>
              </a:lnSpc>
              <a:spcBef>
                <a:spcPts val="50"/>
              </a:spcBef>
              <a:buNone/>
            </a:pPr>
            <a:r>
              <a:rPr lang="en-US" sz="6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you. Connecting you with support team now.</a:t>
            </a:r>
            <a:endParaRPr lang="en-US" sz="650" dirty="0"/>
          </a:p>
        </p:txBody>
      </p:sp>
      <p:sp>
        <p:nvSpPr>
          <p:cNvPr id="44" name="Text 42"/>
          <p:cNvSpPr/>
          <p:nvPr/>
        </p:nvSpPr>
        <p:spPr>
          <a:xfrm>
            <a:off x="4610100" y="929878"/>
            <a:ext cx="4305300" cy="145852"/>
          </a:xfrm>
          <a:prstGeom prst="roundRect">
            <a:avLst>
              <a:gd name="adj" fmla="val 26122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4686300" y="955179"/>
            <a:ext cx="423595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 3 PASS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8910638" y="1075730"/>
            <a:ext cx="0" cy="2470845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610100" y="3541812"/>
            <a:ext cx="43053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614863" y="1075730"/>
            <a:ext cx="0" cy="2470845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657725" y="1132880"/>
            <a:ext cx="4210050" cy="249882"/>
          </a:xfrm>
          <a:prstGeom prst="rect">
            <a:avLst/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Shape 48"/>
          <p:cNvSpPr/>
          <p:nvPr/>
        </p:nvSpPr>
        <p:spPr>
          <a:xfrm>
            <a:off x="4672013" y="1132880"/>
            <a:ext cx="0" cy="249882"/>
          </a:xfrm>
          <a:prstGeom prst="line">
            <a:avLst/>
          </a:prstGeom>
          <a:noFill/>
          <a:ln w="28575">
            <a:solidFill>
              <a:srgbClr val="2E86D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749701" y="1158180"/>
            <a:ext cx="413576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E8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</a:t>
            </a:r>
            <a:endParaRPr lang="en-US" sz="550" dirty="0"/>
          </a:p>
        </p:txBody>
      </p:sp>
      <p:sp>
        <p:nvSpPr>
          <p:cNvPr id="52" name="Text 50"/>
          <p:cNvSpPr/>
          <p:nvPr/>
        </p:nvSpPr>
        <p:spPr>
          <a:xfrm>
            <a:off x="4749701" y="1250156"/>
            <a:ext cx="4135767" cy="107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5"/>
              </a:lnSpc>
              <a:spcBef>
                <a:spcPts val="50"/>
              </a:spcBef>
              <a:buNone/>
            </a:pPr>
            <a:r>
              <a:rPr lang="en-US" sz="6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agent cannot receive calls on the CINNOX platform.</a:t>
            </a:r>
            <a:endParaRPr lang="en-US" sz="650" dirty="0"/>
          </a:p>
        </p:txBody>
      </p:sp>
      <p:sp>
        <p:nvSpPr>
          <p:cNvPr id="53" name="Text 51"/>
          <p:cNvSpPr/>
          <p:nvPr/>
        </p:nvSpPr>
        <p:spPr>
          <a:xfrm>
            <a:off x="4657725" y="1401812"/>
            <a:ext cx="4210050" cy="249882"/>
          </a:xfrm>
          <a:prstGeom prst="rect">
            <a:avLst/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Shape 52"/>
          <p:cNvSpPr/>
          <p:nvPr/>
        </p:nvSpPr>
        <p:spPr>
          <a:xfrm>
            <a:off x="4672013" y="1401812"/>
            <a:ext cx="0" cy="249882"/>
          </a:xfrm>
          <a:prstGeom prst="line">
            <a:avLst/>
          </a:prstGeom>
          <a:noFill/>
          <a:ln w="28575">
            <a:solidFill>
              <a:srgbClr val="27AE6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749701" y="1427113"/>
            <a:ext cx="413576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</a:t>
            </a:r>
            <a:endParaRPr lang="en-US" sz="550" dirty="0"/>
          </a:p>
        </p:txBody>
      </p:sp>
      <p:sp>
        <p:nvSpPr>
          <p:cNvPr id="56" name="Text 54"/>
          <p:cNvSpPr/>
          <p:nvPr/>
        </p:nvSpPr>
        <p:spPr>
          <a:xfrm>
            <a:off x="4749701" y="1519089"/>
            <a:ext cx="4135767" cy="107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5"/>
              </a:lnSpc>
              <a:spcBef>
                <a:spcPts val="50"/>
              </a:spcBef>
              <a:buNone/>
            </a:pPr>
            <a:r>
              <a:rPr lang="en-US" sz="6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I'd be happy to help! Could I get your company name and Account ID to pull up your account?</a:t>
            </a:r>
            <a:endParaRPr lang="en-US" sz="650" dirty="0"/>
          </a:p>
        </p:txBody>
      </p:sp>
      <p:sp>
        <p:nvSpPr>
          <p:cNvPr id="57" name="Text 55"/>
          <p:cNvSpPr/>
          <p:nvPr/>
        </p:nvSpPr>
        <p:spPr>
          <a:xfrm>
            <a:off x="4657725" y="1670745"/>
            <a:ext cx="4210050" cy="249882"/>
          </a:xfrm>
          <a:prstGeom prst="rect">
            <a:avLst/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Shape 56"/>
          <p:cNvSpPr/>
          <p:nvPr/>
        </p:nvSpPr>
        <p:spPr>
          <a:xfrm>
            <a:off x="4672013" y="1670745"/>
            <a:ext cx="0" cy="249882"/>
          </a:xfrm>
          <a:prstGeom prst="line">
            <a:avLst/>
          </a:prstGeom>
          <a:noFill/>
          <a:ln w="28575">
            <a:solidFill>
              <a:srgbClr val="2E86DE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749701" y="1696045"/>
            <a:ext cx="413576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E8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</a:t>
            </a:r>
            <a:endParaRPr lang="en-US" sz="550" dirty="0"/>
          </a:p>
        </p:txBody>
      </p:sp>
      <p:sp>
        <p:nvSpPr>
          <p:cNvPr id="60" name="Text 58"/>
          <p:cNvSpPr/>
          <p:nvPr/>
        </p:nvSpPr>
        <p:spPr>
          <a:xfrm>
            <a:off x="4749701" y="1788021"/>
            <a:ext cx="4135767" cy="107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5"/>
              </a:lnSpc>
              <a:spcBef>
                <a:spcPts val="50"/>
              </a:spcBef>
              <a:buNone/>
            </a:pPr>
            <a:r>
              <a:rPr lang="en-US" sz="6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Yes, I'm an existing customer. Company is Pacific Bank HK.</a:t>
            </a:r>
            <a:endParaRPr lang="en-US" sz="650" dirty="0"/>
          </a:p>
        </p:txBody>
      </p:sp>
      <p:sp>
        <p:nvSpPr>
          <p:cNvPr id="61" name="Text 59"/>
          <p:cNvSpPr/>
          <p:nvPr/>
        </p:nvSpPr>
        <p:spPr>
          <a:xfrm>
            <a:off x="4657725" y="1939677"/>
            <a:ext cx="4210050" cy="249882"/>
          </a:xfrm>
          <a:prstGeom prst="rect">
            <a:avLst/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Shape 60"/>
          <p:cNvSpPr/>
          <p:nvPr/>
        </p:nvSpPr>
        <p:spPr>
          <a:xfrm>
            <a:off x="4672013" y="1939677"/>
            <a:ext cx="0" cy="249882"/>
          </a:xfrm>
          <a:prstGeom prst="line">
            <a:avLst/>
          </a:prstGeom>
          <a:noFill/>
          <a:ln w="28575">
            <a:solidFill>
              <a:srgbClr val="27AE6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749701" y="1964978"/>
            <a:ext cx="413576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</a:t>
            </a:r>
            <a:endParaRPr lang="en-US" sz="550" dirty="0"/>
          </a:p>
        </p:txBody>
      </p:sp>
      <p:sp>
        <p:nvSpPr>
          <p:cNvPr id="64" name="Text 62"/>
          <p:cNvSpPr/>
          <p:nvPr/>
        </p:nvSpPr>
        <p:spPr>
          <a:xfrm>
            <a:off x="4749701" y="2056954"/>
            <a:ext cx="4135767" cy="107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5"/>
              </a:lnSpc>
              <a:spcBef>
                <a:spcPts val="50"/>
              </a:spcBef>
              <a:buNone/>
            </a:pPr>
            <a:r>
              <a:rPr lang="en-US" sz="6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 Could you also provide your **Account ID** so I can pull up your account?</a:t>
            </a:r>
            <a:endParaRPr lang="en-US" sz="650" dirty="0"/>
          </a:p>
        </p:txBody>
      </p:sp>
      <p:sp>
        <p:nvSpPr>
          <p:cNvPr id="65" name="Text 63"/>
          <p:cNvSpPr/>
          <p:nvPr/>
        </p:nvSpPr>
        <p:spPr>
          <a:xfrm>
            <a:off x="4657725" y="2208609"/>
            <a:ext cx="4210050" cy="249882"/>
          </a:xfrm>
          <a:prstGeom prst="rect">
            <a:avLst/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6" name="Shape 64"/>
          <p:cNvSpPr/>
          <p:nvPr/>
        </p:nvSpPr>
        <p:spPr>
          <a:xfrm>
            <a:off x="4672013" y="2208609"/>
            <a:ext cx="0" cy="249882"/>
          </a:xfrm>
          <a:prstGeom prst="line">
            <a:avLst/>
          </a:prstGeom>
          <a:noFill/>
          <a:ln w="28575">
            <a:solidFill>
              <a:srgbClr val="2E86DE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749701" y="2233910"/>
            <a:ext cx="413576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E8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</a:t>
            </a:r>
            <a:endParaRPr lang="en-US" sz="550" dirty="0"/>
          </a:p>
        </p:txBody>
      </p:sp>
      <p:sp>
        <p:nvSpPr>
          <p:cNvPr id="68" name="Text 66"/>
          <p:cNvSpPr/>
          <p:nvPr/>
        </p:nvSpPr>
        <p:spPr>
          <a:xfrm>
            <a:off x="4749701" y="2325886"/>
            <a:ext cx="4135767" cy="107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5"/>
              </a:lnSpc>
              <a:spcBef>
                <a:spcPts val="50"/>
              </a:spcBef>
              <a:buNone/>
            </a:pPr>
            <a:r>
              <a:rPr lang="en-US" sz="6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PBHK-2024</a:t>
            </a:r>
            <a:endParaRPr lang="en-US" sz="650" dirty="0"/>
          </a:p>
        </p:txBody>
      </p:sp>
      <p:sp>
        <p:nvSpPr>
          <p:cNvPr id="69" name="Text 67"/>
          <p:cNvSpPr/>
          <p:nvPr/>
        </p:nvSpPr>
        <p:spPr>
          <a:xfrm>
            <a:off x="4657725" y="2477542"/>
            <a:ext cx="4210050" cy="357188"/>
          </a:xfrm>
          <a:prstGeom prst="rect">
            <a:avLst/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0" name="Shape 68"/>
          <p:cNvSpPr/>
          <p:nvPr/>
        </p:nvSpPr>
        <p:spPr>
          <a:xfrm>
            <a:off x="4672013" y="2477542"/>
            <a:ext cx="0" cy="357188"/>
          </a:xfrm>
          <a:prstGeom prst="line">
            <a:avLst/>
          </a:prstGeom>
          <a:noFill/>
          <a:ln w="28575">
            <a:solidFill>
              <a:srgbClr val="27AE6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749701" y="2502843"/>
            <a:ext cx="413576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</a:t>
            </a:r>
            <a:endParaRPr lang="en-US" sz="550" dirty="0"/>
          </a:p>
        </p:txBody>
      </p:sp>
      <p:sp>
        <p:nvSpPr>
          <p:cNvPr id="72" name="Text 70"/>
          <p:cNvSpPr/>
          <p:nvPr/>
        </p:nvSpPr>
        <p:spPr>
          <a:xfrm>
            <a:off x="4749701" y="2594818"/>
            <a:ext cx="4135767" cy="214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5"/>
              </a:lnSpc>
              <a:spcBef>
                <a:spcPts val="50"/>
              </a:spcBef>
              <a:buNone/>
            </a:pPr>
            <a:r>
              <a:rPr lang="en-US" sz="6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Got it, thank you! I've pulled up your account — **Pacific Bank HK (PBHK-2024)**.</a:t>
            </a:r>
            <a:endParaRPr lang="en-US" sz="650" dirty="0"/>
          </a:p>
          <a:p>
            <a:pPr algn="l" indent="0" marL="0">
              <a:lnSpc>
                <a:spcPts val="845"/>
              </a:lnSpc>
              <a:spcBef>
                <a:spcPts val="50"/>
              </a:spcBef>
              <a:buNone/>
            </a:pPr>
            <a:endParaRPr lang="en-US" sz="650" dirty="0"/>
          </a:p>
          <a:p>
            <a:pPr algn="l" indent="0" marL="0">
              <a:lnSpc>
                <a:spcPts val="845"/>
              </a:lnSpc>
              <a:spcBef>
                <a:spcPts val="50"/>
              </a:spcBef>
              <a:buNone/>
            </a:pPr>
            <a:r>
              <a:rPr lang="en-US" sz="6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help our support team resolve this...</a:t>
            </a:r>
            <a:endParaRPr lang="en-US" sz="650" dirty="0"/>
          </a:p>
        </p:txBody>
      </p:sp>
      <p:sp>
        <p:nvSpPr>
          <p:cNvPr id="73" name="Text 71"/>
          <p:cNvSpPr/>
          <p:nvPr/>
        </p:nvSpPr>
        <p:spPr>
          <a:xfrm>
            <a:off x="4657725" y="2853779"/>
            <a:ext cx="4210050" cy="249882"/>
          </a:xfrm>
          <a:prstGeom prst="rect">
            <a:avLst/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4" name="Shape 72"/>
          <p:cNvSpPr/>
          <p:nvPr/>
        </p:nvSpPr>
        <p:spPr>
          <a:xfrm>
            <a:off x="4672013" y="2853779"/>
            <a:ext cx="0" cy="249882"/>
          </a:xfrm>
          <a:prstGeom prst="line">
            <a:avLst/>
          </a:prstGeom>
          <a:noFill/>
          <a:ln w="28575">
            <a:solidFill>
              <a:srgbClr val="2E86DE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749701" y="2879080"/>
            <a:ext cx="413576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E8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</a:t>
            </a:r>
            <a:endParaRPr lang="en-US" sz="550" dirty="0"/>
          </a:p>
        </p:txBody>
      </p:sp>
      <p:sp>
        <p:nvSpPr>
          <p:cNvPr id="76" name="Text 74"/>
          <p:cNvSpPr/>
          <p:nvPr/>
        </p:nvSpPr>
        <p:spPr>
          <a:xfrm>
            <a:off x="4749701" y="2971056"/>
            <a:ext cx="4135767" cy="107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5"/>
              </a:lnSpc>
              <a:spcBef>
                <a:spcPts val="50"/>
              </a:spcBef>
              <a:buNone/>
            </a:pPr>
            <a:r>
              <a:rPr lang="en-US" sz="6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Alice, +852-1234-5678</a:t>
            </a:r>
            <a:endParaRPr lang="en-US" sz="650" dirty="0"/>
          </a:p>
        </p:txBody>
      </p:sp>
      <p:sp>
        <p:nvSpPr>
          <p:cNvPr id="77" name="Text 75"/>
          <p:cNvSpPr/>
          <p:nvPr/>
        </p:nvSpPr>
        <p:spPr>
          <a:xfrm>
            <a:off x="4657725" y="3122712"/>
            <a:ext cx="4210050" cy="357188"/>
          </a:xfrm>
          <a:prstGeom prst="rect">
            <a:avLst/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8" name="Shape 76"/>
          <p:cNvSpPr/>
          <p:nvPr/>
        </p:nvSpPr>
        <p:spPr>
          <a:xfrm>
            <a:off x="4672013" y="3122712"/>
            <a:ext cx="0" cy="357188"/>
          </a:xfrm>
          <a:prstGeom prst="line">
            <a:avLst/>
          </a:prstGeom>
          <a:noFill/>
          <a:ln w="28575">
            <a:solidFill>
              <a:srgbClr val="27AE6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4749701" y="3148013"/>
            <a:ext cx="413576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</a:t>
            </a:r>
            <a:endParaRPr lang="en-US" sz="550" dirty="0"/>
          </a:p>
        </p:txBody>
      </p:sp>
      <p:sp>
        <p:nvSpPr>
          <p:cNvPr id="80" name="Text 78"/>
          <p:cNvSpPr/>
          <p:nvPr/>
        </p:nvSpPr>
        <p:spPr>
          <a:xfrm>
            <a:off x="4749701" y="3239988"/>
            <a:ext cx="4135767" cy="214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5"/>
              </a:lnSpc>
              <a:spcBef>
                <a:spcPts val="50"/>
              </a:spcBef>
              <a:buNone/>
            </a:pPr>
            <a:r>
              <a:rPr lang="en-US" sz="6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 for the details. Let me escalate this to our support team right away.I'm connecting you with our support team ...</a:t>
            </a:r>
            <a:endParaRPr lang="en-US" sz="6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34901"/>
          </a:xfrm>
          <a:prstGeom prst="rect">
            <a:avLst/>
          </a:prstGeom>
          <a:solidFill>
            <a:srgbClr val="1B2A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53901" y="149126"/>
            <a:ext cx="880892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TC-A3 — Partner Identification </a:t>
            </a:r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07802" y="371326"/>
            <a:ext cx="854994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8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Type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28600" y="736402"/>
            <a:ext cx="8686800" cy="145852"/>
          </a:xfrm>
          <a:prstGeom prst="roundRect">
            <a:avLst>
              <a:gd name="adj" fmla="val 26122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04800" y="761702"/>
            <a:ext cx="870508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Correctly routed to partnership team, not sales.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228600" y="920353"/>
            <a:ext cx="8686800" cy="266402"/>
          </a:xfrm>
          <a:prstGeom prst="rect">
            <a:avLst/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242888" y="920353"/>
            <a:ext cx="0" cy="266402"/>
          </a:xfrm>
          <a:prstGeom prst="line">
            <a:avLst/>
          </a:prstGeom>
          <a:noFill/>
          <a:ln w="28575">
            <a:solidFill>
              <a:srgbClr val="2E86D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576" y="945654"/>
            <a:ext cx="87020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E8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</a:t>
            </a:r>
            <a:endParaRPr lang="en-US" sz="550" dirty="0"/>
          </a:p>
        </p:txBody>
      </p:sp>
      <p:sp>
        <p:nvSpPr>
          <p:cNvPr id="10" name="Text 8"/>
          <p:cNvSpPr/>
          <p:nvPr/>
        </p:nvSpPr>
        <p:spPr>
          <a:xfrm>
            <a:off x="320576" y="1037630"/>
            <a:ext cx="870205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are a system integrator and want to explore a partnership with CINNOX.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228600" y="1205805"/>
            <a:ext cx="8686800" cy="266402"/>
          </a:xfrm>
          <a:prstGeom prst="rect">
            <a:avLst/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242888" y="1205805"/>
            <a:ext cx="0" cy="266402"/>
          </a:xfrm>
          <a:prstGeom prst="line">
            <a:avLst/>
          </a:prstGeom>
          <a:noFill/>
          <a:ln w="28575">
            <a:solidFill>
              <a:srgbClr val="27AE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576" y="1231106"/>
            <a:ext cx="87020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</a:t>
            </a:r>
            <a:endParaRPr lang="en-US" sz="550" dirty="0"/>
          </a:p>
        </p:txBody>
      </p:sp>
      <p:sp>
        <p:nvSpPr>
          <p:cNvPr id="14" name="Text 12"/>
          <p:cNvSpPr/>
          <p:nvPr/>
        </p:nvSpPr>
        <p:spPr>
          <a:xfrm>
            <a:off x="320576" y="1323082"/>
            <a:ext cx="870205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That's great to hear! We'd love to explore a partnership with you.</a:t>
            </a:r>
            <a:endParaRPr lang="en-US" sz="750" dirty="0"/>
          </a:p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endParaRPr lang="en-US" sz="750" dirty="0"/>
          </a:p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get things started, may I have your name?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228600" y="1491258"/>
            <a:ext cx="8686800" cy="266402"/>
          </a:xfrm>
          <a:prstGeom prst="rect">
            <a:avLst/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242888" y="1491258"/>
            <a:ext cx="0" cy="266402"/>
          </a:xfrm>
          <a:prstGeom prst="line">
            <a:avLst/>
          </a:prstGeom>
          <a:noFill/>
          <a:ln w="28575">
            <a:solidFill>
              <a:srgbClr val="2E86D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576" y="1516559"/>
            <a:ext cx="87020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E8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</a:t>
            </a:r>
            <a:endParaRPr lang="en-US" sz="550" dirty="0"/>
          </a:p>
        </p:txBody>
      </p:sp>
      <p:sp>
        <p:nvSpPr>
          <p:cNvPr id="18" name="Text 16"/>
          <p:cNvSpPr/>
          <p:nvPr/>
        </p:nvSpPr>
        <p:spPr>
          <a:xfrm>
            <a:off x="320576" y="1608534"/>
            <a:ext cx="870205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name is David Park from Nexus SI in Singapore.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228600" y="1776710"/>
            <a:ext cx="8686800" cy="266402"/>
          </a:xfrm>
          <a:prstGeom prst="rect">
            <a:avLst/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242888" y="1776710"/>
            <a:ext cx="0" cy="266402"/>
          </a:xfrm>
          <a:prstGeom prst="line">
            <a:avLst/>
          </a:prstGeom>
          <a:noFill/>
          <a:ln w="28575">
            <a:solidFill>
              <a:srgbClr val="27AE6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576" y="1802011"/>
            <a:ext cx="87020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</a:t>
            </a:r>
            <a:endParaRPr lang="en-US" sz="550" dirty="0"/>
          </a:p>
        </p:txBody>
      </p:sp>
      <p:sp>
        <p:nvSpPr>
          <p:cNvPr id="22" name="Text 20"/>
          <p:cNvSpPr/>
          <p:nvPr/>
        </p:nvSpPr>
        <p:spPr>
          <a:xfrm>
            <a:off x="320576" y="1893987"/>
            <a:ext cx="870205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Nice to meet you, David! Nexus SI sounds like a great fit for a CINNOX partnership.</a:t>
            </a:r>
            <a:endParaRPr lang="en-US" sz="750" dirty="0"/>
          </a:p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endParaRPr lang="en-US" sz="750" dirty="0"/>
          </a:p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Could I get your email address?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228600" y="2062163"/>
            <a:ext cx="8686800" cy="266402"/>
          </a:xfrm>
          <a:prstGeom prst="rect">
            <a:avLst/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242888" y="2062163"/>
            <a:ext cx="0" cy="266402"/>
          </a:xfrm>
          <a:prstGeom prst="line">
            <a:avLst/>
          </a:prstGeom>
          <a:noFill/>
          <a:ln w="28575">
            <a:solidFill>
              <a:srgbClr val="2E86D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576" y="2087463"/>
            <a:ext cx="87020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E8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</a:t>
            </a:r>
            <a:endParaRPr lang="en-US" sz="550" dirty="0"/>
          </a:p>
        </p:txBody>
      </p:sp>
      <p:sp>
        <p:nvSpPr>
          <p:cNvPr id="26" name="Text 24"/>
          <p:cNvSpPr/>
          <p:nvPr/>
        </p:nvSpPr>
        <p:spPr>
          <a:xfrm>
            <a:off x="320576" y="2179439"/>
            <a:ext cx="870205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david.park@nexussi.com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228600" y="2347615"/>
            <a:ext cx="8686800" cy="266402"/>
          </a:xfrm>
          <a:prstGeom prst="rect">
            <a:avLst/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242888" y="2347615"/>
            <a:ext cx="0" cy="266402"/>
          </a:xfrm>
          <a:prstGeom prst="line">
            <a:avLst/>
          </a:prstGeom>
          <a:noFill/>
          <a:ln w="28575">
            <a:solidFill>
              <a:srgbClr val="27AE6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576" y="2372916"/>
            <a:ext cx="87020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</a:t>
            </a:r>
            <a:endParaRPr lang="en-US" sz="550" dirty="0"/>
          </a:p>
        </p:txBody>
      </p:sp>
      <p:sp>
        <p:nvSpPr>
          <p:cNvPr id="30" name="Text 28"/>
          <p:cNvSpPr/>
          <p:nvPr/>
        </p:nvSpPr>
        <p:spPr>
          <a:xfrm>
            <a:off x="320576" y="2464891"/>
            <a:ext cx="870205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Got it! And lastly, a phone number we can reach you on?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228600" y="2633067"/>
            <a:ext cx="8686800" cy="266402"/>
          </a:xfrm>
          <a:prstGeom prst="rect">
            <a:avLst/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242888" y="2633067"/>
            <a:ext cx="0" cy="266402"/>
          </a:xfrm>
          <a:prstGeom prst="line">
            <a:avLst/>
          </a:prstGeom>
          <a:noFill/>
          <a:ln w="28575">
            <a:solidFill>
              <a:srgbClr val="2E86D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576" y="2658368"/>
            <a:ext cx="87020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E8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</a:t>
            </a:r>
            <a:endParaRPr lang="en-US" sz="550" dirty="0"/>
          </a:p>
        </p:txBody>
      </p:sp>
      <p:sp>
        <p:nvSpPr>
          <p:cNvPr id="34" name="Text 32"/>
          <p:cNvSpPr/>
          <p:nvPr/>
        </p:nvSpPr>
        <p:spPr>
          <a:xfrm>
            <a:off x="320576" y="2750344"/>
            <a:ext cx="870205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+65-8123-4567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228600" y="2918520"/>
            <a:ext cx="8686800" cy="266402"/>
          </a:xfrm>
          <a:prstGeom prst="rect">
            <a:avLst/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Shape 34"/>
          <p:cNvSpPr/>
          <p:nvPr/>
        </p:nvSpPr>
        <p:spPr>
          <a:xfrm>
            <a:off x="242888" y="2918520"/>
            <a:ext cx="0" cy="266402"/>
          </a:xfrm>
          <a:prstGeom prst="line">
            <a:avLst/>
          </a:prstGeom>
          <a:noFill/>
          <a:ln w="28575">
            <a:solidFill>
              <a:srgbClr val="27AE6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576" y="2943820"/>
            <a:ext cx="87020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</a:t>
            </a:r>
            <a:endParaRPr lang="en-US" sz="550" dirty="0"/>
          </a:p>
        </p:txBody>
      </p:sp>
      <p:sp>
        <p:nvSpPr>
          <p:cNvPr id="38" name="Text 36"/>
          <p:cNvSpPr/>
          <p:nvPr/>
        </p:nvSpPr>
        <p:spPr>
          <a:xfrm>
            <a:off x="320576" y="3035796"/>
            <a:ext cx="870205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 me confirm your details before I pass these on:</a:t>
            </a:r>
            <a:endParaRPr lang="en-US" sz="750" dirty="0"/>
          </a:p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endParaRPr lang="en-US" sz="750" dirty="0"/>
          </a:p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**Name**: David Park</a:t>
            </a:r>
            <a:endParaRPr lang="en-US" sz="750" dirty="0"/>
          </a:p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**Company**: Nexus SI (Singapore)</a:t>
            </a:r>
            <a:endParaRPr lang="en-US" sz="750" dirty="0"/>
          </a:p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**Email**: david.park@nexussi.com</a:t>
            </a:r>
            <a:endParaRPr lang="en-US" sz="750" dirty="0"/>
          </a:p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**Phone**: +65-8123-4567</a:t>
            </a:r>
            <a:endParaRPr lang="en-US" sz="750" dirty="0"/>
          </a:p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endParaRPr lang="en-US" sz="750" dirty="0"/>
          </a:p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that correct?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228600" y="3203972"/>
            <a:ext cx="8686800" cy="266402"/>
          </a:xfrm>
          <a:prstGeom prst="rect">
            <a:avLst/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Shape 38"/>
          <p:cNvSpPr/>
          <p:nvPr/>
        </p:nvSpPr>
        <p:spPr>
          <a:xfrm>
            <a:off x="242888" y="3203972"/>
            <a:ext cx="0" cy="266402"/>
          </a:xfrm>
          <a:prstGeom prst="line">
            <a:avLst/>
          </a:prstGeom>
          <a:noFill/>
          <a:ln w="28575">
            <a:solidFill>
              <a:srgbClr val="2E86D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0576" y="3229273"/>
            <a:ext cx="87020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E8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</a:t>
            </a:r>
            <a:endParaRPr lang="en-US" sz="550" dirty="0"/>
          </a:p>
        </p:txBody>
      </p:sp>
      <p:sp>
        <p:nvSpPr>
          <p:cNvPr id="42" name="Text 40"/>
          <p:cNvSpPr/>
          <p:nvPr/>
        </p:nvSpPr>
        <p:spPr>
          <a:xfrm>
            <a:off x="320576" y="3321248"/>
            <a:ext cx="870205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228600" y="3489424"/>
            <a:ext cx="8686800" cy="266402"/>
          </a:xfrm>
          <a:prstGeom prst="rect">
            <a:avLst/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Shape 42"/>
          <p:cNvSpPr/>
          <p:nvPr/>
        </p:nvSpPr>
        <p:spPr>
          <a:xfrm>
            <a:off x="242888" y="3489424"/>
            <a:ext cx="0" cy="266402"/>
          </a:xfrm>
          <a:prstGeom prst="line">
            <a:avLst/>
          </a:prstGeom>
          <a:noFill/>
          <a:ln w="28575">
            <a:solidFill>
              <a:srgbClr val="27AE6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20576" y="3514725"/>
            <a:ext cx="87020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</a:t>
            </a:r>
            <a:endParaRPr lang="en-US" sz="550" dirty="0"/>
          </a:p>
        </p:txBody>
      </p:sp>
      <p:sp>
        <p:nvSpPr>
          <p:cNvPr id="46" name="Text 44"/>
          <p:cNvSpPr/>
          <p:nvPr/>
        </p:nvSpPr>
        <p:spPr>
          <a:xfrm>
            <a:off x="320576" y="3606701"/>
            <a:ext cx="870205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you, David! Your information has been saved.</a:t>
            </a:r>
            <a:endParaRPr lang="en-US" sz="750" dirty="0"/>
          </a:p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endParaRPr lang="en-US" sz="750" dirty="0"/>
          </a:p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 for your interest in partnering with us! Our partnership team will be in touch shortly. Let me connect you now. 🤝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34901"/>
          </a:xfrm>
          <a:prstGeom prst="rect">
            <a:avLst/>
          </a:prstGeom>
          <a:solidFill>
            <a:srgbClr val="1B2A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53901" y="149126"/>
            <a:ext cx="880892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TC-A4 — Existing Customer Product Inquiry </a:t>
            </a:r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07802" y="371326"/>
            <a:ext cx="854994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8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Type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28600" y="736402"/>
            <a:ext cx="8686800" cy="145852"/>
          </a:xfrm>
          <a:prstGeom prst="roundRect">
            <a:avLst>
              <a:gd name="adj" fmla="val 26122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04800" y="761702"/>
            <a:ext cx="870508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Skipped lead form. RAG answer with source citation. Transferred for CRM details beyond KB.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228600" y="920353"/>
            <a:ext cx="8686800" cy="266402"/>
          </a:xfrm>
          <a:prstGeom prst="rect">
            <a:avLst/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242888" y="920353"/>
            <a:ext cx="0" cy="266402"/>
          </a:xfrm>
          <a:prstGeom prst="line">
            <a:avLst/>
          </a:prstGeom>
          <a:noFill/>
          <a:ln w="28575">
            <a:solidFill>
              <a:srgbClr val="2E86D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576" y="945654"/>
            <a:ext cx="87020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E8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</a:t>
            </a:r>
            <a:endParaRPr lang="en-US" sz="550" dirty="0"/>
          </a:p>
        </p:txBody>
      </p:sp>
      <p:sp>
        <p:nvSpPr>
          <p:cNvPr id="10" name="Text 8"/>
          <p:cNvSpPr/>
          <p:nvPr/>
        </p:nvSpPr>
        <p:spPr>
          <a:xfrm>
            <a:off x="320576" y="1037630"/>
            <a:ext cx="870205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are an existing CINNOX customer. Does CINNOX support CRM integration via API?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228600" y="1205805"/>
            <a:ext cx="8686800" cy="266402"/>
          </a:xfrm>
          <a:prstGeom prst="rect">
            <a:avLst/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242888" y="1205805"/>
            <a:ext cx="0" cy="266402"/>
          </a:xfrm>
          <a:prstGeom prst="line">
            <a:avLst/>
          </a:prstGeom>
          <a:noFill/>
          <a:ln w="28575">
            <a:solidFill>
              <a:srgbClr val="27AE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576" y="1231106"/>
            <a:ext cx="87020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</a:t>
            </a:r>
            <a:endParaRPr lang="en-US" sz="550" dirty="0"/>
          </a:p>
        </p:txBody>
      </p:sp>
      <p:sp>
        <p:nvSpPr>
          <p:cNvPr id="14" name="Text 12"/>
          <p:cNvSpPr/>
          <p:nvPr/>
        </p:nvSpPr>
        <p:spPr>
          <a:xfrm>
            <a:off x="320576" y="1323082"/>
            <a:ext cx="870205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I'd be happy to help! Could I get your company name and Account ID to pull up your account?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228600" y="1491258"/>
            <a:ext cx="8686800" cy="266402"/>
          </a:xfrm>
          <a:prstGeom prst="rect">
            <a:avLst/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242888" y="1491258"/>
            <a:ext cx="0" cy="266402"/>
          </a:xfrm>
          <a:prstGeom prst="line">
            <a:avLst/>
          </a:prstGeom>
          <a:noFill/>
          <a:ln w="28575">
            <a:solidFill>
              <a:srgbClr val="2E86D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576" y="1516559"/>
            <a:ext cx="87020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E8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</a:t>
            </a:r>
            <a:endParaRPr lang="en-US" sz="550" dirty="0"/>
          </a:p>
        </p:txBody>
      </p:sp>
      <p:sp>
        <p:nvSpPr>
          <p:cNvPr id="18" name="Text 16"/>
          <p:cNvSpPr/>
          <p:nvPr/>
        </p:nvSpPr>
        <p:spPr>
          <a:xfrm>
            <a:off x="320576" y="1608534"/>
            <a:ext cx="870205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NovaTech HK, account NVHK-2025.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228600" y="1776710"/>
            <a:ext cx="8686800" cy="390227"/>
          </a:xfrm>
          <a:prstGeom prst="rect">
            <a:avLst/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242888" y="1776710"/>
            <a:ext cx="0" cy="390227"/>
          </a:xfrm>
          <a:prstGeom prst="line">
            <a:avLst/>
          </a:prstGeom>
          <a:noFill/>
          <a:ln w="28575">
            <a:solidFill>
              <a:srgbClr val="27AE6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576" y="1802011"/>
            <a:ext cx="87020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</a:t>
            </a:r>
            <a:endParaRPr lang="en-US" sz="550" dirty="0"/>
          </a:p>
        </p:txBody>
      </p:sp>
      <p:sp>
        <p:nvSpPr>
          <p:cNvPr id="22" name="Text 20"/>
          <p:cNvSpPr/>
          <p:nvPr/>
        </p:nvSpPr>
        <p:spPr>
          <a:xfrm>
            <a:off x="320576" y="1893987"/>
            <a:ext cx="870205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Thanks for that, NovaTech HK! Account confirmed. Now, regarding your question:</a:t>
            </a:r>
            <a:endParaRPr lang="en-US" sz="750" dirty="0"/>
          </a:p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endParaRPr lang="en-US" sz="750" dirty="0"/>
          </a:p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Based on our product documentation, CINNOX does provide an **Open API** platform, and third-party integrations are listed as a supported fea...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228600" y="2185988"/>
            <a:ext cx="8686800" cy="266402"/>
          </a:xfrm>
          <a:prstGeom prst="rect">
            <a:avLst/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242888" y="2185988"/>
            <a:ext cx="0" cy="266402"/>
          </a:xfrm>
          <a:prstGeom prst="line">
            <a:avLst/>
          </a:prstGeom>
          <a:noFill/>
          <a:ln w="28575">
            <a:solidFill>
              <a:srgbClr val="2E86D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576" y="2211288"/>
            <a:ext cx="87020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E8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</a:t>
            </a:r>
            <a:endParaRPr lang="en-US" sz="550" dirty="0"/>
          </a:p>
        </p:txBody>
      </p:sp>
      <p:sp>
        <p:nvSpPr>
          <p:cNvPr id="26" name="Text 24"/>
          <p:cNvSpPr/>
          <p:nvPr/>
        </p:nvSpPr>
        <p:spPr>
          <a:xfrm>
            <a:off x="320576" y="2303264"/>
            <a:ext cx="870205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okay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228600" y="2471440"/>
            <a:ext cx="8686800" cy="266402"/>
          </a:xfrm>
          <a:prstGeom prst="rect">
            <a:avLst/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242888" y="2471440"/>
            <a:ext cx="0" cy="266402"/>
          </a:xfrm>
          <a:prstGeom prst="line">
            <a:avLst/>
          </a:prstGeom>
          <a:noFill/>
          <a:ln w="28575">
            <a:solidFill>
              <a:srgbClr val="27AE6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576" y="2496741"/>
            <a:ext cx="87020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</a:t>
            </a:r>
            <a:endParaRPr lang="en-US" sz="550" dirty="0"/>
          </a:p>
        </p:txBody>
      </p:sp>
      <p:sp>
        <p:nvSpPr>
          <p:cNvPr id="30" name="Text 28"/>
          <p:cNvSpPr/>
          <p:nvPr/>
        </p:nvSpPr>
        <p:spPr>
          <a:xfrm>
            <a:off x="320576" y="2588716"/>
            <a:ext cx="870205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problem! Is there anything else I can help you with, or would you like me to connect you with a specialist for the CRM integration details?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228600" y="2756892"/>
            <a:ext cx="8686800" cy="266402"/>
          </a:xfrm>
          <a:prstGeom prst="rect">
            <a:avLst/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242888" y="2756892"/>
            <a:ext cx="0" cy="266402"/>
          </a:xfrm>
          <a:prstGeom prst="line">
            <a:avLst/>
          </a:prstGeom>
          <a:noFill/>
          <a:ln w="28575">
            <a:solidFill>
              <a:srgbClr val="2E86D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576" y="2782193"/>
            <a:ext cx="87020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E8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</a:t>
            </a:r>
            <a:endParaRPr lang="en-US" sz="550" dirty="0"/>
          </a:p>
        </p:txBody>
      </p:sp>
      <p:sp>
        <p:nvSpPr>
          <p:cNvPr id="34" name="Text 32"/>
          <p:cNvSpPr/>
          <p:nvPr/>
        </p:nvSpPr>
        <p:spPr>
          <a:xfrm>
            <a:off x="320576" y="2874169"/>
            <a:ext cx="870205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228600" y="3042345"/>
            <a:ext cx="8686800" cy="390227"/>
          </a:xfrm>
          <a:prstGeom prst="rect">
            <a:avLst/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Shape 34"/>
          <p:cNvSpPr/>
          <p:nvPr/>
        </p:nvSpPr>
        <p:spPr>
          <a:xfrm>
            <a:off x="242888" y="3042345"/>
            <a:ext cx="0" cy="390227"/>
          </a:xfrm>
          <a:prstGeom prst="line">
            <a:avLst/>
          </a:prstGeom>
          <a:noFill/>
          <a:ln w="28575">
            <a:solidFill>
              <a:srgbClr val="27AE6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576" y="3067645"/>
            <a:ext cx="87020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</a:t>
            </a:r>
            <a:endParaRPr lang="en-US" sz="550" dirty="0"/>
          </a:p>
        </p:txBody>
      </p:sp>
      <p:sp>
        <p:nvSpPr>
          <p:cNvPr id="38" name="Text 36"/>
          <p:cNvSpPr/>
          <p:nvPr/>
        </p:nvSpPr>
        <p:spPr>
          <a:xfrm>
            <a:off x="320576" y="3159621"/>
            <a:ext cx="870205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I'm connecting you with our sales specialist now. They'll be with you shortly. 😊</a:t>
            </a:r>
            <a:endParaRPr lang="en-US" sz="750" dirty="0"/>
          </a:p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endParaRPr lang="en-US" sz="750" dirty="0"/>
          </a:p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```</a:t>
            </a:r>
            <a:endParaRPr lang="en-US" sz="750" dirty="0"/>
          </a:p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━━━━━━━━━━━━━━━━━━━━━━━━━━━━━━━━━━━━━━━━━━━━━</a:t>
            </a:r>
            <a:endParaRPr lang="en-US" sz="750" dirty="0"/>
          </a:p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Session Ended</a:t>
            </a:r>
            <a:endParaRPr lang="en-US" sz="750" dirty="0"/>
          </a:p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━━━━━━━━━━━━━━━━━━━━━━━━━━━━━━━━━━━━━━━━━━━━━</a:t>
            </a:r>
            <a:endParaRPr lang="en-US" sz="750" dirty="0"/>
          </a:p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```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34901"/>
          </a:xfrm>
          <a:prstGeom prst="rect">
            <a:avLst/>
          </a:prstGeom>
          <a:solidFill>
            <a:srgbClr val="1B2A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53901" y="149126"/>
            <a:ext cx="880892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TC-B1 — WhatsApp Integration </a:t>
            </a:r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</a:t>
            </a:r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REGRESSION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07802" y="371326"/>
            <a:ext cx="854994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8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/ RAG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28600" y="736402"/>
            <a:ext cx="8686800" cy="155377"/>
          </a:xfrm>
          <a:prstGeom prst="roundRect">
            <a:avLst>
              <a:gd name="adj" fmla="val 24521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04800" y="761702"/>
            <a:ext cx="870508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v1.2 fix: 路由问题 → lead capture → WhatsApp answer.</a:t>
            </a:r>
            <a:endParaRPr lang="en-US" sz="600" dirty="0"/>
          </a:p>
        </p:txBody>
      </p:sp>
      <p:sp>
        <p:nvSpPr>
          <p:cNvPr id="7" name="Text 5"/>
          <p:cNvSpPr/>
          <p:nvPr/>
        </p:nvSpPr>
        <p:spPr>
          <a:xfrm>
            <a:off x="228600" y="929878"/>
            <a:ext cx="4305300" cy="145852"/>
          </a:xfrm>
          <a:prstGeom prst="roundRect">
            <a:avLst>
              <a:gd name="adj" fmla="val 26122"/>
            </a:avLst>
          </a:prstGeom>
          <a:solidFill>
            <a:srgbClr val="E74C3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04800" y="955179"/>
            <a:ext cx="423595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 2 FAIL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4529138" y="1075730"/>
            <a:ext cx="0" cy="749945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" y="1820912"/>
            <a:ext cx="43053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33362" y="1075730"/>
            <a:ext cx="0" cy="749945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6225" y="1132880"/>
            <a:ext cx="4210050" cy="249882"/>
          </a:xfrm>
          <a:prstGeom prst="rect">
            <a:avLst/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290513" y="1132880"/>
            <a:ext cx="0" cy="249882"/>
          </a:xfrm>
          <a:prstGeom prst="line">
            <a:avLst/>
          </a:prstGeom>
          <a:noFill/>
          <a:ln w="28575">
            <a:solidFill>
              <a:srgbClr val="2E86D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8201" y="1158180"/>
            <a:ext cx="413576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E8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</a:t>
            </a:r>
            <a:endParaRPr lang="en-US" sz="550" dirty="0"/>
          </a:p>
        </p:txBody>
      </p:sp>
      <p:sp>
        <p:nvSpPr>
          <p:cNvPr id="15" name="Text 13"/>
          <p:cNvSpPr/>
          <p:nvPr/>
        </p:nvSpPr>
        <p:spPr>
          <a:xfrm>
            <a:off x="368201" y="1250156"/>
            <a:ext cx="4135767" cy="107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5"/>
              </a:lnSpc>
              <a:spcBef>
                <a:spcPts val="50"/>
              </a:spcBef>
              <a:buNone/>
            </a:pPr>
            <a:r>
              <a:rPr lang="en-US" sz="6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CINNOX support WhatsApp integration?</a:t>
            </a:r>
            <a:endParaRPr lang="en-US" sz="650" dirty="0"/>
          </a:p>
        </p:txBody>
      </p:sp>
      <p:sp>
        <p:nvSpPr>
          <p:cNvPr id="16" name="Text 14"/>
          <p:cNvSpPr/>
          <p:nvPr/>
        </p:nvSpPr>
        <p:spPr>
          <a:xfrm>
            <a:off x="276225" y="1401812"/>
            <a:ext cx="4210050" cy="357188"/>
          </a:xfrm>
          <a:prstGeom prst="rect">
            <a:avLst/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290513" y="1401812"/>
            <a:ext cx="0" cy="357188"/>
          </a:xfrm>
          <a:prstGeom prst="line">
            <a:avLst/>
          </a:prstGeom>
          <a:noFill/>
          <a:ln w="28575">
            <a:solidFill>
              <a:srgbClr val="27AE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8201" y="1427113"/>
            <a:ext cx="413576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</a:t>
            </a:r>
            <a:endParaRPr lang="en-US" sz="550" dirty="0"/>
          </a:p>
        </p:txBody>
      </p:sp>
      <p:sp>
        <p:nvSpPr>
          <p:cNvPr id="19" name="Text 17"/>
          <p:cNvSpPr/>
          <p:nvPr/>
        </p:nvSpPr>
        <p:spPr>
          <a:xfrm>
            <a:off x="368201" y="1519089"/>
            <a:ext cx="4135767" cy="214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5"/>
              </a:lnSpc>
              <a:spcBef>
                <a:spcPts val="50"/>
              </a:spcBef>
              <a:buNone/>
            </a:pPr>
            <a:r>
              <a:rPr lang="en-US" sz="6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Yes! CINNOX supports WhatsApp integration through 360dialog as a WhatsApp Business Solution Provider (BSP). You can conn...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4610100" y="929878"/>
            <a:ext cx="4305300" cy="145852"/>
          </a:xfrm>
          <a:prstGeom prst="roundRect">
            <a:avLst>
              <a:gd name="adj" fmla="val 26122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686300" y="955179"/>
            <a:ext cx="423595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 3 PASS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8910638" y="1075730"/>
            <a:ext cx="0" cy="257815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10100" y="3649117"/>
            <a:ext cx="43053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14863" y="1075730"/>
            <a:ext cx="0" cy="257815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57725" y="1132880"/>
            <a:ext cx="4210050" cy="249882"/>
          </a:xfrm>
          <a:prstGeom prst="rect">
            <a:avLst/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4672013" y="1132880"/>
            <a:ext cx="0" cy="249882"/>
          </a:xfrm>
          <a:prstGeom prst="line">
            <a:avLst/>
          </a:prstGeom>
          <a:noFill/>
          <a:ln w="28575">
            <a:solidFill>
              <a:srgbClr val="2E86D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49701" y="1158180"/>
            <a:ext cx="413576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E8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</a:t>
            </a:r>
            <a:endParaRPr lang="en-US" sz="550" dirty="0"/>
          </a:p>
        </p:txBody>
      </p:sp>
      <p:sp>
        <p:nvSpPr>
          <p:cNvPr id="28" name="Text 26"/>
          <p:cNvSpPr/>
          <p:nvPr/>
        </p:nvSpPr>
        <p:spPr>
          <a:xfrm>
            <a:off x="4749701" y="1250156"/>
            <a:ext cx="4135767" cy="107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5"/>
              </a:lnSpc>
              <a:spcBef>
                <a:spcPts val="50"/>
              </a:spcBef>
              <a:buNone/>
            </a:pPr>
            <a:r>
              <a:rPr lang="en-US" sz="6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CINNOX support WhatsApp integration?</a:t>
            </a:r>
            <a:endParaRPr lang="en-US" sz="650" dirty="0"/>
          </a:p>
        </p:txBody>
      </p:sp>
      <p:sp>
        <p:nvSpPr>
          <p:cNvPr id="29" name="Text 27"/>
          <p:cNvSpPr/>
          <p:nvPr/>
        </p:nvSpPr>
        <p:spPr>
          <a:xfrm>
            <a:off x="4657725" y="1401812"/>
            <a:ext cx="4210050" cy="357188"/>
          </a:xfrm>
          <a:prstGeom prst="rect">
            <a:avLst/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4672013" y="1401812"/>
            <a:ext cx="0" cy="357188"/>
          </a:xfrm>
          <a:prstGeom prst="line">
            <a:avLst/>
          </a:prstGeom>
          <a:noFill/>
          <a:ln w="28575">
            <a:solidFill>
              <a:srgbClr val="27AE6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49701" y="1427113"/>
            <a:ext cx="413576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</a:t>
            </a:r>
            <a:endParaRPr lang="en-US" sz="550" dirty="0"/>
          </a:p>
        </p:txBody>
      </p:sp>
      <p:sp>
        <p:nvSpPr>
          <p:cNvPr id="32" name="Text 30"/>
          <p:cNvSpPr/>
          <p:nvPr/>
        </p:nvSpPr>
        <p:spPr>
          <a:xfrm>
            <a:off x="4749701" y="1519089"/>
            <a:ext cx="4135767" cy="214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5"/>
              </a:lnSpc>
              <a:spcBef>
                <a:spcPts val="50"/>
              </a:spcBef>
              <a:buNone/>
            </a:pPr>
            <a:r>
              <a:rPr lang="en-US" sz="6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I'd be happy to help with that! To make sure I connect you with the right resources — are you an existing CINNOX custome...</a:t>
            </a:r>
            <a:endParaRPr lang="en-US" sz="650" dirty="0"/>
          </a:p>
        </p:txBody>
      </p:sp>
      <p:sp>
        <p:nvSpPr>
          <p:cNvPr id="33" name="Text 31"/>
          <p:cNvSpPr/>
          <p:nvPr/>
        </p:nvSpPr>
        <p:spPr>
          <a:xfrm>
            <a:off x="4657725" y="1778050"/>
            <a:ext cx="4210050" cy="249882"/>
          </a:xfrm>
          <a:prstGeom prst="rect">
            <a:avLst/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Shape 32"/>
          <p:cNvSpPr/>
          <p:nvPr/>
        </p:nvSpPr>
        <p:spPr>
          <a:xfrm>
            <a:off x="4672013" y="1778050"/>
            <a:ext cx="0" cy="249882"/>
          </a:xfrm>
          <a:prstGeom prst="line">
            <a:avLst/>
          </a:prstGeom>
          <a:noFill/>
          <a:ln w="28575">
            <a:solidFill>
              <a:srgbClr val="2E86D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49701" y="1803350"/>
            <a:ext cx="413576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E8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</a:t>
            </a:r>
            <a:endParaRPr lang="en-US" sz="550" dirty="0"/>
          </a:p>
        </p:txBody>
      </p:sp>
      <p:sp>
        <p:nvSpPr>
          <p:cNvPr id="36" name="Text 34"/>
          <p:cNvSpPr/>
          <p:nvPr/>
        </p:nvSpPr>
        <p:spPr>
          <a:xfrm>
            <a:off x="4749701" y="1895326"/>
            <a:ext cx="4135767" cy="107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5"/>
              </a:lnSpc>
              <a:spcBef>
                <a:spcPts val="50"/>
              </a:spcBef>
              <a:buNone/>
            </a:pPr>
            <a:r>
              <a:rPr lang="en-US" sz="6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</a:t>
            </a:r>
            <a:endParaRPr lang="en-US" sz="650" dirty="0"/>
          </a:p>
        </p:txBody>
      </p:sp>
      <p:sp>
        <p:nvSpPr>
          <p:cNvPr id="37" name="Text 35"/>
          <p:cNvSpPr/>
          <p:nvPr/>
        </p:nvSpPr>
        <p:spPr>
          <a:xfrm>
            <a:off x="4657725" y="2046982"/>
            <a:ext cx="4210050" cy="249882"/>
          </a:xfrm>
          <a:prstGeom prst="rect">
            <a:avLst/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Shape 36"/>
          <p:cNvSpPr/>
          <p:nvPr/>
        </p:nvSpPr>
        <p:spPr>
          <a:xfrm>
            <a:off x="4672013" y="2046982"/>
            <a:ext cx="0" cy="249882"/>
          </a:xfrm>
          <a:prstGeom prst="line">
            <a:avLst/>
          </a:prstGeom>
          <a:noFill/>
          <a:ln w="28575">
            <a:solidFill>
              <a:srgbClr val="27AE6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49701" y="2072283"/>
            <a:ext cx="413576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</a:t>
            </a:r>
            <a:endParaRPr lang="en-US" sz="550" dirty="0"/>
          </a:p>
        </p:txBody>
      </p:sp>
      <p:sp>
        <p:nvSpPr>
          <p:cNvPr id="40" name="Text 38"/>
          <p:cNvSpPr/>
          <p:nvPr/>
        </p:nvSpPr>
        <p:spPr>
          <a:xfrm>
            <a:off x="4749701" y="2164259"/>
            <a:ext cx="4135767" cy="107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5"/>
              </a:lnSpc>
              <a:spcBef>
                <a:spcPts val="50"/>
              </a:spcBef>
              <a:buNone/>
            </a:pPr>
            <a:r>
              <a:rPr lang="en-US" sz="6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Great! May I start with your name?</a:t>
            </a:r>
            <a:endParaRPr lang="en-US" sz="650" dirty="0"/>
          </a:p>
        </p:txBody>
      </p:sp>
      <p:sp>
        <p:nvSpPr>
          <p:cNvPr id="41" name="Text 39"/>
          <p:cNvSpPr/>
          <p:nvPr/>
        </p:nvSpPr>
        <p:spPr>
          <a:xfrm>
            <a:off x="4657725" y="2315914"/>
            <a:ext cx="4210050" cy="249882"/>
          </a:xfrm>
          <a:prstGeom prst="rect">
            <a:avLst/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Shape 40"/>
          <p:cNvSpPr/>
          <p:nvPr/>
        </p:nvSpPr>
        <p:spPr>
          <a:xfrm>
            <a:off x="4672013" y="2315914"/>
            <a:ext cx="0" cy="249882"/>
          </a:xfrm>
          <a:prstGeom prst="line">
            <a:avLst/>
          </a:prstGeom>
          <a:noFill/>
          <a:ln w="28575">
            <a:solidFill>
              <a:srgbClr val="2E86D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49701" y="2341215"/>
            <a:ext cx="413576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E8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</a:t>
            </a:r>
            <a:endParaRPr lang="en-US" sz="550" dirty="0"/>
          </a:p>
        </p:txBody>
      </p:sp>
      <p:sp>
        <p:nvSpPr>
          <p:cNvPr id="44" name="Text 42"/>
          <p:cNvSpPr/>
          <p:nvPr/>
        </p:nvSpPr>
        <p:spPr>
          <a:xfrm>
            <a:off x="4749701" y="2433191"/>
            <a:ext cx="4135767" cy="107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5"/>
              </a:lnSpc>
              <a:spcBef>
                <a:spcPts val="50"/>
              </a:spcBef>
              <a:buNone/>
            </a:pPr>
            <a:r>
              <a:rPr lang="en-US" sz="6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Chris Tanaka, Tokyo Commerce Co., chris@tokyocommerce.jp, +81-3-1234-5678</a:t>
            </a:r>
            <a:endParaRPr lang="en-US" sz="650" dirty="0"/>
          </a:p>
        </p:txBody>
      </p:sp>
      <p:sp>
        <p:nvSpPr>
          <p:cNvPr id="45" name="Text 43"/>
          <p:cNvSpPr/>
          <p:nvPr/>
        </p:nvSpPr>
        <p:spPr>
          <a:xfrm>
            <a:off x="4657725" y="2584847"/>
            <a:ext cx="4210050" cy="357188"/>
          </a:xfrm>
          <a:prstGeom prst="rect">
            <a:avLst/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Shape 44"/>
          <p:cNvSpPr/>
          <p:nvPr/>
        </p:nvSpPr>
        <p:spPr>
          <a:xfrm>
            <a:off x="4672013" y="2584847"/>
            <a:ext cx="0" cy="357188"/>
          </a:xfrm>
          <a:prstGeom prst="line">
            <a:avLst/>
          </a:prstGeom>
          <a:noFill/>
          <a:ln w="28575">
            <a:solidFill>
              <a:srgbClr val="27AE6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49701" y="2610148"/>
            <a:ext cx="413576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</a:t>
            </a:r>
            <a:endParaRPr lang="en-US" sz="550" dirty="0"/>
          </a:p>
        </p:txBody>
      </p:sp>
      <p:sp>
        <p:nvSpPr>
          <p:cNvPr id="48" name="Text 46"/>
          <p:cNvSpPr/>
          <p:nvPr/>
        </p:nvSpPr>
        <p:spPr>
          <a:xfrm>
            <a:off x="4749701" y="2702123"/>
            <a:ext cx="4135767" cy="214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5"/>
              </a:lnSpc>
              <a:spcBef>
                <a:spcPts val="50"/>
              </a:spcBef>
              <a:buNone/>
            </a:pPr>
            <a:r>
              <a:rPr lang="en-US" sz="6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Thanks, Chris! Let me confirm your details:</a:t>
            </a:r>
            <a:endParaRPr lang="en-US" sz="650" dirty="0"/>
          </a:p>
          <a:p>
            <a:pPr algn="l" indent="0" marL="0">
              <a:lnSpc>
                <a:spcPts val="845"/>
              </a:lnSpc>
              <a:spcBef>
                <a:spcPts val="50"/>
              </a:spcBef>
              <a:buNone/>
            </a:pPr>
            <a:endParaRPr lang="en-US" sz="650" dirty="0"/>
          </a:p>
          <a:p>
            <a:pPr algn="l" indent="0" marL="0">
              <a:lnSpc>
                <a:spcPts val="845"/>
              </a:lnSpc>
              <a:spcBef>
                <a:spcPts val="50"/>
              </a:spcBef>
              <a:buNone/>
            </a:pPr>
            <a:r>
              <a:rPr lang="en-US" sz="6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**Name:** Chris Tanaka</a:t>
            </a:r>
            <a:endParaRPr lang="en-US" sz="650" dirty="0"/>
          </a:p>
          <a:p>
            <a:pPr algn="l" indent="0" marL="0">
              <a:lnSpc>
                <a:spcPts val="845"/>
              </a:lnSpc>
              <a:spcBef>
                <a:spcPts val="50"/>
              </a:spcBef>
              <a:buNone/>
            </a:pPr>
            <a:r>
              <a:rPr lang="en-US" sz="6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**Company:** Tokyo Commerce Co.</a:t>
            </a:r>
            <a:endParaRPr lang="en-US" sz="650" dirty="0"/>
          </a:p>
          <a:p>
            <a:pPr algn="l" indent="0" marL="0">
              <a:lnSpc>
                <a:spcPts val="845"/>
              </a:lnSpc>
              <a:spcBef>
                <a:spcPts val="50"/>
              </a:spcBef>
              <a:buNone/>
            </a:pPr>
            <a:r>
              <a:rPr lang="en-US" sz="6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**Email:** c...</a:t>
            </a:r>
            <a:endParaRPr lang="en-US" sz="650" dirty="0"/>
          </a:p>
        </p:txBody>
      </p:sp>
      <p:sp>
        <p:nvSpPr>
          <p:cNvPr id="49" name="Text 47"/>
          <p:cNvSpPr/>
          <p:nvPr/>
        </p:nvSpPr>
        <p:spPr>
          <a:xfrm>
            <a:off x="4657725" y="2961084"/>
            <a:ext cx="4210050" cy="249882"/>
          </a:xfrm>
          <a:prstGeom prst="rect">
            <a:avLst/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Shape 48"/>
          <p:cNvSpPr/>
          <p:nvPr/>
        </p:nvSpPr>
        <p:spPr>
          <a:xfrm>
            <a:off x="4672013" y="2961084"/>
            <a:ext cx="0" cy="249882"/>
          </a:xfrm>
          <a:prstGeom prst="line">
            <a:avLst/>
          </a:prstGeom>
          <a:noFill/>
          <a:ln w="28575">
            <a:solidFill>
              <a:srgbClr val="2E86D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749701" y="2986385"/>
            <a:ext cx="413576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E8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</a:t>
            </a:r>
            <a:endParaRPr lang="en-US" sz="550" dirty="0"/>
          </a:p>
        </p:txBody>
      </p:sp>
      <p:sp>
        <p:nvSpPr>
          <p:cNvPr id="52" name="Text 50"/>
          <p:cNvSpPr/>
          <p:nvPr/>
        </p:nvSpPr>
        <p:spPr>
          <a:xfrm>
            <a:off x="4749701" y="3078361"/>
            <a:ext cx="4135767" cy="107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5"/>
              </a:lnSpc>
              <a:spcBef>
                <a:spcPts val="50"/>
              </a:spcBef>
              <a:buNone/>
            </a:pPr>
            <a:r>
              <a:rPr lang="en-US" sz="6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650" dirty="0"/>
          </a:p>
        </p:txBody>
      </p:sp>
      <p:sp>
        <p:nvSpPr>
          <p:cNvPr id="53" name="Text 51"/>
          <p:cNvSpPr/>
          <p:nvPr/>
        </p:nvSpPr>
        <p:spPr>
          <a:xfrm>
            <a:off x="4657725" y="3230017"/>
            <a:ext cx="4210050" cy="357188"/>
          </a:xfrm>
          <a:prstGeom prst="rect">
            <a:avLst/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Shape 52"/>
          <p:cNvSpPr/>
          <p:nvPr/>
        </p:nvSpPr>
        <p:spPr>
          <a:xfrm>
            <a:off x="4672013" y="3230017"/>
            <a:ext cx="0" cy="357188"/>
          </a:xfrm>
          <a:prstGeom prst="line">
            <a:avLst/>
          </a:prstGeom>
          <a:noFill/>
          <a:ln w="28575">
            <a:solidFill>
              <a:srgbClr val="27AE6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749701" y="3255318"/>
            <a:ext cx="413576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</a:t>
            </a:r>
            <a:endParaRPr lang="en-US" sz="550" dirty="0"/>
          </a:p>
        </p:txBody>
      </p:sp>
      <p:sp>
        <p:nvSpPr>
          <p:cNvPr id="56" name="Text 54"/>
          <p:cNvSpPr/>
          <p:nvPr/>
        </p:nvSpPr>
        <p:spPr>
          <a:xfrm>
            <a:off x="4749701" y="3347293"/>
            <a:ext cx="4135767" cy="214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5"/>
              </a:lnSpc>
              <a:spcBef>
                <a:spcPts val="50"/>
              </a:spcBef>
              <a:buNone/>
            </a:pPr>
            <a:r>
              <a:rPr lang="en-US" sz="6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you, Chris! Your information has been saved.</a:t>
            </a:r>
            <a:endParaRPr lang="en-US" sz="650" dirty="0"/>
          </a:p>
          <a:p>
            <a:pPr algn="l" indent="0" marL="0">
              <a:lnSpc>
                <a:spcPts val="845"/>
              </a:lnSpc>
              <a:spcBef>
                <a:spcPts val="50"/>
              </a:spcBef>
              <a:buNone/>
            </a:pPr>
            <a:endParaRPr lang="en-US" sz="650" dirty="0"/>
          </a:p>
          <a:p>
            <a:pPr algn="l" indent="0" marL="0">
              <a:lnSpc>
                <a:spcPts val="845"/>
              </a:lnSpc>
              <a:spcBef>
                <a:spcPts val="50"/>
              </a:spcBef>
              <a:buNone/>
            </a:pPr>
            <a:r>
              <a:rPr lang="en-US" sz="6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Now, regarding your question about WhatsApp integration — let me loo...</a:t>
            </a:r>
            <a:endParaRPr lang="en-US" sz="6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34901"/>
          </a:xfrm>
          <a:prstGeom prst="rect">
            <a:avLst/>
          </a:prstGeom>
          <a:solidFill>
            <a:srgbClr val="1B2A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53901" y="149126"/>
            <a:ext cx="880892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TC-B2 — High Volume Banking </a:t>
            </a:r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07802" y="371326"/>
            <a:ext cx="854994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8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/ RAG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28600" y="736402"/>
            <a:ext cx="8686800" cy="145852"/>
          </a:xfrm>
          <a:prstGeom prst="roundRect">
            <a:avLst>
              <a:gd name="adj" fmla="val 26122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04800" y="761702"/>
            <a:ext cx="870508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first → OCC/CXHub recommendation for 10k calls/day.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228600" y="920353"/>
            <a:ext cx="8686800" cy="266402"/>
          </a:xfrm>
          <a:prstGeom prst="rect">
            <a:avLst/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242888" y="920353"/>
            <a:ext cx="0" cy="266402"/>
          </a:xfrm>
          <a:prstGeom prst="line">
            <a:avLst/>
          </a:prstGeom>
          <a:noFill/>
          <a:ln w="28575">
            <a:solidFill>
              <a:srgbClr val="2E86D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576" y="945654"/>
            <a:ext cx="87020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E8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</a:t>
            </a:r>
            <a:endParaRPr lang="en-US" sz="550" dirty="0"/>
          </a:p>
        </p:txBody>
      </p:sp>
      <p:sp>
        <p:nvSpPr>
          <p:cNvPr id="10" name="Text 8"/>
          <p:cNvSpPr/>
          <p:nvPr/>
        </p:nvSpPr>
        <p:spPr>
          <a:xfrm>
            <a:off x="320576" y="1037630"/>
            <a:ext cx="870205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are a bank. Can you handle high volume inbound calls? About 10,000 per day.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228600" y="1205805"/>
            <a:ext cx="8686800" cy="266402"/>
          </a:xfrm>
          <a:prstGeom prst="rect">
            <a:avLst/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242888" y="1205805"/>
            <a:ext cx="0" cy="266402"/>
          </a:xfrm>
          <a:prstGeom prst="line">
            <a:avLst/>
          </a:prstGeom>
          <a:noFill/>
          <a:ln w="28575">
            <a:solidFill>
              <a:srgbClr val="27AE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576" y="1231106"/>
            <a:ext cx="87020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</a:t>
            </a:r>
            <a:endParaRPr lang="en-US" sz="550" dirty="0"/>
          </a:p>
        </p:txBody>
      </p:sp>
      <p:sp>
        <p:nvSpPr>
          <p:cNvPr id="14" name="Text 12"/>
          <p:cNvSpPr/>
          <p:nvPr/>
        </p:nvSpPr>
        <p:spPr>
          <a:xfrm>
            <a:off x="320576" y="1323082"/>
            <a:ext cx="870205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sounds like a great use case — CINNOX is built for high-volume contact centres! </a:t>
            </a:r>
            <a:endParaRPr lang="en-US" sz="750" dirty="0"/>
          </a:p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endParaRPr lang="en-US" sz="750" dirty="0"/>
          </a:p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make sure I connect you with the right resources, may I start with you...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228600" y="1491258"/>
            <a:ext cx="8686800" cy="266402"/>
          </a:xfrm>
          <a:prstGeom prst="rect">
            <a:avLst/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242888" y="1491258"/>
            <a:ext cx="0" cy="266402"/>
          </a:xfrm>
          <a:prstGeom prst="line">
            <a:avLst/>
          </a:prstGeom>
          <a:noFill/>
          <a:ln w="28575">
            <a:solidFill>
              <a:srgbClr val="2E86D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576" y="1516559"/>
            <a:ext cx="87020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E8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</a:t>
            </a:r>
            <a:endParaRPr lang="en-US" sz="550" dirty="0"/>
          </a:p>
        </p:txBody>
      </p:sp>
      <p:sp>
        <p:nvSpPr>
          <p:cNvPr id="18" name="Text 16"/>
          <p:cNvSpPr/>
          <p:nvPr/>
        </p:nvSpPr>
        <p:spPr>
          <a:xfrm>
            <a:off x="320576" y="1608534"/>
            <a:ext cx="870205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 Wei, ShangBao Bank,li.wei@shangbao.com, +86-21-1234-5678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228600" y="1776710"/>
            <a:ext cx="8686800" cy="266402"/>
          </a:xfrm>
          <a:prstGeom prst="rect">
            <a:avLst/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242888" y="1776710"/>
            <a:ext cx="0" cy="266402"/>
          </a:xfrm>
          <a:prstGeom prst="line">
            <a:avLst/>
          </a:prstGeom>
          <a:noFill/>
          <a:ln w="28575">
            <a:solidFill>
              <a:srgbClr val="27AE6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576" y="1802011"/>
            <a:ext cx="87020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</a:t>
            </a:r>
            <a:endParaRPr lang="en-US" sz="550" dirty="0"/>
          </a:p>
        </p:txBody>
      </p:sp>
      <p:sp>
        <p:nvSpPr>
          <p:cNvPr id="22" name="Text 20"/>
          <p:cNvSpPr/>
          <p:nvPr/>
        </p:nvSpPr>
        <p:spPr>
          <a:xfrm>
            <a:off x="320576" y="1893987"/>
            <a:ext cx="870205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you, Li Wei! Let me confirm your details:</a:t>
            </a:r>
            <a:endParaRPr lang="en-US" sz="750" dirty="0"/>
          </a:p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endParaRPr lang="en-US" sz="750" dirty="0"/>
          </a:p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**Name:** Li Wei</a:t>
            </a:r>
            <a:endParaRPr lang="en-US" sz="750" dirty="0"/>
          </a:p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**Company:** ShangBao Bank</a:t>
            </a:r>
            <a:endParaRPr lang="en-US" sz="750" dirty="0"/>
          </a:p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**Email:** li.wei@shangbao.com</a:t>
            </a:r>
            <a:endParaRPr lang="en-US" sz="750" dirty="0"/>
          </a:p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**Phone:** +86-21-1234-567...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228600" y="2062163"/>
            <a:ext cx="8686800" cy="266402"/>
          </a:xfrm>
          <a:prstGeom prst="rect">
            <a:avLst/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242888" y="2062163"/>
            <a:ext cx="0" cy="266402"/>
          </a:xfrm>
          <a:prstGeom prst="line">
            <a:avLst/>
          </a:prstGeom>
          <a:noFill/>
          <a:ln w="28575">
            <a:solidFill>
              <a:srgbClr val="2E86D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576" y="2087463"/>
            <a:ext cx="87020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E8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</a:t>
            </a:r>
            <a:endParaRPr lang="en-US" sz="550" dirty="0"/>
          </a:p>
        </p:txBody>
      </p:sp>
      <p:sp>
        <p:nvSpPr>
          <p:cNvPr id="26" name="Text 24"/>
          <p:cNvSpPr/>
          <p:nvPr/>
        </p:nvSpPr>
        <p:spPr>
          <a:xfrm>
            <a:off x="320576" y="2179439"/>
            <a:ext cx="870205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228600" y="2347615"/>
            <a:ext cx="8686800" cy="266402"/>
          </a:xfrm>
          <a:prstGeom prst="rect">
            <a:avLst/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242888" y="2347615"/>
            <a:ext cx="0" cy="266402"/>
          </a:xfrm>
          <a:prstGeom prst="line">
            <a:avLst/>
          </a:prstGeom>
          <a:noFill/>
          <a:ln w="28575">
            <a:solidFill>
              <a:srgbClr val="27AE6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576" y="2372916"/>
            <a:ext cx="87020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</a:t>
            </a:r>
            <a:endParaRPr lang="en-US" sz="550" dirty="0"/>
          </a:p>
        </p:txBody>
      </p:sp>
      <p:sp>
        <p:nvSpPr>
          <p:cNvPr id="30" name="Text 28"/>
          <p:cNvSpPr/>
          <p:nvPr/>
        </p:nvSpPr>
        <p:spPr>
          <a:xfrm>
            <a:off x="320576" y="2464891"/>
            <a:ext cx="870205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you, Li Wei! Your information has been saved.</a:t>
            </a:r>
            <a:endParaRPr lang="en-US" sz="750" dirty="0"/>
          </a:p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endParaRPr lang="en-US" sz="750" dirty="0"/>
          </a:p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Now, regarding your question about handling high-volume inbound calls — let me look that up for you.Great q...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228600" y="2633067"/>
            <a:ext cx="8686800" cy="266402"/>
          </a:xfrm>
          <a:prstGeom prst="rect">
            <a:avLst/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242888" y="2633067"/>
            <a:ext cx="0" cy="266402"/>
          </a:xfrm>
          <a:prstGeom prst="line">
            <a:avLst/>
          </a:prstGeom>
          <a:noFill/>
          <a:ln w="28575">
            <a:solidFill>
              <a:srgbClr val="2E86D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576" y="2658368"/>
            <a:ext cx="87020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E8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</a:t>
            </a:r>
            <a:endParaRPr lang="en-US" sz="550" dirty="0"/>
          </a:p>
        </p:txBody>
      </p:sp>
      <p:sp>
        <p:nvSpPr>
          <p:cNvPr id="34" name="Text 32"/>
          <p:cNvSpPr/>
          <p:nvPr/>
        </p:nvSpPr>
        <p:spPr>
          <a:xfrm>
            <a:off x="320576" y="2750344"/>
            <a:ext cx="870205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 you route calls to the right agents?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228600" y="2918520"/>
            <a:ext cx="8686800" cy="266402"/>
          </a:xfrm>
          <a:prstGeom prst="rect">
            <a:avLst/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Shape 34"/>
          <p:cNvSpPr/>
          <p:nvPr/>
        </p:nvSpPr>
        <p:spPr>
          <a:xfrm>
            <a:off x="242888" y="2918520"/>
            <a:ext cx="0" cy="266402"/>
          </a:xfrm>
          <a:prstGeom prst="line">
            <a:avLst/>
          </a:prstGeom>
          <a:noFill/>
          <a:ln w="28575">
            <a:solidFill>
              <a:srgbClr val="27AE6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576" y="2943820"/>
            <a:ext cx="87020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</a:t>
            </a:r>
            <a:endParaRPr lang="en-US" sz="550" dirty="0"/>
          </a:p>
        </p:txBody>
      </p:sp>
      <p:sp>
        <p:nvSpPr>
          <p:cNvPr id="38" name="Text 36"/>
          <p:cNvSpPr/>
          <p:nvPr/>
        </p:nvSpPr>
        <p:spPr>
          <a:xfrm>
            <a:off x="320576" y="3035796"/>
            <a:ext cx="870205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question, Li Wei. According to our product documentation, CINNOX offers several call routing options:</a:t>
            </a:r>
            <a:endParaRPr lang="en-US" sz="750" dirty="0"/>
          </a:p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endParaRPr lang="en-US" sz="750" dirty="0"/>
          </a:p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**Advanced Call System** — Routes inbound calls t...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228600" y="3203972"/>
            <a:ext cx="8686800" cy="266402"/>
          </a:xfrm>
          <a:prstGeom prst="rect">
            <a:avLst/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Shape 38"/>
          <p:cNvSpPr/>
          <p:nvPr/>
        </p:nvSpPr>
        <p:spPr>
          <a:xfrm>
            <a:off x="242888" y="3203972"/>
            <a:ext cx="0" cy="266402"/>
          </a:xfrm>
          <a:prstGeom prst="line">
            <a:avLst/>
          </a:prstGeom>
          <a:noFill/>
          <a:ln w="28575">
            <a:solidFill>
              <a:srgbClr val="2E86D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0576" y="3229273"/>
            <a:ext cx="87020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E8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</a:t>
            </a:r>
            <a:endParaRPr lang="en-US" sz="550" dirty="0"/>
          </a:p>
        </p:txBody>
      </p:sp>
      <p:sp>
        <p:nvSpPr>
          <p:cNvPr id="42" name="Text 40"/>
          <p:cNvSpPr/>
          <p:nvPr/>
        </p:nvSpPr>
        <p:spPr>
          <a:xfrm>
            <a:off x="320576" y="3321248"/>
            <a:ext cx="870205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you have IVR capabilities?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228600" y="3489424"/>
            <a:ext cx="8686800" cy="266402"/>
          </a:xfrm>
          <a:prstGeom prst="rect">
            <a:avLst/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Shape 42"/>
          <p:cNvSpPr/>
          <p:nvPr/>
        </p:nvSpPr>
        <p:spPr>
          <a:xfrm>
            <a:off x="242888" y="3489424"/>
            <a:ext cx="0" cy="266402"/>
          </a:xfrm>
          <a:prstGeom prst="line">
            <a:avLst/>
          </a:prstGeom>
          <a:noFill/>
          <a:ln w="28575">
            <a:solidFill>
              <a:srgbClr val="27AE6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20576" y="3514725"/>
            <a:ext cx="87020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</a:t>
            </a:r>
            <a:endParaRPr lang="en-US" sz="550" dirty="0"/>
          </a:p>
        </p:txBody>
      </p:sp>
      <p:sp>
        <p:nvSpPr>
          <p:cNvPr id="46" name="Text 44"/>
          <p:cNvSpPr/>
          <p:nvPr/>
        </p:nvSpPr>
        <p:spPr>
          <a:xfrm>
            <a:off x="320576" y="3606701"/>
            <a:ext cx="870205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Yes, Li Wei — CINNOX does offer **IVR (Interactive Voice Response)**. According to our product documentation:</a:t>
            </a:r>
            <a:endParaRPr lang="en-US" sz="750" dirty="0"/>
          </a:p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endParaRPr lang="en-US" sz="750" dirty="0"/>
          </a:p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**Reduces workload** by handling simple and com...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228600" y="3774877"/>
            <a:ext cx="8686800" cy="266402"/>
          </a:xfrm>
          <a:prstGeom prst="rect">
            <a:avLst/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Shape 46"/>
          <p:cNvSpPr/>
          <p:nvPr/>
        </p:nvSpPr>
        <p:spPr>
          <a:xfrm>
            <a:off x="242888" y="3774877"/>
            <a:ext cx="0" cy="266402"/>
          </a:xfrm>
          <a:prstGeom prst="line">
            <a:avLst/>
          </a:prstGeom>
          <a:noFill/>
          <a:ln w="28575">
            <a:solidFill>
              <a:srgbClr val="2E86D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20576" y="3800177"/>
            <a:ext cx="87020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E8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</a:t>
            </a:r>
            <a:endParaRPr lang="en-US" sz="550" dirty="0"/>
          </a:p>
        </p:txBody>
      </p:sp>
      <p:sp>
        <p:nvSpPr>
          <p:cNvPr id="50" name="Text 48"/>
          <p:cNvSpPr/>
          <p:nvPr/>
        </p:nvSpPr>
        <p:spPr>
          <a:xfrm>
            <a:off x="320576" y="3892153"/>
            <a:ext cx="870205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plan would you recommend for our size?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228600" y="4060329"/>
            <a:ext cx="8686800" cy="266402"/>
          </a:xfrm>
          <a:prstGeom prst="rect">
            <a:avLst/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Shape 50"/>
          <p:cNvSpPr/>
          <p:nvPr/>
        </p:nvSpPr>
        <p:spPr>
          <a:xfrm>
            <a:off x="242888" y="4060329"/>
            <a:ext cx="0" cy="266402"/>
          </a:xfrm>
          <a:prstGeom prst="line">
            <a:avLst/>
          </a:prstGeom>
          <a:noFill/>
          <a:ln w="28575">
            <a:solidFill>
              <a:srgbClr val="27AE6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20576" y="4085630"/>
            <a:ext cx="87020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</a:t>
            </a:r>
            <a:endParaRPr lang="en-US" sz="550" dirty="0"/>
          </a:p>
        </p:txBody>
      </p:sp>
      <p:sp>
        <p:nvSpPr>
          <p:cNvPr id="54" name="Text 52"/>
          <p:cNvSpPr/>
          <p:nvPr/>
        </p:nvSpPr>
        <p:spPr>
          <a:xfrm>
            <a:off x="320576" y="4177605"/>
            <a:ext cx="870205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Based on our pricing documentation, CINNOX offers these plans:</a:t>
            </a:r>
            <a:endParaRPr lang="en-US" sz="750" dirty="0"/>
          </a:p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endParaRPr lang="en-US" sz="750" dirty="0"/>
          </a:p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Plan | Best For | Key Capabilities |</a:t>
            </a:r>
            <a:endParaRPr lang="en-US" sz="750" dirty="0"/>
          </a:p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|---|---|---|</a:t>
            </a:r>
            <a:endParaRPr lang="en-US" sz="750" dirty="0"/>
          </a:p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**Basic Contact Center (BCC)** | Simple c...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34901"/>
          </a:xfrm>
          <a:prstGeom prst="rect">
            <a:avLst/>
          </a:prstGeom>
          <a:solidFill>
            <a:srgbClr val="1B2A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53901" y="149126"/>
            <a:ext cx="880892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TC-B3 — Non-Existent Feature </a:t>
            </a:r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</a:t>
            </a:r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07802" y="371326"/>
            <a:ext cx="854994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8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/ RAG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28600" y="736402"/>
            <a:ext cx="8686800" cy="145852"/>
          </a:xfrm>
          <a:prstGeom prst="roundRect">
            <a:avLst>
              <a:gd name="adj" fmla="val 26122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04800" y="761702"/>
            <a:ext cx="870508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Anti-hallucination: hologram denied firmly, maintained under pressure, zero fabrication.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228600" y="920353"/>
            <a:ext cx="8686800" cy="266402"/>
          </a:xfrm>
          <a:prstGeom prst="rect">
            <a:avLst/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242888" y="920353"/>
            <a:ext cx="0" cy="266402"/>
          </a:xfrm>
          <a:prstGeom prst="line">
            <a:avLst/>
          </a:prstGeom>
          <a:noFill/>
          <a:ln w="28575">
            <a:solidFill>
              <a:srgbClr val="2E86D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576" y="945654"/>
            <a:ext cx="87020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E8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</a:t>
            </a:r>
            <a:endParaRPr lang="en-US" sz="550" dirty="0"/>
          </a:p>
        </p:txBody>
      </p:sp>
      <p:sp>
        <p:nvSpPr>
          <p:cNvPr id="10" name="Text 8"/>
          <p:cNvSpPr/>
          <p:nvPr/>
        </p:nvSpPr>
        <p:spPr>
          <a:xfrm>
            <a:off x="320576" y="1037630"/>
            <a:ext cx="870205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you support hologram video calling? We saw it at a trade show.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228600" y="1205805"/>
            <a:ext cx="8686800" cy="266402"/>
          </a:xfrm>
          <a:prstGeom prst="rect">
            <a:avLst/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242888" y="1205805"/>
            <a:ext cx="0" cy="266402"/>
          </a:xfrm>
          <a:prstGeom prst="line">
            <a:avLst/>
          </a:prstGeom>
          <a:noFill/>
          <a:ln w="28575">
            <a:solidFill>
              <a:srgbClr val="27AE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576" y="1231106"/>
            <a:ext cx="87020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</a:t>
            </a:r>
            <a:endParaRPr lang="en-US" sz="550" dirty="0"/>
          </a:p>
        </p:txBody>
      </p:sp>
      <p:sp>
        <p:nvSpPr>
          <p:cNvPr id="14" name="Text 12"/>
          <p:cNvSpPr/>
          <p:nvPr/>
        </p:nvSpPr>
        <p:spPr>
          <a:xfrm>
            <a:off x="320576" y="1323082"/>
            <a:ext cx="870205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I'd be happy to help with that! To make sure I connect you with the right resources — are you an existing CINNOX customer, or are you new to us?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228600" y="1491258"/>
            <a:ext cx="8686800" cy="266402"/>
          </a:xfrm>
          <a:prstGeom prst="rect">
            <a:avLst/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242888" y="1491258"/>
            <a:ext cx="0" cy="266402"/>
          </a:xfrm>
          <a:prstGeom prst="line">
            <a:avLst/>
          </a:prstGeom>
          <a:noFill/>
          <a:ln w="28575">
            <a:solidFill>
              <a:srgbClr val="2E86D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576" y="1516559"/>
            <a:ext cx="87020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E8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</a:t>
            </a:r>
            <a:endParaRPr lang="en-US" sz="550" dirty="0"/>
          </a:p>
        </p:txBody>
      </p:sp>
      <p:sp>
        <p:nvSpPr>
          <p:cNvPr id="18" name="Text 16"/>
          <p:cNvSpPr/>
          <p:nvPr/>
        </p:nvSpPr>
        <p:spPr>
          <a:xfrm>
            <a:off x="320576" y="1608534"/>
            <a:ext cx="870205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are new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228600" y="1776710"/>
            <a:ext cx="8686800" cy="266402"/>
          </a:xfrm>
          <a:prstGeom prst="rect">
            <a:avLst/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242888" y="1776710"/>
            <a:ext cx="0" cy="266402"/>
          </a:xfrm>
          <a:prstGeom prst="line">
            <a:avLst/>
          </a:prstGeom>
          <a:noFill/>
          <a:ln w="28575">
            <a:solidFill>
              <a:srgbClr val="27AE6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576" y="1802011"/>
            <a:ext cx="87020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</a:t>
            </a:r>
            <a:endParaRPr lang="en-US" sz="550" dirty="0"/>
          </a:p>
        </p:txBody>
      </p:sp>
      <p:sp>
        <p:nvSpPr>
          <p:cNvPr id="22" name="Text 20"/>
          <p:cNvSpPr/>
          <p:nvPr/>
        </p:nvSpPr>
        <p:spPr>
          <a:xfrm>
            <a:off x="320576" y="1893987"/>
            <a:ext cx="870205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Great! May I start with your name?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228600" y="2062163"/>
            <a:ext cx="8686800" cy="266402"/>
          </a:xfrm>
          <a:prstGeom prst="rect">
            <a:avLst/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242888" y="2062163"/>
            <a:ext cx="0" cy="266402"/>
          </a:xfrm>
          <a:prstGeom prst="line">
            <a:avLst/>
          </a:prstGeom>
          <a:noFill/>
          <a:ln w="28575">
            <a:solidFill>
              <a:srgbClr val="2E86D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576" y="2087463"/>
            <a:ext cx="87020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E8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</a:t>
            </a:r>
            <a:endParaRPr lang="en-US" sz="550" dirty="0"/>
          </a:p>
        </p:txBody>
      </p:sp>
      <p:sp>
        <p:nvSpPr>
          <p:cNvPr id="26" name="Text 24"/>
          <p:cNvSpPr/>
          <p:nvPr/>
        </p:nvSpPr>
        <p:spPr>
          <a:xfrm>
            <a:off x="320576" y="2179439"/>
            <a:ext cx="870205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Alex Kim, FutureMedia Corp, alex.kim@futuremedia.com, +1-415-555-0199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228600" y="2347615"/>
            <a:ext cx="8686800" cy="266402"/>
          </a:xfrm>
          <a:prstGeom prst="rect">
            <a:avLst/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242888" y="2347615"/>
            <a:ext cx="0" cy="266402"/>
          </a:xfrm>
          <a:prstGeom prst="line">
            <a:avLst/>
          </a:prstGeom>
          <a:noFill/>
          <a:ln w="28575">
            <a:solidFill>
              <a:srgbClr val="27AE6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576" y="2372916"/>
            <a:ext cx="87020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</a:t>
            </a:r>
            <a:endParaRPr lang="en-US" sz="550" dirty="0"/>
          </a:p>
        </p:txBody>
      </p:sp>
      <p:sp>
        <p:nvSpPr>
          <p:cNvPr id="30" name="Text 28"/>
          <p:cNvSpPr/>
          <p:nvPr/>
        </p:nvSpPr>
        <p:spPr>
          <a:xfrm>
            <a:off x="320576" y="2464891"/>
            <a:ext cx="870205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 me confirm your details:</a:t>
            </a:r>
            <a:endParaRPr lang="en-US" sz="750" dirty="0"/>
          </a:p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endParaRPr lang="en-US" sz="750" dirty="0"/>
          </a:p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**Name:** Alex Kim</a:t>
            </a:r>
            <a:endParaRPr lang="en-US" sz="750" dirty="0"/>
          </a:p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**Company:** FutureMedia Corp</a:t>
            </a:r>
            <a:endParaRPr lang="en-US" sz="750" dirty="0"/>
          </a:p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**Email:** alex.kim@futuremedia.com</a:t>
            </a:r>
            <a:endParaRPr lang="en-US" sz="750" dirty="0"/>
          </a:p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**Phone:** +1-415-555-0199</a:t>
            </a:r>
            <a:endParaRPr lang="en-US" sz="750" dirty="0"/>
          </a:p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endParaRPr lang="en-US" sz="750" dirty="0"/>
          </a:p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that c...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228600" y="2633067"/>
            <a:ext cx="8686800" cy="266402"/>
          </a:xfrm>
          <a:prstGeom prst="rect">
            <a:avLst/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242888" y="2633067"/>
            <a:ext cx="0" cy="266402"/>
          </a:xfrm>
          <a:prstGeom prst="line">
            <a:avLst/>
          </a:prstGeom>
          <a:noFill/>
          <a:ln w="28575">
            <a:solidFill>
              <a:srgbClr val="2E86D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576" y="2658368"/>
            <a:ext cx="87020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E8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</a:t>
            </a:r>
            <a:endParaRPr lang="en-US" sz="550" dirty="0"/>
          </a:p>
        </p:txBody>
      </p:sp>
      <p:sp>
        <p:nvSpPr>
          <p:cNvPr id="34" name="Text 32"/>
          <p:cNvSpPr/>
          <p:nvPr/>
        </p:nvSpPr>
        <p:spPr>
          <a:xfrm>
            <a:off x="320576" y="2750344"/>
            <a:ext cx="870205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228600" y="2918520"/>
            <a:ext cx="8686800" cy="266402"/>
          </a:xfrm>
          <a:prstGeom prst="rect">
            <a:avLst/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Shape 34"/>
          <p:cNvSpPr/>
          <p:nvPr/>
        </p:nvSpPr>
        <p:spPr>
          <a:xfrm>
            <a:off x="242888" y="2918520"/>
            <a:ext cx="0" cy="266402"/>
          </a:xfrm>
          <a:prstGeom prst="line">
            <a:avLst/>
          </a:prstGeom>
          <a:noFill/>
          <a:ln w="28575">
            <a:solidFill>
              <a:srgbClr val="27AE6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576" y="2943820"/>
            <a:ext cx="87020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</a:t>
            </a:r>
            <a:endParaRPr lang="en-US" sz="550" dirty="0"/>
          </a:p>
        </p:txBody>
      </p:sp>
      <p:sp>
        <p:nvSpPr>
          <p:cNvPr id="38" name="Text 36"/>
          <p:cNvSpPr/>
          <p:nvPr/>
        </p:nvSpPr>
        <p:spPr>
          <a:xfrm>
            <a:off x="320576" y="3035796"/>
            <a:ext cx="870205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you, Alex! Your information has been saved.</a:t>
            </a:r>
            <a:endParaRPr lang="en-US" sz="750" dirty="0"/>
          </a:p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endParaRPr lang="en-US" sz="750" dirty="0"/>
          </a:p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Now, regarding your question about hologram video calling — let me look that up for you.Hologram video callin...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228600" y="3203972"/>
            <a:ext cx="8686800" cy="266402"/>
          </a:xfrm>
          <a:prstGeom prst="rect">
            <a:avLst/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Shape 38"/>
          <p:cNvSpPr/>
          <p:nvPr/>
        </p:nvSpPr>
        <p:spPr>
          <a:xfrm>
            <a:off x="242888" y="3203972"/>
            <a:ext cx="0" cy="266402"/>
          </a:xfrm>
          <a:prstGeom prst="line">
            <a:avLst/>
          </a:prstGeom>
          <a:noFill/>
          <a:ln w="28575">
            <a:solidFill>
              <a:srgbClr val="2E86D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0576" y="3229273"/>
            <a:ext cx="87020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E8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</a:t>
            </a:r>
            <a:endParaRPr lang="en-US" sz="550" dirty="0"/>
          </a:p>
        </p:txBody>
      </p:sp>
      <p:sp>
        <p:nvSpPr>
          <p:cNvPr id="42" name="Text 40"/>
          <p:cNvSpPr/>
          <p:nvPr/>
        </p:nvSpPr>
        <p:spPr>
          <a:xfrm>
            <a:off x="320576" y="3321248"/>
            <a:ext cx="870205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 you sure? We specifically saw the CINNOX name on the booth.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228600" y="3489424"/>
            <a:ext cx="8686800" cy="266402"/>
          </a:xfrm>
          <a:prstGeom prst="rect">
            <a:avLst/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Shape 42"/>
          <p:cNvSpPr/>
          <p:nvPr/>
        </p:nvSpPr>
        <p:spPr>
          <a:xfrm>
            <a:off x="242888" y="3489424"/>
            <a:ext cx="0" cy="266402"/>
          </a:xfrm>
          <a:prstGeom prst="line">
            <a:avLst/>
          </a:prstGeom>
          <a:noFill/>
          <a:ln w="28575">
            <a:solidFill>
              <a:srgbClr val="27AE6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20576" y="3514725"/>
            <a:ext cx="87020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</a:t>
            </a:r>
            <a:endParaRPr lang="en-US" sz="550" dirty="0"/>
          </a:p>
        </p:txBody>
      </p:sp>
      <p:sp>
        <p:nvSpPr>
          <p:cNvPr id="46" name="Text 44"/>
          <p:cNvSpPr/>
          <p:nvPr/>
        </p:nvSpPr>
        <p:spPr>
          <a:xfrm>
            <a:off x="320576" y="3606701"/>
            <a:ext cx="870205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understand you saw something at a trade show, and I appreciate you bringing it up! However, based on our current product documentation, hologram video calli...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228600" y="3774877"/>
            <a:ext cx="8686800" cy="266402"/>
          </a:xfrm>
          <a:prstGeom prst="rect">
            <a:avLst/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Shape 46"/>
          <p:cNvSpPr/>
          <p:nvPr/>
        </p:nvSpPr>
        <p:spPr>
          <a:xfrm>
            <a:off x="242888" y="3774877"/>
            <a:ext cx="0" cy="266402"/>
          </a:xfrm>
          <a:prstGeom prst="line">
            <a:avLst/>
          </a:prstGeom>
          <a:noFill/>
          <a:ln w="28575">
            <a:solidFill>
              <a:srgbClr val="2E86D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20576" y="3800177"/>
            <a:ext cx="87020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E8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</a:t>
            </a:r>
            <a:endParaRPr lang="en-US" sz="550" dirty="0"/>
          </a:p>
        </p:txBody>
      </p:sp>
      <p:sp>
        <p:nvSpPr>
          <p:cNvPr id="50" name="Text 48"/>
          <p:cNvSpPr/>
          <p:nvPr/>
        </p:nvSpPr>
        <p:spPr>
          <a:xfrm>
            <a:off x="320576" y="3892153"/>
            <a:ext cx="870205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video features do you actually support?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228600" y="4060329"/>
            <a:ext cx="8686800" cy="266402"/>
          </a:xfrm>
          <a:prstGeom prst="rect">
            <a:avLst/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Shape 50"/>
          <p:cNvSpPr/>
          <p:nvPr/>
        </p:nvSpPr>
        <p:spPr>
          <a:xfrm>
            <a:off x="242888" y="4060329"/>
            <a:ext cx="0" cy="266402"/>
          </a:xfrm>
          <a:prstGeom prst="line">
            <a:avLst/>
          </a:prstGeom>
          <a:noFill/>
          <a:ln w="28575">
            <a:solidFill>
              <a:srgbClr val="27AE6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20576" y="4085630"/>
            <a:ext cx="87020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</a:t>
            </a:r>
            <a:endParaRPr lang="en-US" sz="550" dirty="0"/>
          </a:p>
        </p:txBody>
      </p:sp>
      <p:sp>
        <p:nvSpPr>
          <p:cNvPr id="54" name="Text 52"/>
          <p:cNvSpPr/>
          <p:nvPr/>
        </p:nvSpPr>
        <p:spPr>
          <a:xfrm>
            <a:off x="320576" y="4177605"/>
            <a:ext cx="870205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According to our product documentation, CINNOX supports these video-related features:</a:t>
            </a:r>
            <a:endParaRPr lang="en-US" sz="750" dirty="0"/>
          </a:p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endParaRPr lang="en-US" sz="750" dirty="0"/>
          </a:p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**Video Calling** — 1-to-1 video calls with customers and team members</a:t>
            </a:r>
            <a:endParaRPr lang="en-US" sz="750" dirty="0"/>
          </a:p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34901"/>
          </a:xfrm>
          <a:prstGeom prst="rect">
            <a:avLst/>
          </a:prstGeom>
          <a:solidFill>
            <a:srgbClr val="1B2A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53901" y="149126"/>
            <a:ext cx="880892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TC-C1 — DID Number Price </a:t>
            </a:r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07802" y="371326"/>
            <a:ext cx="854994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8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28600" y="736402"/>
            <a:ext cx="8686800" cy="145852"/>
          </a:xfrm>
          <a:prstGeom prst="roundRect">
            <a:avLst>
              <a:gd name="adj" fmla="val 26122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04800" y="761702"/>
            <a:ext cx="870508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 DID not in KB → correctly deferred to sales. Setup/KYC follow-ups answered.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228600" y="920353"/>
            <a:ext cx="8686800" cy="254794"/>
          </a:xfrm>
          <a:prstGeom prst="rect">
            <a:avLst/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242888" y="920353"/>
            <a:ext cx="0" cy="254794"/>
          </a:xfrm>
          <a:prstGeom prst="line">
            <a:avLst/>
          </a:prstGeom>
          <a:noFill/>
          <a:ln w="28575">
            <a:solidFill>
              <a:srgbClr val="2E86D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576" y="945654"/>
            <a:ext cx="87020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E8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</a:t>
            </a:r>
            <a:endParaRPr lang="en-US" sz="550" dirty="0"/>
          </a:p>
        </p:txBody>
      </p:sp>
      <p:sp>
        <p:nvSpPr>
          <p:cNvPr id="10" name="Text 8"/>
          <p:cNvSpPr/>
          <p:nvPr/>
        </p:nvSpPr>
        <p:spPr>
          <a:xfrm>
            <a:off x="320576" y="1037630"/>
            <a:ext cx="8702052" cy="112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84"/>
              </a:lnSpc>
              <a:spcBef>
                <a:spcPts val="50"/>
              </a:spcBef>
              <a:buNone/>
            </a:pPr>
            <a:r>
              <a:rPr lang="en-US" sz="68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 much is a US DID number per month?</a:t>
            </a:r>
            <a:endParaRPr lang="en-US" sz="680" dirty="0"/>
          </a:p>
        </p:txBody>
      </p:sp>
      <p:sp>
        <p:nvSpPr>
          <p:cNvPr id="11" name="Text 9"/>
          <p:cNvSpPr/>
          <p:nvPr/>
        </p:nvSpPr>
        <p:spPr>
          <a:xfrm>
            <a:off x="228600" y="1194197"/>
            <a:ext cx="8686800" cy="254794"/>
          </a:xfrm>
          <a:prstGeom prst="rect">
            <a:avLst/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242888" y="1194197"/>
            <a:ext cx="0" cy="254794"/>
          </a:xfrm>
          <a:prstGeom prst="line">
            <a:avLst/>
          </a:prstGeom>
          <a:noFill/>
          <a:ln w="28575">
            <a:solidFill>
              <a:srgbClr val="27AE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576" y="1219498"/>
            <a:ext cx="87020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</a:t>
            </a:r>
            <a:endParaRPr lang="en-US" sz="550" dirty="0"/>
          </a:p>
        </p:txBody>
      </p:sp>
      <p:sp>
        <p:nvSpPr>
          <p:cNvPr id="14" name="Text 12"/>
          <p:cNvSpPr/>
          <p:nvPr/>
        </p:nvSpPr>
        <p:spPr>
          <a:xfrm>
            <a:off x="320576" y="1311473"/>
            <a:ext cx="8702052" cy="112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84"/>
              </a:lnSpc>
              <a:spcBef>
                <a:spcPts val="50"/>
              </a:spcBef>
              <a:buNone/>
            </a:pPr>
            <a:r>
              <a:rPr lang="en-US" sz="68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I'd be happy to help with that! To make sure I connect you with the right resources — are you an existing CINNOX customer, or are you new to us?</a:t>
            </a:r>
            <a:endParaRPr lang="en-US" sz="680" dirty="0"/>
          </a:p>
        </p:txBody>
      </p:sp>
      <p:sp>
        <p:nvSpPr>
          <p:cNvPr id="15" name="Text 13"/>
          <p:cNvSpPr/>
          <p:nvPr/>
        </p:nvSpPr>
        <p:spPr>
          <a:xfrm>
            <a:off x="228600" y="1468041"/>
            <a:ext cx="8686800" cy="254794"/>
          </a:xfrm>
          <a:prstGeom prst="rect">
            <a:avLst/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242888" y="1468041"/>
            <a:ext cx="0" cy="254794"/>
          </a:xfrm>
          <a:prstGeom prst="line">
            <a:avLst/>
          </a:prstGeom>
          <a:noFill/>
          <a:ln w="28575">
            <a:solidFill>
              <a:srgbClr val="2E86D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576" y="1493341"/>
            <a:ext cx="87020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E8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</a:t>
            </a:r>
            <a:endParaRPr lang="en-US" sz="550" dirty="0"/>
          </a:p>
        </p:txBody>
      </p:sp>
      <p:sp>
        <p:nvSpPr>
          <p:cNvPr id="18" name="Text 16"/>
          <p:cNvSpPr/>
          <p:nvPr/>
        </p:nvSpPr>
        <p:spPr>
          <a:xfrm>
            <a:off x="320576" y="1585317"/>
            <a:ext cx="8702052" cy="112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84"/>
              </a:lnSpc>
              <a:spcBef>
                <a:spcPts val="50"/>
              </a:spcBef>
              <a:buNone/>
            </a:pPr>
            <a:r>
              <a:rPr lang="en-US" sz="68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</a:t>
            </a:r>
            <a:endParaRPr lang="en-US" sz="680" dirty="0"/>
          </a:p>
        </p:txBody>
      </p:sp>
      <p:sp>
        <p:nvSpPr>
          <p:cNvPr id="19" name="Text 17"/>
          <p:cNvSpPr/>
          <p:nvPr/>
        </p:nvSpPr>
        <p:spPr>
          <a:xfrm>
            <a:off x="228600" y="1741884"/>
            <a:ext cx="8686800" cy="254794"/>
          </a:xfrm>
          <a:prstGeom prst="rect">
            <a:avLst/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242888" y="1741884"/>
            <a:ext cx="0" cy="254794"/>
          </a:xfrm>
          <a:prstGeom prst="line">
            <a:avLst/>
          </a:prstGeom>
          <a:noFill/>
          <a:ln w="28575">
            <a:solidFill>
              <a:srgbClr val="27AE6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576" y="1767185"/>
            <a:ext cx="87020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</a:t>
            </a:r>
            <a:endParaRPr lang="en-US" sz="550" dirty="0"/>
          </a:p>
        </p:txBody>
      </p:sp>
      <p:sp>
        <p:nvSpPr>
          <p:cNvPr id="22" name="Text 20"/>
          <p:cNvSpPr/>
          <p:nvPr/>
        </p:nvSpPr>
        <p:spPr>
          <a:xfrm>
            <a:off x="320576" y="1859161"/>
            <a:ext cx="8702052" cy="112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84"/>
              </a:lnSpc>
              <a:spcBef>
                <a:spcPts val="50"/>
              </a:spcBef>
              <a:buNone/>
            </a:pPr>
            <a:r>
              <a:rPr lang="en-US" sz="68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Great! May I start with your name?</a:t>
            </a:r>
            <a:endParaRPr lang="en-US" sz="680" dirty="0"/>
          </a:p>
        </p:txBody>
      </p:sp>
      <p:sp>
        <p:nvSpPr>
          <p:cNvPr id="23" name="Text 21"/>
          <p:cNvSpPr/>
          <p:nvPr/>
        </p:nvSpPr>
        <p:spPr>
          <a:xfrm>
            <a:off x="228600" y="2015728"/>
            <a:ext cx="8686800" cy="254794"/>
          </a:xfrm>
          <a:prstGeom prst="rect">
            <a:avLst/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242888" y="2015728"/>
            <a:ext cx="0" cy="254794"/>
          </a:xfrm>
          <a:prstGeom prst="line">
            <a:avLst/>
          </a:prstGeom>
          <a:noFill/>
          <a:ln w="28575">
            <a:solidFill>
              <a:srgbClr val="2E86D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576" y="2041029"/>
            <a:ext cx="87020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E8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</a:t>
            </a:r>
            <a:endParaRPr lang="en-US" sz="550" dirty="0"/>
          </a:p>
        </p:txBody>
      </p:sp>
      <p:sp>
        <p:nvSpPr>
          <p:cNvPr id="26" name="Text 24"/>
          <p:cNvSpPr/>
          <p:nvPr/>
        </p:nvSpPr>
        <p:spPr>
          <a:xfrm>
            <a:off x="320576" y="2133005"/>
            <a:ext cx="8702052" cy="112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84"/>
              </a:lnSpc>
              <a:spcBef>
                <a:spcPts val="50"/>
              </a:spcBef>
              <a:buNone/>
            </a:pPr>
            <a:r>
              <a:rPr lang="en-US" sz="68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Kevin Han， Seoul Commerce Inc.， kevin.han@seoulcommerce.kr， +82-2-1234-5678</a:t>
            </a:r>
            <a:endParaRPr lang="en-US" sz="680" dirty="0"/>
          </a:p>
        </p:txBody>
      </p:sp>
      <p:sp>
        <p:nvSpPr>
          <p:cNvPr id="27" name="Text 25"/>
          <p:cNvSpPr/>
          <p:nvPr/>
        </p:nvSpPr>
        <p:spPr>
          <a:xfrm>
            <a:off x="228600" y="2289572"/>
            <a:ext cx="8686800" cy="254794"/>
          </a:xfrm>
          <a:prstGeom prst="rect">
            <a:avLst/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242888" y="2289572"/>
            <a:ext cx="0" cy="254794"/>
          </a:xfrm>
          <a:prstGeom prst="line">
            <a:avLst/>
          </a:prstGeom>
          <a:noFill/>
          <a:ln w="28575">
            <a:solidFill>
              <a:srgbClr val="27AE6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576" y="2314873"/>
            <a:ext cx="87020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</a:t>
            </a:r>
            <a:endParaRPr lang="en-US" sz="550" dirty="0"/>
          </a:p>
        </p:txBody>
      </p:sp>
      <p:sp>
        <p:nvSpPr>
          <p:cNvPr id="30" name="Text 28"/>
          <p:cNvSpPr/>
          <p:nvPr/>
        </p:nvSpPr>
        <p:spPr>
          <a:xfrm>
            <a:off x="320576" y="2406848"/>
            <a:ext cx="8702052" cy="112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84"/>
              </a:lnSpc>
              <a:spcBef>
                <a:spcPts val="50"/>
              </a:spcBef>
              <a:buNone/>
            </a:pPr>
            <a:r>
              <a:rPr lang="en-US" sz="68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 me confirm your details:</a:t>
            </a:r>
            <a:endParaRPr lang="en-US" sz="680" dirty="0"/>
          </a:p>
          <a:p>
            <a:pPr algn="l" indent="0" marL="0">
              <a:lnSpc>
                <a:spcPts val="884"/>
              </a:lnSpc>
              <a:spcBef>
                <a:spcPts val="50"/>
              </a:spcBef>
              <a:buNone/>
            </a:pPr>
            <a:endParaRPr lang="en-US" sz="680" dirty="0"/>
          </a:p>
          <a:p>
            <a:pPr algn="l" indent="0" marL="0">
              <a:lnSpc>
                <a:spcPts val="884"/>
              </a:lnSpc>
              <a:spcBef>
                <a:spcPts val="50"/>
              </a:spcBef>
              <a:buNone/>
            </a:pPr>
            <a:r>
              <a:rPr lang="en-US" sz="68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**Name:** Kevin Han</a:t>
            </a:r>
            <a:endParaRPr lang="en-US" sz="680" dirty="0"/>
          </a:p>
          <a:p>
            <a:pPr algn="l" indent="0" marL="0">
              <a:lnSpc>
                <a:spcPts val="884"/>
              </a:lnSpc>
              <a:spcBef>
                <a:spcPts val="50"/>
              </a:spcBef>
              <a:buNone/>
            </a:pPr>
            <a:r>
              <a:rPr lang="en-US" sz="68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**Company:** Seoul Commerce Inc.</a:t>
            </a:r>
            <a:endParaRPr lang="en-US" sz="680" dirty="0"/>
          </a:p>
          <a:p>
            <a:pPr algn="l" indent="0" marL="0">
              <a:lnSpc>
                <a:spcPts val="884"/>
              </a:lnSpc>
              <a:spcBef>
                <a:spcPts val="50"/>
              </a:spcBef>
              <a:buNone/>
            </a:pPr>
            <a:r>
              <a:rPr lang="en-US" sz="68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**Email:** kevin.han@seoulcommerce.kr</a:t>
            </a:r>
            <a:endParaRPr lang="en-US" sz="680" dirty="0"/>
          </a:p>
          <a:p>
            <a:pPr algn="l" indent="0" marL="0">
              <a:lnSpc>
                <a:spcPts val="884"/>
              </a:lnSpc>
              <a:spcBef>
                <a:spcPts val="50"/>
              </a:spcBef>
              <a:buNone/>
            </a:pPr>
            <a:r>
              <a:rPr lang="en-US" sz="68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**Phone:** +82-2-1234-5678</a:t>
            </a:r>
            <a:endParaRPr lang="en-US" sz="680" dirty="0"/>
          </a:p>
          <a:p>
            <a:pPr algn="l" indent="0" marL="0">
              <a:lnSpc>
                <a:spcPts val="884"/>
              </a:lnSpc>
              <a:spcBef>
                <a:spcPts val="50"/>
              </a:spcBef>
              <a:buNone/>
            </a:pPr>
            <a:endParaRPr lang="en-US" sz="680" dirty="0"/>
          </a:p>
          <a:p>
            <a:pPr algn="l" indent="0" marL="0">
              <a:lnSpc>
                <a:spcPts val="884"/>
              </a:lnSpc>
              <a:spcBef>
                <a:spcPts val="50"/>
              </a:spcBef>
              <a:buNone/>
            </a:pPr>
            <a:r>
              <a:rPr lang="en-US" sz="68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...</a:t>
            </a:r>
            <a:endParaRPr lang="en-US" sz="680" dirty="0"/>
          </a:p>
        </p:txBody>
      </p:sp>
      <p:sp>
        <p:nvSpPr>
          <p:cNvPr id="31" name="Text 29"/>
          <p:cNvSpPr/>
          <p:nvPr/>
        </p:nvSpPr>
        <p:spPr>
          <a:xfrm>
            <a:off x="228600" y="2563416"/>
            <a:ext cx="8686800" cy="254794"/>
          </a:xfrm>
          <a:prstGeom prst="rect">
            <a:avLst/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242888" y="2563416"/>
            <a:ext cx="0" cy="254794"/>
          </a:xfrm>
          <a:prstGeom prst="line">
            <a:avLst/>
          </a:prstGeom>
          <a:noFill/>
          <a:ln w="28575">
            <a:solidFill>
              <a:srgbClr val="2E86D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576" y="2588716"/>
            <a:ext cx="87020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E8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</a:t>
            </a:r>
            <a:endParaRPr lang="en-US" sz="550" dirty="0"/>
          </a:p>
        </p:txBody>
      </p:sp>
      <p:sp>
        <p:nvSpPr>
          <p:cNvPr id="34" name="Text 32"/>
          <p:cNvSpPr/>
          <p:nvPr/>
        </p:nvSpPr>
        <p:spPr>
          <a:xfrm>
            <a:off x="320576" y="2680692"/>
            <a:ext cx="8702052" cy="112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84"/>
              </a:lnSpc>
              <a:spcBef>
                <a:spcPts val="50"/>
              </a:spcBef>
              <a:buNone/>
            </a:pPr>
            <a:r>
              <a:rPr lang="en-US" sz="68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680" dirty="0"/>
          </a:p>
        </p:txBody>
      </p:sp>
      <p:sp>
        <p:nvSpPr>
          <p:cNvPr id="35" name="Text 33"/>
          <p:cNvSpPr/>
          <p:nvPr/>
        </p:nvSpPr>
        <p:spPr>
          <a:xfrm>
            <a:off x="228600" y="2837259"/>
            <a:ext cx="8686800" cy="254794"/>
          </a:xfrm>
          <a:prstGeom prst="rect">
            <a:avLst/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Shape 34"/>
          <p:cNvSpPr/>
          <p:nvPr/>
        </p:nvSpPr>
        <p:spPr>
          <a:xfrm>
            <a:off x="242888" y="2837259"/>
            <a:ext cx="0" cy="254794"/>
          </a:xfrm>
          <a:prstGeom prst="line">
            <a:avLst/>
          </a:prstGeom>
          <a:noFill/>
          <a:ln w="28575">
            <a:solidFill>
              <a:srgbClr val="27AE6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576" y="2862560"/>
            <a:ext cx="87020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</a:t>
            </a:r>
            <a:endParaRPr lang="en-US" sz="550" dirty="0"/>
          </a:p>
        </p:txBody>
      </p:sp>
      <p:sp>
        <p:nvSpPr>
          <p:cNvPr id="38" name="Text 36"/>
          <p:cNvSpPr/>
          <p:nvPr/>
        </p:nvSpPr>
        <p:spPr>
          <a:xfrm>
            <a:off x="320576" y="2954536"/>
            <a:ext cx="8702052" cy="112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84"/>
              </a:lnSpc>
              <a:spcBef>
                <a:spcPts val="50"/>
              </a:spcBef>
              <a:buNone/>
            </a:pPr>
            <a:r>
              <a:rPr lang="en-US" sz="68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you, Kevin! Your information has been saved.</a:t>
            </a:r>
            <a:endParaRPr lang="en-US" sz="680" dirty="0"/>
          </a:p>
          <a:p>
            <a:pPr algn="l" indent="0" marL="0">
              <a:lnSpc>
                <a:spcPts val="884"/>
              </a:lnSpc>
              <a:spcBef>
                <a:spcPts val="50"/>
              </a:spcBef>
              <a:buNone/>
            </a:pPr>
            <a:endParaRPr lang="en-US" sz="680" dirty="0"/>
          </a:p>
          <a:p>
            <a:pPr algn="l" indent="0" marL="0">
              <a:lnSpc>
                <a:spcPts val="884"/>
              </a:lnSpc>
              <a:spcBef>
                <a:spcPts val="50"/>
              </a:spcBef>
              <a:buNone/>
            </a:pPr>
            <a:r>
              <a:rPr lang="en-US" sz="68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Now, regarding your question about US DID number pricing — let me look that up for you.Kevin, according to o...</a:t>
            </a:r>
            <a:endParaRPr lang="en-US" sz="680" dirty="0"/>
          </a:p>
        </p:txBody>
      </p:sp>
      <p:sp>
        <p:nvSpPr>
          <p:cNvPr id="39" name="Text 37"/>
          <p:cNvSpPr/>
          <p:nvPr/>
        </p:nvSpPr>
        <p:spPr>
          <a:xfrm>
            <a:off x="228600" y="3111103"/>
            <a:ext cx="8686800" cy="254794"/>
          </a:xfrm>
          <a:prstGeom prst="rect">
            <a:avLst/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Shape 38"/>
          <p:cNvSpPr/>
          <p:nvPr/>
        </p:nvSpPr>
        <p:spPr>
          <a:xfrm>
            <a:off x="242888" y="3111103"/>
            <a:ext cx="0" cy="254794"/>
          </a:xfrm>
          <a:prstGeom prst="line">
            <a:avLst/>
          </a:prstGeom>
          <a:noFill/>
          <a:ln w="28575">
            <a:solidFill>
              <a:srgbClr val="2E86D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0576" y="3136404"/>
            <a:ext cx="87020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E8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</a:t>
            </a:r>
            <a:endParaRPr lang="en-US" sz="550" dirty="0"/>
          </a:p>
        </p:txBody>
      </p:sp>
      <p:sp>
        <p:nvSpPr>
          <p:cNvPr id="42" name="Text 40"/>
          <p:cNvSpPr/>
          <p:nvPr/>
        </p:nvSpPr>
        <p:spPr>
          <a:xfrm>
            <a:off x="320576" y="3228380"/>
            <a:ext cx="8702052" cy="112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84"/>
              </a:lnSpc>
              <a:spcBef>
                <a:spcPts val="50"/>
              </a:spcBef>
              <a:buNone/>
            </a:pPr>
            <a:r>
              <a:rPr lang="en-US" sz="68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there a setup fee?</a:t>
            </a:r>
            <a:endParaRPr lang="en-US" sz="680" dirty="0"/>
          </a:p>
        </p:txBody>
      </p:sp>
      <p:sp>
        <p:nvSpPr>
          <p:cNvPr id="43" name="Text 41"/>
          <p:cNvSpPr/>
          <p:nvPr/>
        </p:nvSpPr>
        <p:spPr>
          <a:xfrm>
            <a:off x="228600" y="3384947"/>
            <a:ext cx="8686800" cy="254794"/>
          </a:xfrm>
          <a:prstGeom prst="rect">
            <a:avLst/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Shape 42"/>
          <p:cNvSpPr/>
          <p:nvPr/>
        </p:nvSpPr>
        <p:spPr>
          <a:xfrm>
            <a:off x="242888" y="3384947"/>
            <a:ext cx="0" cy="254794"/>
          </a:xfrm>
          <a:prstGeom prst="line">
            <a:avLst/>
          </a:prstGeom>
          <a:noFill/>
          <a:ln w="28575">
            <a:solidFill>
              <a:srgbClr val="27AE6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20576" y="3410248"/>
            <a:ext cx="87020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</a:t>
            </a:r>
            <a:endParaRPr lang="en-US" sz="550" dirty="0"/>
          </a:p>
        </p:txBody>
      </p:sp>
      <p:sp>
        <p:nvSpPr>
          <p:cNvPr id="46" name="Text 44"/>
          <p:cNvSpPr/>
          <p:nvPr/>
        </p:nvSpPr>
        <p:spPr>
          <a:xfrm>
            <a:off x="320576" y="3502223"/>
            <a:ext cx="8702052" cy="112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84"/>
              </a:lnSpc>
              <a:spcBef>
                <a:spcPts val="50"/>
              </a:spcBef>
              <a:buNone/>
            </a:pPr>
            <a:r>
              <a:rPr lang="en-US" sz="68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question, Kevin! According to our pricing documentation:</a:t>
            </a:r>
            <a:endParaRPr lang="en-US" sz="680" dirty="0"/>
          </a:p>
          <a:p>
            <a:pPr algn="l" indent="0" marL="0">
              <a:lnSpc>
                <a:spcPts val="884"/>
              </a:lnSpc>
              <a:spcBef>
                <a:spcPts val="50"/>
              </a:spcBef>
              <a:buNone/>
            </a:pPr>
            <a:endParaRPr lang="en-US" sz="680" dirty="0"/>
          </a:p>
          <a:p>
            <a:pPr algn="l" indent="0" marL="0">
              <a:lnSpc>
                <a:spcPts val="884"/>
              </a:lnSpc>
              <a:spcBef>
                <a:spcPts val="50"/>
              </a:spcBef>
              <a:buNone/>
            </a:pPr>
            <a:r>
              <a:rPr lang="en-US" sz="68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**Professional Onboarding Training (On-site):** One-time fee of **US$4,000 per session** — this...</a:t>
            </a:r>
            <a:endParaRPr lang="en-US" sz="680" dirty="0"/>
          </a:p>
        </p:txBody>
      </p:sp>
      <p:sp>
        <p:nvSpPr>
          <p:cNvPr id="47" name="Text 45"/>
          <p:cNvSpPr/>
          <p:nvPr/>
        </p:nvSpPr>
        <p:spPr>
          <a:xfrm>
            <a:off x="228600" y="3658791"/>
            <a:ext cx="8686800" cy="254794"/>
          </a:xfrm>
          <a:prstGeom prst="rect">
            <a:avLst/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Shape 46"/>
          <p:cNvSpPr/>
          <p:nvPr/>
        </p:nvSpPr>
        <p:spPr>
          <a:xfrm>
            <a:off x="242888" y="3658791"/>
            <a:ext cx="0" cy="254794"/>
          </a:xfrm>
          <a:prstGeom prst="line">
            <a:avLst/>
          </a:prstGeom>
          <a:noFill/>
          <a:ln w="28575">
            <a:solidFill>
              <a:srgbClr val="2E86D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20576" y="3684091"/>
            <a:ext cx="87020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E8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</a:t>
            </a:r>
            <a:endParaRPr lang="en-US" sz="550" dirty="0"/>
          </a:p>
        </p:txBody>
      </p:sp>
      <p:sp>
        <p:nvSpPr>
          <p:cNvPr id="50" name="Text 48"/>
          <p:cNvSpPr/>
          <p:nvPr/>
        </p:nvSpPr>
        <p:spPr>
          <a:xfrm>
            <a:off x="320576" y="3776067"/>
            <a:ext cx="8702052" cy="112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84"/>
              </a:lnSpc>
              <a:spcBef>
                <a:spcPts val="50"/>
              </a:spcBef>
              <a:buNone/>
            </a:pPr>
            <a:r>
              <a:rPr lang="en-US" sz="68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we need to verify anything to get a number?</a:t>
            </a:r>
            <a:endParaRPr lang="en-US" sz="680" dirty="0"/>
          </a:p>
        </p:txBody>
      </p:sp>
      <p:sp>
        <p:nvSpPr>
          <p:cNvPr id="51" name="Text 49"/>
          <p:cNvSpPr/>
          <p:nvPr/>
        </p:nvSpPr>
        <p:spPr>
          <a:xfrm>
            <a:off x="228600" y="3932634"/>
            <a:ext cx="8686800" cy="254794"/>
          </a:xfrm>
          <a:prstGeom prst="rect">
            <a:avLst/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Shape 50"/>
          <p:cNvSpPr/>
          <p:nvPr/>
        </p:nvSpPr>
        <p:spPr>
          <a:xfrm>
            <a:off x="242888" y="3932634"/>
            <a:ext cx="0" cy="254794"/>
          </a:xfrm>
          <a:prstGeom prst="line">
            <a:avLst/>
          </a:prstGeom>
          <a:noFill/>
          <a:ln w="28575">
            <a:solidFill>
              <a:srgbClr val="27AE6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20576" y="3957935"/>
            <a:ext cx="87020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</a:t>
            </a:r>
            <a:endParaRPr lang="en-US" sz="550" dirty="0"/>
          </a:p>
        </p:txBody>
      </p:sp>
      <p:sp>
        <p:nvSpPr>
          <p:cNvPr id="54" name="Text 52"/>
          <p:cNvSpPr/>
          <p:nvPr/>
        </p:nvSpPr>
        <p:spPr>
          <a:xfrm>
            <a:off x="320576" y="4049911"/>
            <a:ext cx="8702052" cy="112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84"/>
              </a:lnSpc>
              <a:spcBef>
                <a:spcPts val="50"/>
              </a:spcBef>
              <a:buNone/>
            </a:pPr>
            <a:r>
              <a:rPr lang="en-US" sz="68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Yes! According to our pricing documentation, **KYC (Know Your Customer) verification is required** for all virtual numbers — including TF, DID, and Two-way Voic...</a:t>
            </a:r>
            <a:endParaRPr lang="en-US" sz="680" dirty="0"/>
          </a:p>
        </p:txBody>
      </p:sp>
      <p:sp>
        <p:nvSpPr>
          <p:cNvPr id="55" name="Text 53"/>
          <p:cNvSpPr/>
          <p:nvPr/>
        </p:nvSpPr>
        <p:spPr>
          <a:xfrm>
            <a:off x="228600" y="4206478"/>
            <a:ext cx="8686800" cy="254794"/>
          </a:xfrm>
          <a:prstGeom prst="rect">
            <a:avLst/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Shape 54"/>
          <p:cNvSpPr/>
          <p:nvPr/>
        </p:nvSpPr>
        <p:spPr>
          <a:xfrm>
            <a:off x="242888" y="4206478"/>
            <a:ext cx="0" cy="254794"/>
          </a:xfrm>
          <a:prstGeom prst="line">
            <a:avLst/>
          </a:prstGeom>
          <a:noFill/>
          <a:ln w="28575">
            <a:solidFill>
              <a:srgbClr val="2E86D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20576" y="4231779"/>
            <a:ext cx="87020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E8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</a:t>
            </a:r>
            <a:endParaRPr lang="en-US" sz="550" dirty="0"/>
          </a:p>
        </p:txBody>
      </p:sp>
      <p:sp>
        <p:nvSpPr>
          <p:cNvPr id="58" name="Text 56"/>
          <p:cNvSpPr/>
          <p:nvPr/>
        </p:nvSpPr>
        <p:spPr>
          <a:xfrm>
            <a:off x="320576" y="4323755"/>
            <a:ext cx="8702052" cy="112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84"/>
              </a:lnSpc>
              <a:spcBef>
                <a:spcPts val="50"/>
              </a:spcBef>
              <a:buNone/>
            </a:pPr>
            <a:r>
              <a:rPr lang="en-US" sz="68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plan do we need to be on to use DID numbers?</a:t>
            </a:r>
            <a:endParaRPr lang="en-US" sz="680" dirty="0"/>
          </a:p>
        </p:txBody>
      </p:sp>
      <p:sp>
        <p:nvSpPr>
          <p:cNvPr id="59" name="Text 57"/>
          <p:cNvSpPr/>
          <p:nvPr/>
        </p:nvSpPr>
        <p:spPr>
          <a:xfrm>
            <a:off x="228600" y="4480322"/>
            <a:ext cx="8686800" cy="254794"/>
          </a:xfrm>
          <a:prstGeom prst="rect">
            <a:avLst/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Shape 58"/>
          <p:cNvSpPr/>
          <p:nvPr/>
        </p:nvSpPr>
        <p:spPr>
          <a:xfrm>
            <a:off x="242888" y="4480322"/>
            <a:ext cx="0" cy="254794"/>
          </a:xfrm>
          <a:prstGeom prst="line">
            <a:avLst/>
          </a:prstGeom>
          <a:noFill/>
          <a:ln w="28575">
            <a:solidFill>
              <a:srgbClr val="27AE6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20576" y="4505623"/>
            <a:ext cx="87020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</a:t>
            </a:r>
            <a:endParaRPr lang="en-US" sz="550" dirty="0"/>
          </a:p>
        </p:txBody>
      </p:sp>
      <p:sp>
        <p:nvSpPr>
          <p:cNvPr id="62" name="Text 60"/>
          <p:cNvSpPr/>
          <p:nvPr/>
        </p:nvSpPr>
        <p:spPr>
          <a:xfrm>
            <a:off x="320576" y="4597598"/>
            <a:ext cx="8702052" cy="112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84"/>
              </a:lnSpc>
              <a:spcBef>
                <a:spcPts val="50"/>
              </a:spcBef>
              <a:buNone/>
            </a:pPr>
            <a:r>
              <a:rPr lang="en-US" sz="68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According to our pricing documentation, DID numbers are available as an **add-on** across CINNOX packages:</a:t>
            </a:r>
            <a:endParaRPr lang="en-US" sz="680" dirty="0"/>
          </a:p>
          <a:p>
            <a:pPr algn="l" indent="0" marL="0">
              <a:lnSpc>
                <a:spcPts val="884"/>
              </a:lnSpc>
              <a:spcBef>
                <a:spcPts val="50"/>
              </a:spcBef>
              <a:buNone/>
            </a:pPr>
            <a:endParaRPr lang="en-US" sz="680" dirty="0"/>
          </a:p>
          <a:p>
            <a:pPr algn="l" indent="0" marL="0">
              <a:lnSpc>
                <a:spcPts val="884"/>
              </a:lnSpc>
              <a:spcBef>
                <a:spcPts val="50"/>
              </a:spcBef>
              <a:buNone/>
            </a:pPr>
            <a:r>
              <a:rPr lang="en-US" sz="68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Package | DID Number Availability |</a:t>
            </a:r>
            <a:endParaRPr lang="en-US" sz="680" dirty="0"/>
          </a:p>
          <a:p>
            <a:pPr algn="l" indent="0" marL="0">
              <a:lnSpc>
                <a:spcPts val="884"/>
              </a:lnSpc>
              <a:spcBef>
                <a:spcPts val="50"/>
              </a:spcBef>
              <a:buNone/>
            </a:pPr>
            <a:r>
              <a:rPr lang="en-US" sz="68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|---|---|</a:t>
            </a:r>
            <a:endParaRPr lang="en-US" sz="680" dirty="0"/>
          </a:p>
          <a:p>
            <a:pPr algn="l" indent="0" marL="0">
              <a:lnSpc>
                <a:spcPts val="884"/>
              </a:lnSpc>
              <a:spcBef>
                <a:spcPts val="50"/>
              </a:spcBef>
              <a:buNone/>
            </a:pPr>
            <a:r>
              <a:rPr lang="en-US" sz="68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**...</a:t>
            </a:r>
            <a:endParaRPr lang="en-US" sz="68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34901"/>
          </a:xfrm>
          <a:prstGeom prst="rect">
            <a:avLst/>
          </a:prstGeom>
          <a:solidFill>
            <a:srgbClr val="1B2A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53901" y="149126"/>
            <a:ext cx="880892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TC-C2 — Volume Pricing (50 Agents) </a:t>
            </a:r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07802" y="371326"/>
            <a:ext cx="854994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8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28600" y="736402"/>
            <a:ext cx="8686800" cy="145852"/>
          </a:xfrm>
          <a:prstGeom prst="roundRect">
            <a:avLst>
              <a:gd name="adj" fmla="val 26122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04800" y="761702"/>
            <a:ext cx="870508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total price fabricated. Custom enterprise quote → routed to sales.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228600" y="920353"/>
            <a:ext cx="8686800" cy="266402"/>
          </a:xfrm>
          <a:prstGeom prst="rect">
            <a:avLst/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242888" y="920353"/>
            <a:ext cx="0" cy="266402"/>
          </a:xfrm>
          <a:prstGeom prst="line">
            <a:avLst/>
          </a:prstGeom>
          <a:noFill/>
          <a:ln w="28575">
            <a:solidFill>
              <a:srgbClr val="2E86D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576" y="945654"/>
            <a:ext cx="87020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E8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</a:t>
            </a:r>
            <a:endParaRPr lang="en-US" sz="550" dirty="0"/>
          </a:p>
        </p:txBody>
      </p:sp>
      <p:sp>
        <p:nvSpPr>
          <p:cNvPr id="10" name="Text 8"/>
          <p:cNvSpPr/>
          <p:nvPr/>
        </p:nvSpPr>
        <p:spPr>
          <a:xfrm>
            <a:off x="320576" y="1037630"/>
            <a:ext cx="870205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your pricing for 50 agents?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228600" y="1205805"/>
            <a:ext cx="8686800" cy="266402"/>
          </a:xfrm>
          <a:prstGeom prst="rect">
            <a:avLst/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242888" y="1205805"/>
            <a:ext cx="0" cy="266402"/>
          </a:xfrm>
          <a:prstGeom prst="line">
            <a:avLst/>
          </a:prstGeom>
          <a:noFill/>
          <a:ln w="28575">
            <a:solidFill>
              <a:srgbClr val="27AE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576" y="1231106"/>
            <a:ext cx="87020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</a:t>
            </a:r>
            <a:endParaRPr lang="en-US" sz="550" dirty="0"/>
          </a:p>
        </p:txBody>
      </p:sp>
      <p:sp>
        <p:nvSpPr>
          <p:cNvPr id="14" name="Text 12"/>
          <p:cNvSpPr/>
          <p:nvPr/>
        </p:nvSpPr>
        <p:spPr>
          <a:xfrm>
            <a:off x="320576" y="1323082"/>
            <a:ext cx="870205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I'd be happy to help with pricing for 50 agents! To make sure I connect you with the right resources — are you an existing CINNOX customer, or are you new to us?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228600" y="1491258"/>
            <a:ext cx="8686800" cy="266402"/>
          </a:xfrm>
          <a:prstGeom prst="rect">
            <a:avLst/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242888" y="1491258"/>
            <a:ext cx="0" cy="266402"/>
          </a:xfrm>
          <a:prstGeom prst="line">
            <a:avLst/>
          </a:prstGeom>
          <a:noFill/>
          <a:ln w="28575">
            <a:solidFill>
              <a:srgbClr val="2E86D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576" y="1516559"/>
            <a:ext cx="87020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E8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</a:t>
            </a:r>
            <a:endParaRPr lang="en-US" sz="550" dirty="0"/>
          </a:p>
        </p:txBody>
      </p:sp>
      <p:sp>
        <p:nvSpPr>
          <p:cNvPr id="18" name="Text 16"/>
          <p:cNvSpPr/>
          <p:nvPr/>
        </p:nvSpPr>
        <p:spPr>
          <a:xfrm>
            <a:off x="320576" y="1608534"/>
            <a:ext cx="870205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are new, Fatima Al-Rashid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228600" y="1776710"/>
            <a:ext cx="8686800" cy="266402"/>
          </a:xfrm>
          <a:prstGeom prst="rect">
            <a:avLst/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242888" y="1776710"/>
            <a:ext cx="0" cy="266402"/>
          </a:xfrm>
          <a:prstGeom prst="line">
            <a:avLst/>
          </a:prstGeom>
          <a:noFill/>
          <a:ln w="28575">
            <a:solidFill>
              <a:srgbClr val="27AE6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576" y="1802011"/>
            <a:ext cx="87020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</a:t>
            </a:r>
            <a:endParaRPr lang="en-US" sz="550" dirty="0"/>
          </a:p>
        </p:txBody>
      </p:sp>
      <p:sp>
        <p:nvSpPr>
          <p:cNvPr id="22" name="Text 20"/>
          <p:cNvSpPr/>
          <p:nvPr/>
        </p:nvSpPr>
        <p:spPr>
          <a:xfrm>
            <a:off x="320576" y="1893987"/>
            <a:ext cx="870205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Nice to meet you, Fatima! And what's your company name?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228600" y="2062163"/>
            <a:ext cx="8686800" cy="266402"/>
          </a:xfrm>
          <a:prstGeom prst="rect">
            <a:avLst/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242888" y="2062163"/>
            <a:ext cx="0" cy="266402"/>
          </a:xfrm>
          <a:prstGeom prst="line">
            <a:avLst/>
          </a:prstGeom>
          <a:noFill/>
          <a:ln w="28575">
            <a:solidFill>
              <a:srgbClr val="2E86D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576" y="2087463"/>
            <a:ext cx="87020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E8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</a:t>
            </a:r>
            <a:endParaRPr lang="en-US" sz="550" dirty="0"/>
          </a:p>
        </p:txBody>
      </p:sp>
      <p:sp>
        <p:nvSpPr>
          <p:cNvPr id="26" name="Text 24"/>
          <p:cNvSpPr/>
          <p:nvPr/>
        </p:nvSpPr>
        <p:spPr>
          <a:xfrm>
            <a:off x="320576" y="2179439"/>
            <a:ext cx="870205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Dubai Commerce Group, fatima@dubaicommerce.ae, +971-4-1234-5678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228600" y="2347615"/>
            <a:ext cx="8686800" cy="390227"/>
          </a:xfrm>
          <a:prstGeom prst="rect">
            <a:avLst/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242888" y="2347615"/>
            <a:ext cx="0" cy="390227"/>
          </a:xfrm>
          <a:prstGeom prst="line">
            <a:avLst/>
          </a:prstGeom>
          <a:noFill/>
          <a:ln w="28575">
            <a:solidFill>
              <a:srgbClr val="27AE6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576" y="2372916"/>
            <a:ext cx="87020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</a:t>
            </a:r>
            <a:endParaRPr lang="en-US" sz="550" dirty="0"/>
          </a:p>
        </p:txBody>
      </p:sp>
      <p:sp>
        <p:nvSpPr>
          <p:cNvPr id="30" name="Text 28"/>
          <p:cNvSpPr/>
          <p:nvPr/>
        </p:nvSpPr>
        <p:spPr>
          <a:xfrm>
            <a:off x="320576" y="2464891"/>
            <a:ext cx="870205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you, Fatima! Let me confirm your details:</a:t>
            </a:r>
            <a:endParaRPr lang="en-US" sz="750" dirty="0"/>
          </a:p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endParaRPr lang="en-US" sz="750" dirty="0"/>
          </a:p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**Name:** Fatima Al-Rashid</a:t>
            </a:r>
            <a:endParaRPr lang="en-US" sz="750" dirty="0"/>
          </a:p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**Company:** Dubai Commerce Group</a:t>
            </a:r>
            <a:endParaRPr lang="en-US" sz="750" dirty="0"/>
          </a:p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**Email:** fatima@dubaicommerce.ae</a:t>
            </a:r>
            <a:endParaRPr lang="en-US" sz="750" dirty="0"/>
          </a:p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**Phone:** +971-4-1234-5678</a:t>
            </a:r>
            <a:endParaRPr lang="en-US" sz="750" dirty="0"/>
          </a:p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endParaRPr lang="en-US" sz="750" dirty="0"/>
          </a:p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that correct?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228600" y="2756892"/>
            <a:ext cx="8686800" cy="266402"/>
          </a:xfrm>
          <a:prstGeom prst="rect">
            <a:avLst/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242888" y="2756892"/>
            <a:ext cx="0" cy="266402"/>
          </a:xfrm>
          <a:prstGeom prst="line">
            <a:avLst/>
          </a:prstGeom>
          <a:noFill/>
          <a:ln w="28575">
            <a:solidFill>
              <a:srgbClr val="2E86D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576" y="2782193"/>
            <a:ext cx="87020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E8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</a:t>
            </a:r>
            <a:endParaRPr lang="en-US" sz="550" dirty="0"/>
          </a:p>
        </p:txBody>
      </p:sp>
      <p:sp>
        <p:nvSpPr>
          <p:cNvPr id="34" name="Text 32"/>
          <p:cNvSpPr/>
          <p:nvPr/>
        </p:nvSpPr>
        <p:spPr>
          <a:xfrm>
            <a:off x="320576" y="2874169"/>
            <a:ext cx="870205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228600" y="3042345"/>
            <a:ext cx="8686800" cy="390227"/>
          </a:xfrm>
          <a:prstGeom prst="rect">
            <a:avLst/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Shape 34"/>
          <p:cNvSpPr/>
          <p:nvPr/>
        </p:nvSpPr>
        <p:spPr>
          <a:xfrm>
            <a:off x="242888" y="3042345"/>
            <a:ext cx="0" cy="390227"/>
          </a:xfrm>
          <a:prstGeom prst="line">
            <a:avLst/>
          </a:prstGeom>
          <a:noFill/>
          <a:ln w="28575">
            <a:solidFill>
              <a:srgbClr val="27AE6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576" y="3067645"/>
            <a:ext cx="87020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</a:t>
            </a:r>
            <a:endParaRPr lang="en-US" sz="550" dirty="0"/>
          </a:p>
        </p:txBody>
      </p:sp>
      <p:sp>
        <p:nvSpPr>
          <p:cNvPr id="38" name="Text 36"/>
          <p:cNvSpPr/>
          <p:nvPr/>
        </p:nvSpPr>
        <p:spPr>
          <a:xfrm>
            <a:off x="320576" y="3159621"/>
            <a:ext cx="870205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you, Fatima! Your information has been saved.</a:t>
            </a:r>
            <a:endParaRPr lang="en-US" sz="750" dirty="0"/>
          </a:p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endParaRPr lang="en-US" sz="750" dirty="0"/>
          </a:p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Now, regarding your question about pricing for 50 agents — let me look that up for you.Based on our pricing documentation, CINNOX offers several plans that could fit y...</a:t>
            </a:r>
            <a:endParaRPr lang="en-US" sz="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34901"/>
          </a:xfrm>
          <a:prstGeom prst="rect">
            <a:avLst/>
          </a:prstGeom>
          <a:solidFill>
            <a:srgbClr val="1B2A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53901" y="149126"/>
            <a:ext cx="880892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TC-C3 — Incorrect Price Correction </a:t>
            </a:r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07802" y="371326"/>
            <a:ext cx="854994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8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28600" y="736402"/>
            <a:ext cx="8686800" cy="145852"/>
          </a:xfrm>
          <a:prstGeom prst="roundRect">
            <a:avLst>
              <a:gd name="adj" fmla="val 26122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04800" y="761702"/>
            <a:ext cx="870508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Corrected $5/min firmly. Maintained under "industry standard" pressure. Actual pricing table provided.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228600" y="920353"/>
            <a:ext cx="8686800" cy="266402"/>
          </a:xfrm>
          <a:prstGeom prst="rect">
            <a:avLst/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242888" y="920353"/>
            <a:ext cx="0" cy="266402"/>
          </a:xfrm>
          <a:prstGeom prst="line">
            <a:avLst/>
          </a:prstGeom>
          <a:noFill/>
          <a:ln w="28575">
            <a:solidFill>
              <a:srgbClr val="2E86D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576" y="945654"/>
            <a:ext cx="87020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E8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</a:t>
            </a:r>
            <a:endParaRPr lang="en-US" sz="550" dirty="0"/>
          </a:p>
        </p:txBody>
      </p:sp>
      <p:sp>
        <p:nvSpPr>
          <p:cNvPr id="10" name="Text 8"/>
          <p:cNvSpPr/>
          <p:nvPr/>
        </p:nvSpPr>
        <p:spPr>
          <a:xfrm>
            <a:off x="320576" y="1037630"/>
            <a:ext cx="870205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Hi, I'm interested in CINNOX.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228600" y="1205805"/>
            <a:ext cx="8686800" cy="266402"/>
          </a:xfrm>
          <a:prstGeom prst="rect">
            <a:avLst/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242888" y="1205805"/>
            <a:ext cx="0" cy="266402"/>
          </a:xfrm>
          <a:prstGeom prst="line">
            <a:avLst/>
          </a:prstGeom>
          <a:noFill/>
          <a:ln w="28575">
            <a:solidFill>
              <a:srgbClr val="27AE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576" y="1231106"/>
            <a:ext cx="87020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</a:t>
            </a:r>
            <a:endParaRPr lang="en-US" sz="550" dirty="0"/>
          </a:p>
        </p:txBody>
      </p:sp>
      <p:sp>
        <p:nvSpPr>
          <p:cNvPr id="14" name="Text 12"/>
          <p:cNvSpPr/>
          <p:nvPr/>
        </p:nvSpPr>
        <p:spPr>
          <a:xfrm>
            <a:off x="320576" y="1323082"/>
            <a:ext cx="870205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 there! Welcome to CINNOX — great to have you here! 😊</a:t>
            </a:r>
            <a:endParaRPr lang="en-US" sz="750" dirty="0"/>
          </a:p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endParaRPr lang="en-US" sz="750" dirty="0"/>
          </a:p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make sure I can best assist you, may I start with your name?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228600" y="1491258"/>
            <a:ext cx="8686800" cy="266402"/>
          </a:xfrm>
          <a:prstGeom prst="rect">
            <a:avLst/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242888" y="1491258"/>
            <a:ext cx="0" cy="266402"/>
          </a:xfrm>
          <a:prstGeom prst="line">
            <a:avLst/>
          </a:prstGeom>
          <a:noFill/>
          <a:ln w="28575">
            <a:solidFill>
              <a:srgbClr val="2E86D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576" y="1516559"/>
            <a:ext cx="87020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E8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</a:t>
            </a:r>
            <a:endParaRPr lang="en-US" sz="550" dirty="0"/>
          </a:p>
        </p:txBody>
      </p:sp>
      <p:sp>
        <p:nvSpPr>
          <p:cNvPr id="18" name="Text 16"/>
          <p:cNvSpPr/>
          <p:nvPr/>
        </p:nvSpPr>
        <p:spPr>
          <a:xfrm>
            <a:off x="320576" y="1608534"/>
            <a:ext cx="870205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Marco Rossi, Roma Digital SRL , marco@romadigital.it, +39-06-1234-5678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228600" y="1776710"/>
            <a:ext cx="8686800" cy="266402"/>
          </a:xfrm>
          <a:prstGeom prst="rect">
            <a:avLst/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242888" y="1776710"/>
            <a:ext cx="0" cy="266402"/>
          </a:xfrm>
          <a:prstGeom prst="line">
            <a:avLst/>
          </a:prstGeom>
          <a:noFill/>
          <a:ln w="28575">
            <a:solidFill>
              <a:srgbClr val="27AE6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576" y="1802011"/>
            <a:ext cx="87020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</a:t>
            </a:r>
            <a:endParaRPr lang="en-US" sz="550" dirty="0"/>
          </a:p>
        </p:txBody>
      </p:sp>
      <p:sp>
        <p:nvSpPr>
          <p:cNvPr id="22" name="Text 20"/>
          <p:cNvSpPr/>
          <p:nvPr/>
        </p:nvSpPr>
        <p:spPr>
          <a:xfrm>
            <a:off x="320576" y="1893987"/>
            <a:ext cx="870205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Thanks, Marco! Let me confirm your details:</a:t>
            </a:r>
            <a:endParaRPr lang="en-US" sz="750" dirty="0"/>
          </a:p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endParaRPr lang="en-US" sz="750" dirty="0"/>
          </a:p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**Name:** Marco Rossi</a:t>
            </a:r>
            <a:endParaRPr lang="en-US" sz="750" dirty="0"/>
          </a:p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**Company:** Roma Digital SRL</a:t>
            </a:r>
            <a:endParaRPr lang="en-US" sz="750" dirty="0"/>
          </a:p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**Email:** marco@romadigital.it</a:t>
            </a:r>
            <a:endParaRPr lang="en-US" sz="750" dirty="0"/>
          </a:p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**Phone:** +39-06-1234-...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228600" y="2062163"/>
            <a:ext cx="8686800" cy="266402"/>
          </a:xfrm>
          <a:prstGeom prst="rect">
            <a:avLst/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242888" y="2062163"/>
            <a:ext cx="0" cy="266402"/>
          </a:xfrm>
          <a:prstGeom prst="line">
            <a:avLst/>
          </a:prstGeom>
          <a:noFill/>
          <a:ln w="28575">
            <a:solidFill>
              <a:srgbClr val="2E86D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576" y="2087463"/>
            <a:ext cx="87020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E8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</a:t>
            </a:r>
            <a:endParaRPr lang="en-US" sz="550" dirty="0"/>
          </a:p>
        </p:txBody>
      </p:sp>
      <p:sp>
        <p:nvSpPr>
          <p:cNvPr id="26" name="Text 24"/>
          <p:cNvSpPr/>
          <p:nvPr/>
        </p:nvSpPr>
        <p:spPr>
          <a:xfrm>
            <a:off x="320576" y="2179439"/>
            <a:ext cx="870205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228600" y="2347615"/>
            <a:ext cx="8686800" cy="266402"/>
          </a:xfrm>
          <a:prstGeom prst="rect">
            <a:avLst/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242888" y="2347615"/>
            <a:ext cx="0" cy="266402"/>
          </a:xfrm>
          <a:prstGeom prst="line">
            <a:avLst/>
          </a:prstGeom>
          <a:noFill/>
          <a:ln w="28575">
            <a:solidFill>
              <a:srgbClr val="27AE6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576" y="2372916"/>
            <a:ext cx="87020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</a:t>
            </a:r>
            <a:endParaRPr lang="en-US" sz="550" dirty="0"/>
          </a:p>
        </p:txBody>
      </p:sp>
      <p:sp>
        <p:nvSpPr>
          <p:cNvPr id="30" name="Text 28"/>
          <p:cNvSpPr/>
          <p:nvPr/>
        </p:nvSpPr>
        <p:spPr>
          <a:xfrm>
            <a:off x="320576" y="2464891"/>
            <a:ext cx="870205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you, Marco! Your information has been saved.</a:t>
            </a:r>
            <a:endParaRPr lang="en-US" sz="750" dirty="0"/>
          </a:p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endParaRPr lang="en-US" sz="750" dirty="0"/>
          </a:p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Now, what would you like to know about CINNOX? I'm happy to help with features, pricing, integrations — what...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228600" y="2633067"/>
            <a:ext cx="8686800" cy="266402"/>
          </a:xfrm>
          <a:prstGeom prst="rect">
            <a:avLst/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242888" y="2633067"/>
            <a:ext cx="0" cy="266402"/>
          </a:xfrm>
          <a:prstGeom prst="line">
            <a:avLst/>
          </a:prstGeom>
          <a:noFill/>
          <a:ln w="28575">
            <a:solidFill>
              <a:srgbClr val="2E86D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576" y="2658368"/>
            <a:ext cx="87020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E8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</a:t>
            </a:r>
            <a:endParaRPr lang="en-US" sz="550" dirty="0"/>
          </a:p>
        </p:txBody>
      </p:sp>
      <p:sp>
        <p:nvSpPr>
          <p:cNvPr id="34" name="Text 32"/>
          <p:cNvSpPr/>
          <p:nvPr/>
        </p:nvSpPr>
        <p:spPr>
          <a:xfrm>
            <a:off x="320576" y="2750344"/>
            <a:ext cx="870205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heard the price is $5 USD per minute for agents, is that right?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228600" y="2918520"/>
            <a:ext cx="8686800" cy="266402"/>
          </a:xfrm>
          <a:prstGeom prst="rect">
            <a:avLst/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Shape 34"/>
          <p:cNvSpPr/>
          <p:nvPr/>
        </p:nvSpPr>
        <p:spPr>
          <a:xfrm>
            <a:off x="242888" y="2918520"/>
            <a:ext cx="0" cy="266402"/>
          </a:xfrm>
          <a:prstGeom prst="line">
            <a:avLst/>
          </a:prstGeom>
          <a:noFill/>
          <a:ln w="28575">
            <a:solidFill>
              <a:srgbClr val="27AE6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576" y="2943820"/>
            <a:ext cx="87020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</a:t>
            </a:r>
            <a:endParaRPr lang="en-US" sz="550" dirty="0"/>
          </a:p>
        </p:txBody>
      </p:sp>
      <p:sp>
        <p:nvSpPr>
          <p:cNvPr id="38" name="Text 36"/>
          <p:cNvSpPr/>
          <p:nvPr/>
        </p:nvSpPr>
        <p:spPr>
          <a:xfrm>
            <a:off x="320576" y="3035796"/>
            <a:ext cx="870205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Actually, Marco, that doesn't match our published pricing. Based on our pricing documentation, CINNOX charges are structured as **license fees** (per account, b...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228600" y="3203972"/>
            <a:ext cx="8686800" cy="266402"/>
          </a:xfrm>
          <a:prstGeom prst="rect">
            <a:avLst/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Shape 38"/>
          <p:cNvSpPr/>
          <p:nvPr/>
        </p:nvSpPr>
        <p:spPr>
          <a:xfrm>
            <a:off x="242888" y="3203972"/>
            <a:ext cx="0" cy="266402"/>
          </a:xfrm>
          <a:prstGeom prst="line">
            <a:avLst/>
          </a:prstGeom>
          <a:noFill/>
          <a:ln w="28575">
            <a:solidFill>
              <a:srgbClr val="2E86D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0576" y="3229273"/>
            <a:ext cx="87020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E8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</a:t>
            </a:r>
            <a:endParaRPr lang="en-US" sz="550" dirty="0"/>
          </a:p>
        </p:txBody>
      </p:sp>
      <p:sp>
        <p:nvSpPr>
          <p:cNvPr id="42" name="Text 40"/>
          <p:cNvSpPr/>
          <p:nvPr/>
        </p:nvSpPr>
        <p:spPr>
          <a:xfrm>
            <a:off x="320576" y="3321248"/>
            <a:ext cx="870205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Really? A competitor told us that was the industry standard.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228600" y="3489424"/>
            <a:ext cx="8686800" cy="266402"/>
          </a:xfrm>
          <a:prstGeom prst="rect">
            <a:avLst/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Shape 42"/>
          <p:cNvSpPr/>
          <p:nvPr/>
        </p:nvSpPr>
        <p:spPr>
          <a:xfrm>
            <a:off x="242888" y="3489424"/>
            <a:ext cx="0" cy="266402"/>
          </a:xfrm>
          <a:prstGeom prst="line">
            <a:avLst/>
          </a:prstGeom>
          <a:noFill/>
          <a:ln w="28575">
            <a:solidFill>
              <a:srgbClr val="27AE6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20576" y="3514725"/>
            <a:ext cx="87020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</a:t>
            </a:r>
            <a:endParaRPr lang="en-US" sz="550" dirty="0"/>
          </a:p>
        </p:txBody>
      </p:sp>
      <p:sp>
        <p:nvSpPr>
          <p:cNvPr id="46" name="Text 44"/>
          <p:cNvSpPr/>
          <p:nvPr/>
        </p:nvSpPr>
        <p:spPr>
          <a:xfrm>
            <a:off x="320576" y="3606701"/>
            <a:ext cx="870205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That's not accurate, Marco. Based on our pricing documentation, CINNOX rates are significantly lower than $5/minute — some usage fees start as low as **$0.01 ...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228600" y="3774877"/>
            <a:ext cx="8686800" cy="266402"/>
          </a:xfrm>
          <a:prstGeom prst="rect">
            <a:avLst/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Shape 46"/>
          <p:cNvSpPr/>
          <p:nvPr/>
        </p:nvSpPr>
        <p:spPr>
          <a:xfrm>
            <a:off x="242888" y="3774877"/>
            <a:ext cx="0" cy="266402"/>
          </a:xfrm>
          <a:prstGeom prst="line">
            <a:avLst/>
          </a:prstGeom>
          <a:noFill/>
          <a:ln w="28575">
            <a:solidFill>
              <a:srgbClr val="2E86D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20576" y="3800177"/>
            <a:ext cx="87020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E8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</a:t>
            </a:r>
            <a:endParaRPr lang="en-US" sz="550" dirty="0"/>
          </a:p>
        </p:txBody>
      </p:sp>
      <p:sp>
        <p:nvSpPr>
          <p:cNvPr id="50" name="Text 48"/>
          <p:cNvSpPr/>
          <p:nvPr/>
        </p:nvSpPr>
        <p:spPr>
          <a:xfrm>
            <a:off x="320576" y="3892153"/>
            <a:ext cx="870205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what IS the correct pricing then?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228600" y="4060329"/>
            <a:ext cx="8686800" cy="266402"/>
          </a:xfrm>
          <a:prstGeom prst="rect">
            <a:avLst/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Shape 50"/>
          <p:cNvSpPr/>
          <p:nvPr/>
        </p:nvSpPr>
        <p:spPr>
          <a:xfrm>
            <a:off x="242888" y="4060329"/>
            <a:ext cx="0" cy="266402"/>
          </a:xfrm>
          <a:prstGeom prst="line">
            <a:avLst/>
          </a:prstGeom>
          <a:noFill/>
          <a:ln w="28575">
            <a:solidFill>
              <a:srgbClr val="27AE6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20576" y="4085630"/>
            <a:ext cx="87020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</a:t>
            </a:r>
            <a:endParaRPr lang="en-US" sz="550" dirty="0"/>
          </a:p>
        </p:txBody>
      </p:sp>
      <p:sp>
        <p:nvSpPr>
          <p:cNvPr id="54" name="Text 52"/>
          <p:cNvSpPr/>
          <p:nvPr/>
        </p:nvSpPr>
        <p:spPr>
          <a:xfrm>
            <a:off x="320576" y="4177605"/>
            <a:ext cx="870205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question, Marco! Based on our pricing documentation, CINNOX offers three main packages:</a:t>
            </a:r>
            <a:endParaRPr lang="en-US" sz="750" dirty="0"/>
          </a:p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endParaRPr lang="en-US" sz="750" dirty="0"/>
          </a:p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Package | Best For |</a:t>
            </a:r>
            <a:endParaRPr lang="en-US" sz="750" dirty="0"/>
          </a:p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|---|---|</a:t>
            </a:r>
            <a:endParaRPr lang="en-US" sz="750" dirty="0"/>
          </a:p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**Basic Contact Center (BCC)**...</a:t>
            </a:r>
            <a:endParaRPr lang="en-US" sz="7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34901"/>
          </a:xfrm>
          <a:prstGeom prst="rect">
            <a:avLst/>
          </a:prstGeom>
          <a:solidFill>
            <a:srgbClr val="1B2A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53901" y="149126"/>
            <a:ext cx="880892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TC-D1 — Demo Request — All Fields </a:t>
            </a:r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07802" y="371326"/>
            <a:ext cx="854994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8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Collection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28600" y="736402"/>
            <a:ext cx="8686800" cy="145852"/>
          </a:xfrm>
          <a:prstGeom prst="roundRect">
            <a:avLst>
              <a:gd name="adj" fmla="val 26122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04800" y="761702"/>
            <a:ext cx="870508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4 fields + demo interest area asked. Connected to sales for scheduling.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228600" y="920353"/>
            <a:ext cx="8686800" cy="254794"/>
          </a:xfrm>
          <a:prstGeom prst="rect">
            <a:avLst/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242888" y="920353"/>
            <a:ext cx="0" cy="254794"/>
          </a:xfrm>
          <a:prstGeom prst="line">
            <a:avLst/>
          </a:prstGeom>
          <a:noFill/>
          <a:ln w="28575">
            <a:solidFill>
              <a:srgbClr val="2E86D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576" y="945654"/>
            <a:ext cx="87020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E8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</a:t>
            </a:r>
            <a:endParaRPr lang="en-US" sz="550" dirty="0"/>
          </a:p>
        </p:txBody>
      </p:sp>
      <p:sp>
        <p:nvSpPr>
          <p:cNvPr id="10" name="Text 8"/>
          <p:cNvSpPr/>
          <p:nvPr/>
        </p:nvSpPr>
        <p:spPr>
          <a:xfrm>
            <a:off x="320576" y="1037630"/>
            <a:ext cx="8702052" cy="112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84"/>
              </a:lnSpc>
              <a:spcBef>
                <a:spcPts val="50"/>
              </a:spcBef>
              <a:buNone/>
            </a:pPr>
            <a:r>
              <a:rPr lang="en-US" sz="68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want to arrange a demo of CINNOX.</a:t>
            </a:r>
            <a:endParaRPr lang="en-US" sz="680" dirty="0"/>
          </a:p>
        </p:txBody>
      </p:sp>
      <p:sp>
        <p:nvSpPr>
          <p:cNvPr id="11" name="Text 9"/>
          <p:cNvSpPr/>
          <p:nvPr/>
        </p:nvSpPr>
        <p:spPr>
          <a:xfrm>
            <a:off x="228600" y="1194197"/>
            <a:ext cx="8686800" cy="367010"/>
          </a:xfrm>
          <a:prstGeom prst="rect">
            <a:avLst/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242888" y="1194197"/>
            <a:ext cx="0" cy="367010"/>
          </a:xfrm>
          <a:prstGeom prst="line">
            <a:avLst/>
          </a:prstGeom>
          <a:noFill/>
          <a:ln w="28575">
            <a:solidFill>
              <a:srgbClr val="27AE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576" y="1219498"/>
            <a:ext cx="87020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</a:t>
            </a:r>
            <a:endParaRPr lang="en-US" sz="550" dirty="0"/>
          </a:p>
        </p:txBody>
      </p:sp>
      <p:sp>
        <p:nvSpPr>
          <p:cNvPr id="14" name="Text 12"/>
          <p:cNvSpPr/>
          <p:nvPr/>
        </p:nvSpPr>
        <p:spPr>
          <a:xfrm>
            <a:off x="320576" y="1311473"/>
            <a:ext cx="8702052" cy="2244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84"/>
              </a:lnSpc>
              <a:spcBef>
                <a:spcPts val="50"/>
              </a:spcBef>
              <a:buNone/>
            </a:pPr>
            <a:r>
              <a:rPr lang="en-US" sz="68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━━━━━━━━━━━━━━━━━━━━━━━━━━━━━━━━━━━━━━━━━━━━━</a:t>
            </a:r>
            <a:endParaRPr lang="en-US" sz="680" dirty="0"/>
          </a:p>
          <a:p>
            <a:pPr algn="l" indent="0" marL="0">
              <a:lnSpc>
                <a:spcPts val="884"/>
              </a:lnSpc>
              <a:spcBef>
                <a:spcPts val="50"/>
              </a:spcBef>
              <a:buNone/>
            </a:pPr>
            <a:r>
              <a:rPr lang="en-US" sz="68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CINNOX AI Bot — UAT Demo Session</a:t>
            </a:r>
            <a:endParaRPr lang="en-US" sz="680" dirty="0"/>
          </a:p>
          <a:p>
            <a:pPr algn="l" indent="0" marL="0">
              <a:lnSpc>
                <a:spcPts val="884"/>
              </a:lnSpc>
              <a:spcBef>
                <a:spcPts val="50"/>
              </a:spcBef>
              <a:buNone/>
            </a:pPr>
            <a:r>
              <a:rPr lang="en-US" sz="68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Knowledge Base: 418 chunks</a:t>
            </a:r>
            <a:endParaRPr lang="en-US" sz="680" dirty="0"/>
          </a:p>
          <a:p>
            <a:pPr algn="l" indent="0" marL="0">
              <a:lnSpc>
                <a:spcPts val="884"/>
              </a:lnSpc>
              <a:spcBef>
                <a:spcPts val="50"/>
              </a:spcBef>
              <a:buNone/>
            </a:pPr>
            <a:r>
              <a:rPr lang="en-US" sz="68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Mode: Pre-sales &amp; Support Triage</a:t>
            </a:r>
            <a:endParaRPr lang="en-US" sz="680" dirty="0"/>
          </a:p>
          <a:p>
            <a:pPr algn="l" indent="0" marL="0">
              <a:lnSpc>
                <a:spcPts val="884"/>
              </a:lnSpc>
              <a:spcBef>
                <a:spcPts val="50"/>
              </a:spcBef>
              <a:buNone/>
            </a:pPr>
            <a:r>
              <a:rPr lang="en-US" sz="68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Language: Eng...</a:t>
            </a:r>
            <a:endParaRPr lang="en-US" sz="680" dirty="0"/>
          </a:p>
        </p:txBody>
      </p:sp>
      <p:sp>
        <p:nvSpPr>
          <p:cNvPr id="15" name="Text 13"/>
          <p:cNvSpPr/>
          <p:nvPr/>
        </p:nvSpPr>
        <p:spPr>
          <a:xfrm>
            <a:off x="228600" y="1580257"/>
            <a:ext cx="8686800" cy="254794"/>
          </a:xfrm>
          <a:prstGeom prst="rect">
            <a:avLst/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242888" y="1580257"/>
            <a:ext cx="0" cy="254794"/>
          </a:xfrm>
          <a:prstGeom prst="line">
            <a:avLst/>
          </a:prstGeom>
          <a:noFill/>
          <a:ln w="28575">
            <a:solidFill>
              <a:srgbClr val="2E86D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576" y="1605558"/>
            <a:ext cx="87020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E8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</a:t>
            </a:r>
            <a:endParaRPr lang="en-US" sz="550" dirty="0"/>
          </a:p>
        </p:txBody>
      </p:sp>
      <p:sp>
        <p:nvSpPr>
          <p:cNvPr id="18" name="Text 16"/>
          <p:cNvSpPr/>
          <p:nvPr/>
        </p:nvSpPr>
        <p:spPr>
          <a:xfrm>
            <a:off x="320576" y="1697534"/>
            <a:ext cx="8702052" cy="112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84"/>
              </a:lnSpc>
              <a:spcBef>
                <a:spcPts val="50"/>
              </a:spcBef>
              <a:buNone/>
            </a:pPr>
            <a:r>
              <a:rPr lang="en-US" sz="68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Emma Laurent</a:t>
            </a:r>
            <a:endParaRPr lang="en-US" sz="680" dirty="0"/>
          </a:p>
        </p:txBody>
      </p:sp>
      <p:sp>
        <p:nvSpPr>
          <p:cNvPr id="19" name="Text 17"/>
          <p:cNvSpPr/>
          <p:nvPr/>
        </p:nvSpPr>
        <p:spPr>
          <a:xfrm>
            <a:off x="228600" y="1854101"/>
            <a:ext cx="8686800" cy="254794"/>
          </a:xfrm>
          <a:prstGeom prst="rect">
            <a:avLst/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242888" y="1854101"/>
            <a:ext cx="0" cy="254794"/>
          </a:xfrm>
          <a:prstGeom prst="line">
            <a:avLst/>
          </a:prstGeom>
          <a:noFill/>
          <a:ln w="28575">
            <a:solidFill>
              <a:srgbClr val="27AE6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576" y="1879402"/>
            <a:ext cx="87020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</a:t>
            </a:r>
            <a:endParaRPr lang="en-US" sz="550" dirty="0"/>
          </a:p>
        </p:txBody>
      </p:sp>
      <p:sp>
        <p:nvSpPr>
          <p:cNvPr id="22" name="Text 20"/>
          <p:cNvSpPr/>
          <p:nvPr/>
        </p:nvSpPr>
        <p:spPr>
          <a:xfrm>
            <a:off x="320576" y="1971377"/>
            <a:ext cx="8702052" cy="112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84"/>
              </a:lnSpc>
              <a:spcBef>
                <a:spcPts val="50"/>
              </a:spcBef>
              <a:buNone/>
            </a:pPr>
            <a:r>
              <a:rPr lang="en-US" sz="68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Nice to meet you, Emma! And your company name?</a:t>
            </a:r>
            <a:endParaRPr lang="en-US" sz="680" dirty="0"/>
          </a:p>
        </p:txBody>
      </p:sp>
      <p:sp>
        <p:nvSpPr>
          <p:cNvPr id="23" name="Text 21"/>
          <p:cNvSpPr/>
          <p:nvPr/>
        </p:nvSpPr>
        <p:spPr>
          <a:xfrm>
            <a:off x="228600" y="2127945"/>
            <a:ext cx="8686800" cy="254794"/>
          </a:xfrm>
          <a:prstGeom prst="rect">
            <a:avLst/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242888" y="2127945"/>
            <a:ext cx="0" cy="254794"/>
          </a:xfrm>
          <a:prstGeom prst="line">
            <a:avLst/>
          </a:prstGeom>
          <a:noFill/>
          <a:ln w="28575">
            <a:solidFill>
              <a:srgbClr val="2E86D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576" y="2153245"/>
            <a:ext cx="87020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E8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</a:t>
            </a:r>
            <a:endParaRPr lang="en-US" sz="550" dirty="0"/>
          </a:p>
        </p:txBody>
      </p:sp>
      <p:sp>
        <p:nvSpPr>
          <p:cNvPr id="26" name="Text 24"/>
          <p:cNvSpPr/>
          <p:nvPr/>
        </p:nvSpPr>
        <p:spPr>
          <a:xfrm>
            <a:off x="320576" y="2245221"/>
            <a:ext cx="8702052" cy="112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84"/>
              </a:lnSpc>
              <a:spcBef>
                <a:spcPts val="50"/>
              </a:spcBef>
              <a:buNone/>
            </a:pPr>
            <a:r>
              <a:rPr lang="en-US" sz="68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Lyon Digital Agency, emma@lyondigital.com, +33-6-1234-5678</a:t>
            </a:r>
            <a:endParaRPr lang="en-US" sz="680" dirty="0"/>
          </a:p>
        </p:txBody>
      </p:sp>
      <p:sp>
        <p:nvSpPr>
          <p:cNvPr id="27" name="Text 25"/>
          <p:cNvSpPr/>
          <p:nvPr/>
        </p:nvSpPr>
        <p:spPr>
          <a:xfrm>
            <a:off x="228600" y="2401788"/>
            <a:ext cx="8686800" cy="254794"/>
          </a:xfrm>
          <a:prstGeom prst="rect">
            <a:avLst/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242888" y="2401788"/>
            <a:ext cx="0" cy="254794"/>
          </a:xfrm>
          <a:prstGeom prst="line">
            <a:avLst/>
          </a:prstGeom>
          <a:noFill/>
          <a:ln w="28575">
            <a:solidFill>
              <a:srgbClr val="27AE6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576" y="2427089"/>
            <a:ext cx="87020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</a:t>
            </a:r>
            <a:endParaRPr lang="en-US" sz="550" dirty="0"/>
          </a:p>
        </p:txBody>
      </p:sp>
      <p:sp>
        <p:nvSpPr>
          <p:cNvPr id="30" name="Text 28"/>
          <p:cNvSpPr/>
          <p:nvPr/>
        </p:nvSpPr>
        <p:spPr>
          <a:xfrm>
            <a:off x="320576" y="2519065"/>
            <a:ext cx="8702052" cy="112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84"/>
              </a:lnSpc>
              <a:spcBef>
                <a:spcPts val="50"/>
              </a:spcBef>
              <a:buNone/>
            </a:pPr>
            <a:r>
              <a:rPr lang="en-US" sz="68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Thanks, Emma! Let me confirm your details:</a:t>
            </a:r>
            <a:endParaRPr lang="en-US" sz="680" dirty="0"/>
          </a:p>
          <a:p>
            <a:pPr algn="l" indent="0" marL="0">
              <a:lnSpc>
                <a:spcPts val="884"/>
              </a:lnSpc>
              <a:spcBef>
                <a:spcPts val="50"/>
              </a:spcBef>
              <a:buNone/>
            </a:pPr>
            <a:endParaRPr lang="en-US" sz="680" dirty="0"/>
          </a:p>
          <a:p>
            <a:pPr algn="l" indent="0" marL="0">
              <a:lnSpc>
                <a:spcPts val="884"/>
              </a:lnSpc>
              <a:spcBef>
                <a:spcPts val="50"/>
              </a:spcBef>
              <a:buNone/>
            </a:pPr>
            <a:r>
              <a:rPr lang="en-US" sz="68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**Name:** Emma Laurent</a:t>
            </a:r>
            <a:endParaRPr lang="en-US" sz="680" dirty="0"/>
          </a:p>
          <a:p>
            <a:pPr algn="l" indent="0" marL="0">
              <a:lnSpc>
                <a:spcPts val="884"/>
              </a:lnSpc>
              <a:spcBef>
                <a:spcPts val="50"/>
              </a:spcBef>
              <a:buNone/>
            </a:pPr>
            <a:r>
              <a:rPr lang="en-US" sz="68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**Company:** Lyon Digital Agency</a:t>
            </a:r>
            <a:endParaRPr lang="en-US" sz="680" dirty="0"/>
          </a:p>
          <a:p>
            <a:pPr algn="l" indent="0" marL="0">
              <a:lnSpc>
                <a:spcPts val="884"/>
              </a:lnSpc>
              <a:spcBef>
                <a:spcPts val="50"/>
              </a:spcBef>
              <a:buNone/>
            </a:pPr>
            <a:r>
              <a:rPr lang="en-US" sz="68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**Email:** emma@lyondigital.com</a:t>
            </a:r>
            <a:endParaRPr lang="en-US" sz="680" dirty="0"/>
          </a:p>
          <a:p>
            <a:pPr algn="l" indent="0" marL="0">
              <a:lnSpc>
                <a:spcPts val="884"/>
              </a:lnSpc>
              <a:spcBef>
                <a:spcPts val="50"/>
              </a:spcBef>
              <a:buNone/>
            </a:pPr>
            <a:r>
              <a:rPr lang="en-US" sz="68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**Phone:** +33-6-123...</a:t>
            </a:r>
            <a:endParaRPr lang="en-US" sz="680" dirty="0"/>
          </a:p>
        </p:txBody>
      </p:sp>
      <p:sp>
        <p:nvSpPr>
          <p:cNvPr id="31" name="Text 29"/>
          <p:cNvSpPr/>
          <p:nvPr/>
        </p:nvSpPr>
        <p:spPr>
          <a:xfrm>
            <a:off x="228600" y="2675632"/>
            <a:ext cx="8686800" cy="254794"/>
          </a:xfrm>
          <a:prstGeom prst="rect">
            <a:avLst/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242888" y="2675632"/>
            <a:ext cx="0" cy="254794"/>
          </a:xfrm>
          <a:prstGeom prst="line">
            <a:avLst/>
          </a:prstGeom>
          <a:noFill/>
          <a:ln w="28575">
            <a:solidFill>
              <a:srgbClr val="2E86D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576" y="2700933"/>
            <a:ext cx="87020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E8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</a:t>
            </a:r>
            <a:endParaRPr lang="en-US" sz="550" dirty="0"/>
          </a:p>
        </p:txBody>
      </p:sp>
      <p:sp>
        <p:nvSpPr>
          <p:cNvPr id="34" name="Text 32"/>
          <p:cNvSpPr/>
          <p:nvPr/>
        </p:nvSpPr>
        <p:spPr>
          <a:xfrm>
            <a:off x="320576" y="2792909"/>
            <a:ext cx="8702052" cy="112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84"/>
              </a:lnSpc>
              <a:spcBef>
                <a:spcPts val="50"/>
              </a:spcBef>
              <a:buNone/>
            </a:pPr>
            <a:r>
              <a:rPr lang="en-US" sz="68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680" dirty="0"/>
          </a:p>
        </p:txBody>
      </p:sp>
      <p:sp>
        <p:nvSpPr>
          <p:cNvPr id="35" name="Text 33"/>
          <p:cNvSpPr/>
          <p:nvPr/>
        </p:nvSpPr>
        <p:spPr>
          <a:xfrm>
            <a:off x="228600" y="2949476"/>
            <a:ext cx="8686800" cy="254794"/>
          </a:xfrm>
          <a:prstGeom prst="rect">
            <a:avLst/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Shape 34"/>
          <p:cNvSpPr/>
          <p:nvPr/>
        </p:nvSpPr>
        <p:spPr>
          <a:xfrm>
            <a:off x="242888" y="2949476"/>
            <a:ext cx="0" cy="254794"/>
          </a:xfrm>
          <a:prstGeom prst="line">
            <a:avLst/>
          </a:prstGeom>
          <a:noFill/>
          <a:ln w="28575">
            <a:solidFill>
              <a:srgbClr val="27AE6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576" y="2974777"/>
            <a:ext cx="87020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</a:t>
            </a:r>
            <a:endParaRPr lang="en-US" sz="550" dirty="0"/>
          </a:p>
        </p:txBody>
      </p:sp>
      <p:sp>
        <p:nvSpPr>
          <p:cNvPr id="38" name="Text 36"/>
          <p:cNvSpPr/>
          <p:nvPr/>
        </p:nvSpPr>
        <p:spPr>
          <a:xfrm>
            <a:off x="320576" y="3066752"/>
            <a:ext cx="8702052" cy="112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84"/>
              </a:lnSpc>
              <a:spcBef>
                <a:spcPts val="50"/>
              </a:spcBef>
              <a:buNone/>
            </a:pPr>
            <a:r>
              <a:rPr lang="en-US" sz="68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you, Emma! Your information has been saved.</a:t>
            </a:r>
            <a:endParaRPr lang="en-US" sz="680" dirty="0"/>
          </a:p>
          <a:p>
            <a:pPr algn="l" indent="0" marL="0">
              <a:lnSpc>
                <a:spcPts val="884"/>
              </a:lnSpc>
              <a:spcBef>
                <a:spcPts val="50"/>
              </a:spcBef>
              <a:buNone/>
            </a:pPr>
            <a:endParaRPr lang="en-US" sz="680" dirty="0"/>
          </a:p>
          <a:p>
            <a:pPr algn="l" indent="0" marL="0">
              <a:lnSpc>
                <a:spcPts val="884"/>
              </a:lnSpc>
              <a:spcBef>
                <a:spcPts val="50"/>
              </a:spcBef>
              <a:buNone/>
            </a:pPr>
            <a:r>
              <a:rPr lang="en-US" sz="68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Now, regarding arranging a demo of CINNOX — let me look into what we can offer you. Could you tell me a bit m...</a:t>
            </a:r>
            <a:endParaRPr lang="en-US" sz="680" dirty="0"/>
          </a:p>
        </p:txBody>
      </p:sp>
      <p:sp>
        <p:nvSpPr>
          <p:cNvPr id="39" name="Text 37"/>
          <p:cNvSpPr/>
          <p:nvPr/>
        </p:nvSpPr>
        <p:spPr>
          <a:xfrm>
            <a:off x="228600" y="3223320"/>
            <a:ext cx="8686800" cy="254794"/>
          </a:xfrm>
          <a:prstGeom prst="rect">
            <a:avLst/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Shape 38"/>
          <p:cNvSpPr/>
          <p:nvPr/>
        </p:nvSpPr>
        <p:spPr>
          <a:xfrm>
            <a:off x="242888" y="3223320"/>
            <a:ext cx="0" cy="254794"/>
          </a:xfrm>
          <a:prstGeom prst="line">
            <a:avLst/>
          </a:prstGeom>
          <a:noFill/>
          <a:ln w="28575">
            <a:solidFill>
              <a:srgbClr val="2E86D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0576" y="3248620"/>
            <a:ext cx="87020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E8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</a:t>
            </a:r>
            <a:endParaRPr lang="en-US" sz="550" dirty="0"/>
          </a:p>
        </p:txBody>
      </p:sp>
      <p:sp>
        <p:nvSpPr>
          <p:cNvPr id="42" name="Text 40"/>
          <p:cNvSpPr/>
          <p:nvPr/>
        </p:nvSpPr>
        <p:spPr>
          <a:xfrm>
            <a:off x="320576" y="3340596"/>
            <a:ext cx="8702052" cy="112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84"/>
              </a:lnSpc>
              <a:spcBef>
                <a:spcPts val="50"/>
              </a:spcBef>
              <a:buNone/>
            </a:pPr>
            <a:r>
              <a:rPr lang="en-US" sz="68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specific, just want to look around what you got and what we can do with cinnox</a:t>
            </a:r>
            <a:endParaRPr lang="en-US" sz="680" dirty="0"/>
          </a:p>
        </p:txBody>
      </p:sp>
      <p:sp>
        <p:nvSpPr>
          <p:cNvPr id="43" name="Text 41"/>
          <p:cNvSpPr/>
          <p:nvPr/>
        </p:nvSpPr>
        <p:spPr>
          <a:xfrm>
            <a:off x="228600" y="3497163"/>
            <a:ext cx="8686800" cy="254794"/>
          </a:xfrm>
          <a:prstGeom prst="rect">
            <a:avLst/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Shape 42"/>
          <p:cNvSpPr/>
          <p:nvPr/>
        </p:nvSpPr>
        <p:spPr>
          <a:xfrm>
            <a:off x="242888" y="3497163"/>
            <a:ext cx="0" cy="254794"/>
          </a:xfrm>
          <a:prstGeom prst="line">
            <a:avLst/>
          </a:prstGeom>
          <a:noFill/>
          <a:ln w="28575">
            <a:solidFill>
              <a:srgbClr val="27AE6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20576" y="3522464"/>
            <a:ext cx="87020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</a:t>
            </a:r>
            <a:endParaRPr lang="en-US" sz="550" dirty="0"/>
          </a:p>
        </p:txBody>
      </p:sp>
      <p:sp>
        <p:nvSpPr>
          <p:cNvPr id="46" name="Text 44"/>
          <p:cNvSpPr/>
          <p:nvPr/>
        </p:nvSpPr>
        <p:spPr>
          <a:xfrm>
            <a:off x="320576" y="3614440"/>
            <a:ext cx="8702052" cy="112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84"/>
              </a:lnSpc>
              <a:spcBef>
                <a:spcPts val="50"/>
              </a:spcBef>
              <a:buNone/>
            </a:pPr>
            <a:r>
              <a:rPr lang="en-US" sz="68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question, Emma! Here's a quick overview of what CINNOX offers:</a:t>
            </a:r>
            <a:endParaRPr lang="en-US" sz="680" dirty="0"/>
          </a:p>
          <a:p>
            <a:pPr algn="l" indent="0" marL="0">
              <a:lnSpc>
                <a:spcPts val="884"/>
              </a:lnSpc>
              <a:spcBef>
                <a:spcPts val="50"/>
              </a:spcBef>
              <a:buNone/>
            </a:pPr>
            <a:endParaRPr lang="en-US" sz="680" dirty="0"/>
          </a:p>
          <a:p>
            <a:pPr algn="l" indent="0" marL="0">
              <a:lnSpc>
                <a:spcPts val="884"/>
              </a:lnSpc>
              <a:spcBef>
                <a:spcPts val="50"/>
              </a:spcBef>
              <a:buNone/>
            </a:pPr>
            <a:r>
              <a:rPr lang="en-US" sz="68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CINNOX is an omnichannel engagement platform with several package tiers to fit different n...</a:t>
            </a:r>
            <a:endParaRPr lang="en-US" sz="680" dirty="0"/>
          </a:p>
        </p:txBody>
      </p:sp>
      <p:sp>
        <p:nvSpPr>
          <p:cNvPr id="47" name="Text 45"/>
          <p:cNvSpPr/>
          <p:nvPr/>
        </p:nvSpPr>
        <p:spPr>
          <a:xfrm>
            <a:off x="228600" y="3771007"/>
            <a:ext cx="8686800" cy="254794"/>
          </a:xfrm>
          <a:prstGeom prst="rect">
            <a:avLst/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Shape 46"/>
          <p:cNvSpPr/>
          <p:nvPr/>
        </p:nvSpPr>
        <p:spPr>
          <a:xfrm>
            <a:off x="242888" y="3771007"/>
            <a:ext cx="0" cy="254794"/>
          </a:xfrm>
          <a:prstGeom prst="line">
            <a:avLst/>
          </a:prstGeom>
          <a:noFill/>
          <a:ln w="28575">
            <a:solidFill>
              <a:srgbClr val="2E86D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20576" y="3796308"/>
            <a:ext cx="87020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E8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</a:t>
            </a:r>
            <a:endParaRPr lang="en-US" sz="550" dirty="0"/>
          </a:p>
        </p:txBody>
      </p:sp>
      <p:sp>
        <p:nvSpPr>
          <p:cNvPr id="50" name="Text 48"/>
          <p:cNvSpPr/>
          <p:nvPr/>
        </p:nvSpPr>
        <p:spPr>
          <a:xfrm>
            <a:off x="320576" y="3888284"/>
            <a:ext cx="8702052" cy="112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84"/>
              </a:lnSpc>
              <a:spcBef>
                <a:spcPts val="50"/>
              </a:spcBef>
              <a:buNone/>
            </a:pPr>
            <a:r>
              <a:rPr lang="en-US" sz="68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680" dirty="0"/>
          </a:p>
        </p:txBody>
      </p:sp>
      <p:sp>
        <p:nvSpPr>
          <p:cNvPr id="51" name="Text 49"/>
          <p:cNvSpPr/>
          <p:nvPr/>
        </p:nvSpPr>
        <p:spPr>
          <a:xfrm>
            <a:off x="228600" y="4044851"/>
            <a:ext cx="8686800" cy="254794"/>
          </a:xfrm>
          <a:prstGeom prst="rect">
            <a:avLst/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Shape 50"/>
          <p:cNvSpPr/>
          <p:nvPr/>
        </p:nvSpPr>
        <p:spPr>
          <a:xfrm>
            <a:off x="242888" y="4044851"/>
            <a:ext cx="0" cy="254794"/>
          </a:xfrm>
          <a:prstGeom prst="line">
            <a:avLst/>
          </a:prstGeom>
          <a:noFill/>
          <a:ln w="28575">
            <a:solidFill>
              <a:srgbClr val="27AE6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20576" y="4070152"/>
            <a:ext cx="87020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</a:t>
            </a:r>
            <a:endParaRPr lang="en-US" sz="550" dirty="0"/>
          </a:p>
        </p:txBody>
      </p:sp>
      <p:sp>
        <p:nvSpPr>
          <p:cNvPr id="54" name="Text 52"/>
          <p:cNvSpPr/>
          <p:nvPr/>
        </p:nvSpPr>
        <p:spPr>
          <a:xfrm>
            <a:off x="320576" y="4162127"/>
            <a:ext cx="8702052" cy="112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84"/>
              </a:lnSpc>
              <a:spcBef>
                <a:spcPts val="50"/>
              </a:spcBef>
              <a:buNone/>
            </a:pPr>
            <a:r>
              <a:rPr lang="en-US" sz="68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worries! If you'd like to explore anything specific later, I'm right here. Is there anything else I can help you with, Emma?</a:t>
            </a:r>
            <a:endParaRPr lang="en-US" sz="680" dirty="0"/>
          </a:p>
        </p:txBody>
      </p:sp>
      <p:sp>
        <p:nvSpPr>
          <p:cNvPr id="55" name="Text 53"/>
          <p:cNvSpPr/>
          <p:nvPr/>
        </p:nvSpPr>
        <p:spPr>
          <a:xfrm>
            <a:off x="228600" y="4318695"/>
            <a:ext cx="8686800" cy="254794"/>
          </a:xfrm>
          <a:prstGeom prst="rect">
            <a:avLst/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Shape 54"/>
          <p:cNvSpPr/>
          <p:nvPr/>
        </p:nvSpPr>
        <p:spPr>
          <a:xfrm>
            <a:off x="242888" y="4318695"/>
            <a:ext cx="0" cy="254794"/>
          </a:xfrm>
          <a:prstGeom prst="line">
            <a:avLst/>
          </a:prstGeom>
          <a:noFill/>
          <a:ln w="28575">
            <a:solidFill>
              <a:srgbClr val="2E86D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20576" y="4343995"/>
            <a:ext cx="87020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E8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</a:t>
            </a:r>
            <a:endParaRPr lang="en-US" sz="550" dirty="0"/>
          </a:p>
        </p:txBody>
      </p:sp>
      <p:sp>
        <p:nvSpPr>
          <p:cNvPr id="58" name="Text 56"/>
          <p:cNvSpPr/>
          <p:nvPr/>
        </p:nvSpPr>
        <p:spPr>
          <a:xfrm>
            <a:off x="320576" y="4435971"/>
            <a:ext cx="8702052" cy="112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84"/>
              </a:lnSpc>
              <a:spcBef>
                <a:spcPts val="50"/>
              </a:spcBef>
              <a:buNone/>
            </a:pPr>
            <a:r>
              <a:rPr lang="en-US" sz="68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Yes, for the time of demo, any weekday afternoon works for me.</a:t>
            </a:r>
            <a:endParaRPr lang="en-US" sz="680" dirty="0"/>
          </a:p>
        </p:txBody>
      </p:sp>
      <p:sp>
        <p:nvSpPr>
          <p:cNvPr id="59" name="Text 57"/>
          <p:cNvSpPr/>
          <p:nvPr/>
        </p:nvSpPr>
        <p:spPr>
          <a:xfrm>
            <a:off x="228600" y="4592538"/>
            <a:ext cx="8686800" cy="254794"/>
          </a:xfrm>
          <a:prstGeom prst="rect">
            <a:avLst/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Shape 58"/>
          <p:cNvSpPr/>
          <p:nvPr/>
        </p:nvSpPr>
        <p:spPr>
          <a:xfrm>
            <a:off x="242888" y="4592538"/>
            <a:ext cx="0" cy="254794"/>
          </a:xfrm>
          <a:prstGeom prst="line">
            <a:avLst/>
          </a:prstGeom>
          <a:noFill/>
          <a:ln w="28575">
            <a:solidFill>
              <a:srgbClr val="27AE6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20576" y="4617839"/>
            <a:ext cx="87020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</a:t>
            </a:r>
            <a:endParaRPr lang="en-US" sz="550" dirty="0"/>
          </a:p>
        </p:txBody>
      </p:sp>
      <p:sp>
        <p:nvSpPr>
          <p:cNvPr id="62" name="Text 60"/>
          <p:cNvSpPr/>
          <p:nvPr/>
        </p:nvSpPr>
        <p:spPr>
          <a:xfrm>
            <a:off x="320576" y="4709815"/>
            <a:ext cx="8702052" cy="112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84"/>
              </a:lnSpc>
              <a:spcBef>
                <a:spcPts val="50"/>
              </a:spcBef>
              <a:buNone/>
            </a:pPr>
            <a:r>
              <a:rPr lang="en-US" sz="68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Thanks for letting us know your availability, Emma! Scheduling a demo is something our sales team handles directly.</a:t>
            </a:r>
            <a:endParaRPr lang="en-US" sz="680" dirty="0"/>
          </a:p>
          <a:p>
            <a:pPr algn="l" indent="0" marL="0">
              <a:lnSpc>
                <a:spcPts val="884"/>
              </a:lnSpc>
              <a:spcBef>
                <a:spcPts val="50"/>
              </a:spcBef>
              <a:buNone/>
            </a:pPr>
            <a:endParaRPr lang="en-US" sz="680" dirty="0"/>
          </a:p>
          <a:p>
            <a:pPr algn="l" indent="0" marL="0">
              <a:lnSpc>
                <a:spcPts val="884"/>
              </a:lnSpc>
              <a:spcBef>
                <a:spcPts val="50"/>
              </a:spcBef>
              <a:buNone/>
            </a:pPr>
            <a:r>
              <a:rPr lang="en-US" sz="68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I'm connecting you with our sales team now....</a:t>
            </a:r>
            <a:endParaRPr lang="en-US" sz="68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34901"/>
          </a:xfrm>
          <a:prstGeom prst="rect">
            <a:avLst/>
          </a:prstGeom>
          <a:solidFill>
            <a:srgbClr val="1B2A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53901" y="149126"/>
            <a:ext cx="880892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TC-D2 — Phone Number Refused </a:t>
            </a:r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07802" y="371326"/>
            <a:ext cx="854994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8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Collection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28600" y="736402"/>
            <a:ext cx="8686800" cy="145852"/>
          </a:xfrm>
          <a:prstGeom prst="roundRect">
            <a:avLst>
              <a:gd name="adj" fmla="val 26122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04800" y="761702"/>
            <a:ext cx="870508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Accepted refusal gracefully. Offered email alternative. Proceeded without phone.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228600" y="920353"/>
            <a:ext cx="8686800" cy="266402"/>
          </a:xfrm>
          <a:prstGeom prst="rect">
            <a:avLst/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242888" y="920353"/>
            <a:ext cx="0" cy="266402"/>
          </a:xfrm>
          <a:prstGeom prst="line">
            <a:avLst/>
          </a:prstGeom>
          <a:noFill/>
          <a:ln w="28575">
            <a:solidFill>
              <a:srgbClr val="2E86D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576" y="945654"/>
            <a:ext cx="87020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E8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</a:t>
            </a:r>
            <a:endParaRPr lang="en-US" sz="550" dirty="0"/>
          </a:p>
        </p:txBody>
      </p:sp>
      <p:sp>
        <p:nvSpPr>
          <p:cNvPr id="10" name="Text 8"/>
          <p:cNvSpPr/>
          <p:nvPr/>
        </p:nvSpPr>
        <p:spPr>
          <a:xfrm>
            <a:off x="320576" y="1037630"/>
            <a:ext cx="870205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want to arrange a demo of CINNOX.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228600" y="1205805"/>
            <a:ext cx="8686800" cy="266402"/>
          </a:xfrm>
          <a:prstGeom prst="rect">
            <a:avLst/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242888" y="1205805"/>
            <a:ext cx="0" cy="266402"/>
          </a:xfrm>
          <a:prstGeom prst="line">
            <a:avLst/>
          </a:prstGeom>
          <a:noFill/>
          <a:ln w="28575">
            <a:solidFill>
              <a:srgbClr val="27AE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576" y="1231106"/>
            <a:ext cx="87020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</a:t>
            </a:r>
            <a:endParaRPr lang="en-US" sz="550" dirty="0"/>
          </a:p>
        </p:txBody>
      </p:sp>
      <p:sp>
        <p:nvSpPr>
          <p:cNvPr id="14" name="Text 12"/>
          <p:cNvSpPr/>
          <p:nvPr/>
        </p:nvSpPr>
        <p:spPr>
          <a:xfrm>
            <a:off x="320576" y="1323082"/>
            <a:ext cx="870205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to hear you're interested in CINNOX! I'd love to help arrange that for you.</a:t>
            </a:r>
            <a:endParaRPr lang="en-US" sz="750" dirty="0"/>
          </a:p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endParaRPr lang="en-US" sz="750" dirty="0"/>
          </a:p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get you connected with the right team, may I start with your name?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228600" y="1491258"/>
            <a:ext cx="8686800" cy="266402"/>
          </a:xfrm>
          <a:prstGeom prst="rect">
            <a:avLst/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242888" y="1491258"/>
            <a:ext cx="0" cy="266402"/>
          </a:xfrm>
          <a:prstGeom prst="line">
            <a:avLst/>
          </a:prstGeom>
          <a:noFill/>
          <a:ln w="28575">
            <a:solidFill>
              <a:srgbClr val="2E86D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576" y="1516559"/>
            <a:ext cx="87020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E8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</a:t>
            </a:r>
            <a:endParaRPr lang="en-US" sz="550" dirty="0"/>
          </a:p>
        </p:txBody>
      </p:sp>
      <p:sp>
        <p:nvSpPr>
          <p:cNvPr id="18" name="Text 16"/>
          <p:cNvSpPr/>
          <p:nvPr/>
        </p:nvSpPr>
        <p:spPr>
          <a:xfrm>
            <a:off x="320576" y="1608534"/>
            <a:ext cx="870205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Emma Laurent, Lyon Digital Agency, emma@lyondigital.com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228600" y="1776710"/>
            <a:ext cx="8686800" cy="266402"/>
          </a:xfrm>
          <a:prstGeom prst="rect">
            <a:avLst/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242888" y="1776710"/>
            <a:ext cx="0" cy="266402"/>
          </a:xfrm>
          <a:prstGeom prst="line">
            <a:avLst/>
          </a:prstGeom>
          <a:noFill/>
          <a:ln w="28575">
            <a:solidFill>
              <a:srgbClr val="27AE6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576" y="1802011"/>
            <a:ext cx="87020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</a:t>
            </a:r>
            <a:endParaRPr lang="en-US" sz="550" dirty="0"/>
          </a:p>
        </p:txBody>
      </p:sp>
      <p:sp>
        <p:nvSpPr>
          <p:cNvPr id="22" name="Text 20"/>
          <p:cNvSpPr/>
          <p:nvPr/>
        </p:nvSpPr>
        <p:spPr>
          <a:xfrm>
            <a:off x="320576" y="1893987"/>
            <a:ext cx="870205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Nice to meet you, Emma! And thanks for that info.</a:t>
            </a:r>
            <a:endParaRPr lang="en-US" sz="750" dirty="0"/>
          </a:p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endParaRPr lang="en-US" sz="750" dirty="0"/>
          </a:p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 one more detail — what's a phone number we can reach you on?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228600" y="2062163"/>
            <a:ext cx="8686800" cy="266402"/>
          </a:xfrm>
          <a:prstGeom prst="rect">
            <a:avLst/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242888" y="2062163"/>
            <a:ext cx="0" cy="266402"/>
          </a:xfrm>
          <a:prstGeom prst="line">
            <a:avLst/>
          </a:prstGeom>
          <a:noFill/>
          <a:ln w="28575">
            <a:solidFill>
              <a:srgbClr val="2E86D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576" y="2087463"/>
            <a:ext cx="87020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E8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</a:t>
            </a:r>
            <a:endParaRPr lang="en-US" sz="550" dirty="0"/>
          </a:p>
        </p:txBody>
      </p:sp>
      <p:sp>
        <p:nvSpPr>
          <p:cNvPr id="26" name="Text 24"/>
          <p:cNvSpPr/>
          <p:nvPr/>
        </p:nvSpPr>
        <p:spPr>
          <a:xfrm>
            <a:off x="320576" y="2179439"/>
            <a:ext cx="870205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I'd rather not give my phone number.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228600" y="2347615"/>
            <a:ext cx="8686800" cy="266402"/>
          </a:xfrm>
          <a:prstGeom prst="rect">
            <a:avLst/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242888" y="2347615"/>
            <a:ext cx="0" cy="266402"/>
          </a:xfrm>
          <a:prstGeom prst="line">
            <a:avLst/>
          </a:prstGeom>
          <a:noFill/>
          <a:ln w="28575">
            <a:solidFill>
              <a:srgbClr val="27AE6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576" y="2372916"/>
            <a:ext cx="87020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</a:t>
            </a:r>
            <a:endParaRPr lang="en-US" sz="550" dirty="0"/>
          </a:p>
        </p:txBody>
      </p:sp>
      <p:sp>
        <p:nvSpPr>
          <p:cNvPr id="30" name="Text 28"/>
          <p:cNvSpPr/>
          <p:nvPr/>
        </p:nvSpPr>
        <p:spPr>
          <a:xfrm>
            <a:off x="320576" y="2464891"/>
            <a:ext cx="870205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problem at all, Emma! We can reach you by email instead. Would that work for you?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228600" y="2633067"/>
            <a:ext cx="8686800" cy="266402"/>
          </a:xfrm>
          <a:prstGeom prst="rect">
            <a:avLst/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242888" y="2633067"/>
            <a:ext cx="0" cy="266402"/>
          </a:xfrm>
          <a:prstGeom prst="line">
            <a:avLst/>
          </a:prstGeom>
          <a:noFill/>
          <a:ln w="28575">
            <a:solidFill>
              <a:srgbClr val="2E86D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576" y="2658368"/>
            <a:ext cx="87020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E8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</a:t>
            </a:r>
            <a:endParaRPr lang="en-US" sz="550" dirty="0"/>
          </a:p>
        </p:txBody>
      </p:sp>
      <p:sp>
        <p:nvSpPr>
          <p:cNvPr id="34" name="Text 32"/>
          <p:cNvSpPr/>
          <p:nvPr/>
        </p:nvSpPr>
        <p:spPr>
          <a:xfrm>
            <a:off x="320576" y="2750344"/>
            <a:ext cx="870205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really don't want to share it. Please proceed without it.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228600" y="2918520"/>
            <a:ext cx="8686800" cy="266402"/>
          </a:xfrm>
          <a:prstGeom prst="rect">
            <a:avLst/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Shape 34"/>
          <p:cNvSpPr/>
          <p:nvPr/>
        </p:nvSpPr>
        <p:spPr>
          <a:xfrm>
            <a:off x="242888" y="2918520"/>
            <a:ext cx="0" cy="266402"/>
          </a:xfrm>
          <a:prstGeom prst="line">
            <a:avLst/>
          </a:prstGeom>
          <a:noFill/>
          <a:ln w="28575">
            <a:solidFill>
              <a:srgbClr val="27AE6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576" y="2943820"/>
            <a:ext cx="87020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</a:t>
            </a:r>
            <a:endParaRPr lang="en-US" sz="550" dirty="0"/>
          </a:p>
        </p:txBody>
      </p:sp>
      <p:sp>
        <p:nvSpPr>
          <p:cNvPr id="38" name="Text 36"/>
          <p:cNvSpPr/>
          <p:nvPr/>
        </p:nvSpPr>
        <p:spPr>
          <a:xfrm>
            <a:off x="320576" y="3035796"/>
            <a:ext cx="870205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Understood, Emma — no problem at all. Let me confirm what I have:</a:t>
            </a:r>
            <a:endParaRPr lang="en-US" sz="750" dirty="0"/>
          </a:p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endParaRPr lang="en-US" sz="750" dirty="0"/>
          </a:p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**Name:** Emma Laurent</a:t>
            </a:r>
            <a:endParaRPr lang="en-US" sz="750" dirty="0"/>
          </a:p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**Company:** Lyon Digital Agency</a:t>
            </a:r>
            <a:endParaRPr lang="en-US" sz="750" dirty="0"/>
          </a:p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**Email:** emma@lyondigital.com</a:t>
            </a:r>
            <a:endParaRPr lang="en-US" sz="750" dirty="0"/>
          </a:p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endParaRPr lang="en-US" sz="750" dirty="0"/>
          </a:p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that all correct?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228600" y="3203972"/>
            <a:ext cx="8686800" cy="266402"/>
          </a:xfrm>
          <a:prstGeom prst="rect">
            <a:avLst/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Shape 38"/>
          <p:cNvSpPr/>
          <p:nvPr/>
        </p:nvSpPr>
        <p:spPr>
          <a:xfrm>
            <a:off x="242888" y="3203972"/>
            <a:ext cx="0" cy="266402"/>
          </a:xfrm>
          <a:prstGeom prst="line">
            <a:avLst/>
          </a:prstGeom>
          <a:noFill/>
          <a:ln w="28575">
            <a:solidFill>
              <a:srgbClr val="2E86D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0576" y="3229273"/>
            <a:ext cx="87020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E8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</a:t>
            </a:r>
            <a:endParaRPr lang="en-US" sz="550" dirty="0"/>
          </a:p>
        </p:txBody>
      </p:sp>
      <p:sp>
        <p:nvSpPr>
          <p:cNvPr id="42" name="Text 40"/>
          <p:cNvSpPr/>
          <p:nvPr/>
        </p:nvSpPr>
        <p:spPr>
          <a:xfrm>
            <a:off x="320576" y="3321248"/>
            <a:ext cx="870205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228600" y="3489424"/>
            <a:ext cx="8686800" cy="390227"/>
          </a:xfrm>
          <a:prstGeom prst="rect">
            <a:avLst/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Shape 42"/>
          <p:cNvSpPr/>
          <p:nvPr/>
        </p:nvSpPr>
        <p:spPr>
          <a:xfrm>
            <a:off x="242888" y="3489424"/>
            <a:ext cx="0" cy="390227"/>
          </a:xfrm>
          <a:prstGeom prst="line">
            <a:avLst/>
          </a:prstGeom>
          <a:noFill/>
          <a:ln w="28575">
            <a:solidFill>
              <a:srgbClr val="27AE6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20576" y="3514725"/>
            <a:ext cx="87020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</a:t>
            </a:r>
            <a:endParaRPr lang="en-US" sz="550" dirty="0"/>
          </a:p>
        </p:txBody>
      </p:sp>
      <p:sp>
        <p:nvSpPr>
          <p:cNvPr id="46" name="Text 44"/>
          <p:cNvSpPr/>
          <p:nvPr/>
        </p:nvSpPr>
        <p:spPr>
          <a:xfrm>
            <a:off x="320576" y="3606701"/>
            <a:ext cx="870205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you, Emma! Your information has been saved.</a:t>
            </a:r>
            <a:endParaRPr lang="en-US" sz="750" dirty="0"/>
          </a:p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endParaRPr lang="en-US" sz="750" dirty="0"/>
          </a:p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Now, regarding the demo — let me connect you with our sales team who can schedule that for you. They'll reach out to you at emma@lyondigital.com to arrange a convenient ...</a:t>
            </a:r>
            <a:endParaRPr lang="en-US" sz="7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34901"/>
          </a:xfrm>
          <a:prstGeom prst="rect">
            <a:avLst/>
          </a:prstGeom>
          <a:solidFill>
            <a:srgbClr val="1B2A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53901" y="149126"/>
            <a:ext cx="880892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TC-E1 — Billing Issue Routing </a:t>
            </a:r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07802" y="371326"/>
            <a:ext cx="854994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8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Customer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28600" y="736402"/>
            <a:ext cx="8686800" cy="145852"/>
          </a:xfrm>
          <a:prstGeom prst="roundRect">
            <a:avLst>
              <a:gd name="adj" fmla="val 26122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04800" y="761702"/>
            <a:ext cx="870508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Billing triage + escalation. Email not required per reverted spec.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228600" y="920353"/>
            <a:ext cx="8686800" cy="266402"/>
          </a:xfrm>
          <a:prstGeom prst="rect">
            <a:avLst/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242888" y="920353"/>
            <a:ext cx="0" cy="266402"/>
          </a:xfrm>
          <a:prstGeom prst="line">
            <a:avLst/>
          </a:prstGeom>
          <a:noFill/>
          <a:ln w="28575">
            <a:solidFill>
              <a:srgbClr val="2E86D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576" y="945654"/>
            <a:ext cx="87020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E8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</a:t>
            </a:r>
            <a:endParaRPr lang="en-US" sz="550" dirty="0"/>
          </a:p>
        </p:txBody>
      </p:sp>
      <p:sp>
        <p:nvSpPr>
          <p:cNvPr id="10" name="Text 8"/>
          <p:cNvSpPr/>
          <p:nvPr/>
        </p:nvSpPr>
        <p:spPr>
          <a:xfrm>
            <a:off x="320576" y="1037630"/>
            <a:ext cx="870205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think I was overcharged on last month's bill.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228600" y="1205805"/>
            <a:ext cx="8686800" cy="266402"/>
          </a:xfrm>
          <a:prstGeom prst="rect">
            <a:avLst/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242888" y="1205805"/>
            <a:ext cx="0" cy="266402"/>
          </a:xfrm>
          <a:prstGeom prst="line">
            <a:avLst/>
          </a:prstGeom>
          <a:noFill/>
          <a:ln w="28575">
            <a:solidFill>
              <a:srgbClr val="27AE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576" y="1231106"/>
            <a:ext cx="87020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</a:t>
            </a:r>
            <a:endParaRPr lang="en-US" sz="550" dirty="0"/>
          </a:p>
        </p:txBody>
      </p:sp>
      <p:sp>
        <p:nvSpPr>
          <p:cNvPr id="14" name="Text 12"/>
          <p:cNvSpPr/>
          <p:nvPr/>
        </p:nvSpPr>
        <p:spPr>
          <a:xfrm>
            <a:off x="320576" y="1323082"/>
            <a:ext cx="870205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I'm sorry to hear that! I'd be happy to help get this sorted out.</a:t>
            </a:r>
            <a:endParaRPr lang="en-US" sz="750" dirty="0"/>
          </a:p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endParaRPr lang="en-US" sz="750" dirty="0"/>
          </a:p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Could I get your company name and Account ID so I can pull up your account?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228600" y="1491258"/>
            <a:ext cx="8686800" cy="266402"/>
          </a:xfrm>
          <a:prstGeom prst="rect">
            <a:avLst/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242888" y="1491258"/>
            <a:ext cx="0" cy="266402"/>
          </a:xfrm>
          <a:prstGeom prst="line">
            <a:avLst/>
          </a:prstGeom>
          <a:noFill/>
          <a:ln w="28575">
            <a:solidFill>
              <a:srgbClr val="2E86D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576" y="1516559"/>
            <a:ext cx="87020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E8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</a:t>
            </a:r>
            <a:endParaRPr lang="en-US" sz="550" dirty="0"/>
          </a:p>
        </p:txBody>
      </p:sp>
      <p:sp>
        <p:nvSpPr>
          <p:cNvPr id="18" name="Text 16"/>
          <p:cNvSpPr/>
          <p:nvPr/>
        </p:nvSpPr>
        <p:spPr>
          <a:xfrm>
            <a:off x="320576" y="1608534"/>
            <a:ext cx="870205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 Bradley, Hartley Insurance UK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228600" y="1776710"/>
            <a:ext cx="8686800" cy="266402"/>
          </a:xfrm>
          <a:prstGeom prst="rect">
            <a:avLst/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242888" y="1776710"/>
            <a:ext cx="0" cy="266402"/>
          </a:xfrm>
          <a:prstGeom prst="line">
            <a:avLst/>
          </a:prstGeom>
          <a:noFill/>
          <a:ln w="28575">
            <a:solidFill>
              <a:srgbClr val="27AE6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576" y="1802011"/>
            <a:ext cx="87020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</a:t>
            </a:r>
            <a:endParaRPr lang="en-US" sz="550" dirty="0"/>
          </a:p>
        </p:txBody>
      </p:sp>
      <p:sp>
        <p:nvSpPr>
          <p:cNvPr id="22" name="Text 20"/>
          <p:cNvSpPr/>
          <p:nvPr/>
        </p:nvSpPr>
        <p:spPr>
          <a:xfrm>
            <a:off x="320576" y="1893987"/>
            <a:ext cx="870205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you, Tom. Could I also get your Account ID so I can locate your account?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228600" y="2062163"/>
            <a:ext cx="8686800" cy="266402"/>
          </a:xfrm>
          <a:prstGeom prst="rect">
            <a:avLst/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242888" y="2062163"/>
            <a:ext cx="0" cy="266402"/>
          </a:xfrm>
          <a:prstGeom prst="line">
            <a:avLst/>
          </a:prstGeom>
          <a:noFill/>
          <a:ln w="28575">
            <a:solidFill>
              <a:srgbClr val="2E86D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576" y="2087463"/>
            <a:ext cx="87020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E8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</a:t>
            </a:r>
            <a:endParaRPr lang="en-US" sz="550" dirty="0"/>
          </a:p>
        </p:txBody>
      </p:sp>
      <p:sp>
        <p:nvSpPr>
          <p:cNvPr id="26" name="Text 24"/>
          <p:cNvSpPr/>
          <p:nvPr/>
        </p:nvSpPr>
        <p:spPr>
          <a:xfrm>
            <a:off x="320576" y="2179439"/>
            <a:ext cx="870205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HART-UK-2023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228600" y="2347615"/>
            <a:ext cx="8686800" cy="390227"/>
          </a:xfrm>
          <a:prstGeom prst="rect">
            <a:avLst/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242888" y="2347615"/>
            <a:ext cx="0" cy="390227"/>
          </a:xfrm>
          <a:prstGeom prst="line">
            <a:avLst/>
          </a:prstGeom>
          <a:noFill/>
          <a:ln w="28575">
            <a:solidFill>
              <a:srgbClr val="27AE6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576" y="2372916"/>
            <a:ext cx="87020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</a:t>
            </a:r>
            <a:endParaRPr lang="en-US" sz="550" dirty="0"/>
          </a:p>
        </p:txBody>
      </p:sp>
      <p:sp>
        <p:nvSpPr>
          <p:cNvPr id="30" name="Text 28"/>
          <p:cNvSpPr/>
          <p:nvPr/>
        </p:nvSpPr>
        <p:spPr>
          <a:xfrm>
            <a:off x="320576" y="2464891"/>
            <a:ext cx="870205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you, Tom. Let me save your details and get you connected with the right team.I've located your account, Tom. Since this is a billing concern, I'm connecting you with our billing team now. They'll be with you shortl...</a:t>
            </a:r>
            <a:endParaRPr lang="en-US" sz="7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34901"/>
          </a:xfrm>
          <a:prstGeom prst="rect">
            <a:avLst/>
          </a:prstGeom>
          <a:solidFill>
            <a:srgbClr val="1B2A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53901" y="149126"/>
            <a:ext cx="880892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TC-E2 — Technical Issue Routing </a:t>
            </a:r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07802" y="371326"/>
            <a:ext cx="854994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8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Customer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28600" y="736402"/>
            <a:ext cx="8686800" cy="145852"/>
          </a:xfrm>
          <a:prstGeom prst="roundRect">
            <a:avLst>
              <a:gd name="adj" fmla="val 26122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04800" y="761702"/>
            <a:ext cx="870508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"name not available" handled gracefully. Technical escalation with service number.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228600" y="920353"/>
            <a:ext cx="8686800" cy="266402"/>
          </a:xfrm>
          <a:prstGeom prst="rect">
            <a:avLst/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242888" y="920353"/>
            <a:ext cx="0" cy="266402"/>
          </a:xfrm>
          <a:prstGeom prst="line">
            <a:avLst/>
          </a:prstGeom>
          <a:noFill/>
          <a:ln w="28575">
            <a:solidFill>
              <a:srgbClr val="2E86D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576" y="945654"/>
            <a:ext cx="87020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E8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</a:t>
            </a:r>
            <a:endParaRPr lang="en-US" sz="550" dirty="0"/>
          </a:p>
        </p:txBody>
      </p:sp>
      <p:sp>
        <p:nvSpPr>
          <p:cNvPr id="10" name="Text 8"/>
          <p:cNvSpPr/>
          <p:nvPr/>
        </p:nvSpPr>
        <p:spPr>
          <a:xfrm>
            <a:off x="320576" y="1037630"/>
            <a:ext cx="870205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quality is really bad during calls on CINNOX.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228600" y="1205805"/>
            <a:ext cx="8686800" cy="266402"/>
          </a:xfrm>
          <a:prstGeom prst="rect">
            <a:avLst/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242888" y="1205805"/>
            <a:ext cx="0" cy="266402"/>
          </a:xfrm>
          <a:prstGeom prst="line">
            <a:avLst/>
          </a:prstGeom>
          <a:noFill/>
          <a:ln w="28575">
            <a:solidFill>
              <a:srgbClr val="27AE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576" y="1231106"/>
            <a:ext cx="87020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</a:t>
            </a:r>
            <a:endParaRPr lang="en-US" sz="550" dirty="0"/>
          </a:p>
        </p:txBody>
      </p:sp>
      <p:sp>
        <p:nvSpPr>
          <p:cNvPr id="14" name="Text 12"/>
          <p:cNvSpPr/>
          <p:nvPr/>
        </p:nvSpPr>
        <p:spPr>
          <a:xfrm>
            <a:off x="320576" y="1323082"/>
            <a:ext cx="870205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I'm sorry to hear you're experiencing voice quality issues. I'd be happy to help get this resolved!</a:t>
            </a:r>
            <a:endParaRPr lang="en-US" sz="750" dirty="0"/>
          </a:p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endParaRPr lang="en-US" sz="750" dirty="0"/>
          </a:p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Could I get your company name and Account ID so I can pull up your account?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228600" y="1491258"/>
            <a:ext cx="8686800" cy="266402"/>
          </a:xfrm>
          <a:prstGeom prst="rect">
            <a:avLst/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242888" y="1491258"/>
            <a:ext cx="0" cy="266402"/>
          </a:xfrm>
          <a:prstGeom prst="line">
            <a:avLst/>
          </a:prstGeom>
          <a:noFill/>
          <a:ln w="28575">
            <a:solidFill>
              <a:srgbClr val="2E86D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576" y="1516559"/>
            <a:ext cx="87020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E8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</a:t>
            </a:r>
            <a:endParaRPr lang="en-US" sz="550" dirty="0"/>
          </a:p>
        </p:txBody>
      </p:sp>
      <p:sp>
        <p:nvSpPr>
          <p:cNvPr id="18" name="Text 16"/>
          <p:cNvSpPr/>
          <p:nvPr/>
        </p:nvSpPr>
        <p:spPr>
          <a:xfrm>
            <a:off x="320576" y="1608534"/>
            <a:ext cx="870205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PBHK-2024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228600" y="1776710"/>
            <a:ext cx="8686800" cy="266402"/>
          </a:xfrm>
          <a:prstGeom prst="rect">
            <a:avLst/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242888" y="1776710"/>
            <a:ext cx="0" cy="266402"/>
          </a:xfrm>
          <a:prstGeom prst="line">
            <a:avLst/>
          </a:prstGeom>
          <a:noFill/>
          <a:ln w="28575">
            <a:solidFill>
              <a:srgbClr val="27AE6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576" y="1802011"/>
            <a:ext cx="87020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</a:t>
            </a:r>
            <a:endParaRPr lang="en-US" sz="550" dirty="0"/>
          </a:p>
        </p:txBody>
      </p:sp>
      <p:sp>
        <p:nvSpPr>
          <p:cNvPr id="22" name="Text 20"/>
          <p:cNvSpPr/>
          <p:nvPr/>
        </p:nvSpPr>
        <p:spPr>
          <a:xfrm>
            <a:off x="320576" y="1893987"/>
            <a:ext cx="870205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 And could you also provide your company name so I can locate your account?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228600" y="2062163"/>
            <a:ext cx="8686800" cy="266402"/>
          </a:xfrm>
          <a:prstGeom prst="rect">
            <a:avLst/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242888" y="2062163"/>
            <a:ext cx="0" cy="266402"/>
          </a:xfrm>
          <a:prstGeom prst="line">
            <a:avLst/>
          </a:prstGeom>
          <a:noFill/>
          <a:ln w="28575">
            <a:solidFill>
              <a:srgbClr val="2E86D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576" y="2087463"/>
            <a:ext cx="87020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E8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</a:t>
            </a:r>
            <a:endParaRPr lang="en-US" sz="550" dirty="0"/>
          </a:p>
        </p:txBody>
      </p:sp>
      <p:sp>
        <p:nvSpPr>
          <p:cNvPr id="26" name="Text 24"/>
          <p:cNvSpPr/>
          <p:nvPr/>
        </p:nvSpPr>
        <p:spPr>
          <a:xfrm>
            <a:off x="320576" y="2179439"/>
            <a:ext cx="870205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Pacific Bank HK.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228600" y="2347615"/>
            <a:ext cx="8686800" cy="390227"/>
          </a:xfrm>
          <a:prstGeom prst="rect">
            <a:avLst/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242888" y="2347615"/>
            <a:ext cx="0" cy="390227"/>
          </a:xfrm>
          <a:prstGeom prst="line">
            <a:avLst/>
          </a:prstGeom>
          <a:noFill/>
          <a:ln w="28575">
            <a:solidFill>
              <a:srgbClr val="27AE6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576" y="2372916"/>
            <a:ext cx="87020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</a:t>
            </a:r>
            <a:endParaRPr lang="en-US" sz="550" dirty="0"/>
          </a:p>
        </p:txBody>
      </p:sp>
      <p:sp>
        <p:nvSpPr>
          <p:cNvPr id="30" name="Text 28"/>
          <p:cNvSpPr/>
          <p:nvPr/>
        </p:nvSpPr>
        <p:spPr>
          <a:xfrm>
            <a:off x="320576" y="2464891"/>
            <a:ext cx="870205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 Let me save your account details.</a:t>
            </a:r>
            <a:endParaRPr lang="en-US" sz="750" dirty="0"/>
          </a:p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endParaRPr lang="en-US" sz="750" dirty="0"/>
          </a:p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Since you're reporting a voice quality issue, I'll need a couple more details to help our support team investigate:</a:t>
            </a:r>
            <a:endParaRPr lang="en-US" sz="750" dirty="0"/>
          </a:p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endParaRPr lang="en-US" sz="750" dirty="0"/>
          </a:p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What is the **service number** affected?</a:t>
            </a:r>
            <a:endParaRPr lang="en-US" sz="750" dirty="0"/>
          </a:p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What is ...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228600" y="2756892"/>
            <a:ext cx="8686800" cy="266402"/>
          </a:xfrm>
          <a:prstGeom prst="rect">
            <a:avLst/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242888" y="2756892"/>
            <a:ext cx="0" cy="266402"/>
          </a:xfrm>
          <a:prstGeom prst="line">
            <a:avLst/>
          </a:prstGeom>
          <a:noFill/>
          <a:ln w="28575">
            <a:solidFill>
              <a:srgbClr val="2E86D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576" y="2782193"/>
            <a:ext cx="87020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E8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</a:t>
            </a:r>
            <a:endParaRPr lang="en-US" sz="550" dirty="0"/>
          </a:p>
        </p:txBody>
      </p:sp>
      <p:sp>
        <p:nvSpPr>
          <p:cNvPr id="34" name="Text 32"/>
          <p:cNvSpPr/>
          <p:nvPr/>
        </p:nvSpPr>
        <p:spPr>
          <a:xfrm>
            <a:off x="320576" y="2874169"/>
            <a:ext cx="870205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+852-1234-5678, name not available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228600" y="3042345"/>
            <a:ext cx="8686800" cy="390227"/>
          </a:xfrm>
          <a:prstGeom prst="rect">
            <a:avLst/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Shape 34"/>
          <p:cNvSpPr/>
          <p:nvPr/>
        </p:nvSpPr>
        <p:spPr>
          <a:xfrm>
            <a:off x="242888" y="3042345"/>
            <a:ext cx="0" cy="390227"/>
          </a:xfrm>
          <a:prstGeom prst="line">
            <a:avLst/>
          </a:prstGeom>
          <a:noFill/>
          <a:ln w="28575">
            <a:solidFill>
              <a:srgbClr val="27AE6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576" y="3067645"/>
            <a:ext cx="87020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</a:t>
            </a:r>
            <a:endParaRPr lang="en-US" sz="550" dirty="0"/>
          </a:p>
        </p:txBody>
      </p:sp>
      <p:sp>
        <p:nvSpPr>
          <p:cNvPr id="38" name="Text 36"/>
          <p:cNvSpPr/>
          <p:nvPr/>
        </p:nvSpPr>
        <p:spPr>
          <a:xfrm>
            <a:off x="320576" y="3159621"/>
            <a:ext cx="870205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 for the details. Let me save this and connect you with our support team right away.I'm connecting you with our support team now. They'll be with you shortly.</a:t>
            </a:r>
            <a:endParaRPr lang="en-US" sz="750" dirty="0"/>
          </a:p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endParaRPr lang="en-US" sz="750" dirty="0"/>
          </a:p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They'll have your account details and the service...</a:t>
            </a:r>
            <a:endParaRPr lang="en-US" sz="7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34901"/>
          </a:xfrm>
          <a:prstGeom prst="rect">
            <a:avLst/>
          </a:prstGeom>
          <a:solidFill>
            <a:srgbClr val="1B2A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53901" y="149126"/>
            <a:ext cx="880892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TC-F1 — Knowledge Boundary </a:t>
            </a:r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07802" y="371326"/>
            <a:ext cx="854994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8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Handoff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28600" y="736402"/>
            <a:ext cx="8686800" cy="145852"/>
          </a:xfrm>
          <a:prstGeom prst="roundRect">
            <a:avLst>
              <a:gd name="adj" fmla="val 26122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04800" y="761702"/>
            <a:ext cx="870508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 encryption architecture — acknowledged limits, deferred to specialist. Zero fabrication.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228600" y="920353"/>
            <a:ext cx="8686800" cy="266402"/>
          </a:xfrm>
          <a:prstGeom prst="rect">
            <a:avLst/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242888" y="920353"/>
            <a:ext cx="0" cy="266402"/>
          </a:xfrm>
          <a:prstGeom prst="line">
            <a:avLst/>
          </a:prstGeom>
          <a:noFill/>
          <a:ln w="28575">
            <a:solidFill>
              <a:srgbClr val="2E86D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576" y="945654"/>
            <a:ext cx="87020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E8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</a:t>
            </a:r>
            <a:endParaRPr lang="en-US" sz="550" dirty="0"/>
          </a:p>
        </p:txBody>
      </p:sp>
      <p:sp>
        <p:nvSpPr>
          <p:cNvPr id="10" name="Text 8"/>
          <p:cNvSpPr/>
          <p:nvPr/>
        </p:nvSpPr>
        <p:spPr>
          <a:xfrm>
            <a:off x="320576" y="1037630"/>
            <a:ext cx="870205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Please explain your database encryption architecture in detail, including key management and at-rest encryption standards.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228600" y="1205805"/>
            <a:ext cx="8686800" cy="266402"/>
          </a:xfrm>
          <a:prstGeom prst="rect">
            <a:avLst/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242888" y="1205805"/>
            <a:ext cx="0" cy="266402"/>
          </a:xfrm>
          <a:prstGeom prst="line">
            <a:avLst/>
          </a:prstGeom>
          <a:noFill/>
          <a:ln w="28575">
            <a:solidFill>
              <a:srgbClr val="27AE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576" y="1231106"/>
            <a:ext cx="87020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</a:t>
            </a:r>
            <a:endParaRPr lang="en-US" sz="550" dirty="0"/>
          </a:p>
        </p:txBody>
      </p:sp>
      <p:sp>
        <p:nvSpPr>
          <p:cNvPr id="14" name="Text 12"/>
          <p:cNvSpPr/>
          <p:nvPr/>
        </p:nvSpPr>
        <p:spPr>
          <a:xfrm>
            <a:off x="320576" y="1323082"/>
            <a:ext cx="870205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I'd be happy to help with that! To make sure I connect you with the right resources — are you an existing CINNOX customer, or are you new to us?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228600" y="1491258"/>
            <a:ext cx="8686800" cy="266402"/>
          </a:xfrm>
          <a:prstGeom prst="rect">
            <a:avLst/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242888" y="1491258"/>
            <a:ext cx="0" cy="266402"/>
          </a:xfrm>
          <a:prstGeom prst="line">
            <a:avLst/>
          </a:prstGeom>
          <a:noFill/>
          <a:ln w="28575">
            <a:solidFill>
              <a:srgbClr val="2E86D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576" y="1516559"/>
            <a:ext cx="87020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E8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</a:t>
            </a:r>
            <a:endParaRPr lang="en-US" sz="550" dirty="0"/>
          </a:p>
        </p:txBody>
      </p:sp>
      <p:sp>
        <p:nvSpPr>
          <p:cNvPr id="18" name="Text 16"/>
          <p:cNvSpPr/>
          <p:nvPr/>
        </p:nvSpPr>
        <p:spPr>
          <a:xfrm>
            <a:off x="320576" y="1608534"/>
            <a:ext cx="870205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228600" y="1776710"/>
            <a:ext cx="8686800" cy="266402"/>
          </a:xfrm>
          <a:prstGeom prst="rect">
            <a:avLst/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242888" y="1776710"/>
            <a:ext cx="0" cy="266402"/>
          </a:xfrm>
          <a:prstGeom prst="line">
            <a:avLst/>
          </a:prstGeom>
          <a:noFill/>
          <a:ln w="28575">
            <a:solidFill>
              <a:srgbClr val="27AE6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576" y="1802011"/>
            <a:ext cx="87020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</a:t>
            </a:r>
            <a:endParaRPr lang="en-US" sz="550" dirty="0"/>
          </a:p>
        </p:txBody>
      </p:sp>
      <p:sp>
        <p:nvSpPr>
          <p:cNvPr id="22" name="Text 20"/>
          <p:cNvSpPr/>
          <p:nvPr/>
        </p:nvSpPr>
        <p:spPr>
          <a:xfrm>
            <a:off x="320576" y="1893987"/>
            <a:ext cx="870205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Great! May I start with your name?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228600" y="2062163"/>
            <a:ext cx="8686800" cy="266402"/>
          </a:xfrm>
          <a:prstGeom prst="rect">
            <a:avLst/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242888" y="2062163"/>
            <a:ext cx="0" cy="266402"/>
          </a:xfrm>
          <a:prstGeom prst="line">
            <a:avLst/>
          </a:prstGeom>
          <a:noFill/>
          <a:ln w="28575">
            <a:solidFill>
              <a:srgbClr val="2E86D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576" y="2087463"/>
            <a:ext cx="87020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E8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</a:t>
            </a:r>
            <a:endParaRPr lang="en-US" sz="550" dirty="0"/>
          </a:p>
        </p:txBody>
      </p:sp>
      <p:sp>
        <p:nvSpPr>
          <p:cNvPr id="26" name="Text 24"/>
          <p:cNvSpPr/>
          <p:nvPr/>
        </p:nvSpPr>
        <p:spPr>
          <a:xfrm>
            <a:off x="320576" y="2179439"/>
            <a:ext cx="870205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Jason, PC bank, jason@pcb.com, +85211771177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228600" y="2347615"/>
            <a:ext cx="8686800" cy="266402"/>
          </a:xfrm>
          <a:prstGeom prst="rect">
            <a:avLst/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242888" y="2347615"/>
            <a:ext cx="0" cy="266402"/>
          </a:xfrm>
          <a:prstGeom prst="line">
            <a:avLst/>
          </a:prstGeom>
          <a:noFill/>
          <a:ln w="28575">
            <a:solidFill>
              <a:srgbClr val="27AE6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576" y="2372916"/>
            <a:ext cx="87020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</a:t>
            </a:r>
            <a:endParaRPr lang="en-US" sz="550" dirty="0"/>
          </a:p>
        </p:txBody>
      </p:sp>
      <p:sp>
        <p:nvSpPr>
          <p:cNvPr id="30" name="Text 28"/>
          <p:cNvSpPr/>
          <p:nvPr/>
        </p:nvSpPr>
        <p:spPr>
          <a:xfrm>
            <a:off x="320576" y="2464891"/>
            <a:ext cx="870205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 me confirm your details:</a:t>
            </a:r>
            <a:endParaRPr lang="en-US" sz="750" dirty="0"/>
          </a:p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endParaRPr lang="en-US" sz="750" dirty="0"/>
          </a:p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**Name:** Jason</a:t>
            </a:r>
            <a:endParaRPr lang="en-US" sz="750" dirty="0"/>
          </a:p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**Company:** PC Bank</a:t>
            </a:r>
            <a:endParaRPr lang="en-US" sz="750" dirty="0"/>
          </a:p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**Email:** jason@pcb.com</a:t>
            </a:r>
            <a:endParaRPr lang="en-US" sz="750" dirty="0"/>
          </a:p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**Phone:** +85211771177</a:t>
            </a:r>
            <a:endParaRPr lang="en-US" sz="750" dirty="0"/>
          </a:p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endParaRPr lang="en-US" sz="750" dirty="0"/>
          </a:p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that correct?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228600" y="2633067"/>
            <a:ext cx="8686800" cy="266402"/>
          </a:xfrm>
          <a:prstGeom prst="rect">
            <a:avLst/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242888" y="2633067"/>
            <a:ext cx="0" cy="266402"/>
          </a:xfrm>
          <a:prstGeom prst="line">
            <a:avLst/>
          </a:prstGeom>
          <a:noFill/>
          <a:ln w="28575">
            <a:solidFill>
              <a:srgbClr val="2E86D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576" y="2658368"/>
            <a:ext cx="87020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E8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</a:t>
            </a:r>
            <a:endParaRPr lang="en-US" sz="550" dirty="0"/>
          </a:p>
        </p:txBody>
      </p:sp>
      <p:sp>
        <p:nvSpPr>
          <p:cNvPr id="34" name="Text 32"/>
          <p:cNvSpPr/>
          <p:nvPr/>
        </p:nvSpPr>
        <p:spPr>
          <a:xfrm>
            <a:off x="320576" y="2750344"/>
            <a:ext cx="870205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228600" y="2918520"/>
            <a:ext cx="8686800" cy="390227"/>
          </a:xfrm>
          <a:prstGeom prst="rect">
            <a:avLst/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Shape 34"/>
          <p:cNvSpPr/>
          <p:nvPr/>
        </p:nvSpPr>
        <p:spPr>
          <a:xfrm>
            <a:off x="242888" y="2918520"/>
            <a:ext cx="0" cy="390227"/>
          </a:xfrm>
          <a:prstGeom prst="line">
            <a:avLst/>
          </a:prstGeom>
          <a:noFill/>
          <a:ln w="28575">
            <a:solidFill>
              <a:srgbClr val="27AE6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576" y="2943820"/>
            <a:ext cx="87020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</a:t>
            </a:r>
            <a:endParaRPr lang="en-US" sz="550" dirty="0"/>
          </a:p>
        </p:txBody>
      </p:sp>
      <p:sp>
        <p:nvSpPr>
          <p:cNvPr id="38" name="Text 36"/>
          <p:cNvSpPr/>
          <p:nvPr/>
        </p:nvSpPr>
        <p:spPr>
          <a:xfrm>
            <a:off x="320576" y="3035796"/>
            <a:ext cx="870205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you, Jason! Your information has been saved.</a:t>
            </a:r>
            <a:endParaRPr lang="en-US" sz="750" dirty="0"/>
          </a:p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endParaRPr lang="en-US" sz="750" dirty="0"/>
          </a:p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Now, regarding your question about database encryption architecture — this is a deep technical topic that our solutions team is best equipped to walk you through in det...</a:t>
            </a:r>
            <a:endParaRPr lang="en-US" sz="7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34901"/>
          </a:xfrm>
          <a:prstGeom prst="rect">
            <a:avLst/>
          </a:prstGeom>
          <a:solidFill>
            <a:srgbClr val="1B2A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53901" y="149126"/>
            <a:ext cx="880892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TC-F2 — Immediate Human Request </a:t>
            </a:r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</a:t>
            </a:r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07802" y="371326"/>
            <a:ext cx="854994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8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Handoff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28600" y="736402"/>
            <a:ext cx="8686800" cy="145852"/>
          </a:xfrm>
          <a:prstGeom prst="roundRect">
            <a:avLst>
              <a:gd name="adj" fmla="val 26122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04800" y="761702"/>
            <a:ext cx="870508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Perfect: immediate routing in 1 response, zero qualifying questions. 2-turn session.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228600" y="920353"/>
            <a:ext cx="8686800" cy="266402"/>
          </a:xfrm>
          <a:prstGeom prst="rect">
            <a:avLst/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242888" y="920353"/>
            <a:ext cx="0" cy="266402"/>
          </a:xfrm>
          <a:prstGeom prst="line">
            <a:avLst/>
          </a:prstGeom>
          <a:noFill/>
          <a:ln w="28575">
            <a:solidFill>
              <a:srgbClr val="2E86D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576" y="945654"/>
            <a:ext cx="87020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E8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</a:t>
            </a:r>
            <a:endParaRPr lang="en-US" sz="550" dirty="0"/>
          </a:p>
        </p:txBody>
      </p:sp>
      <p:sp>
        <p:nvSpPr>
          <p:cNvPr id="10" name="Text 8"/>
          <p:cNvSpPr/>
          <p:nvPr/>
        </p:nvSpPr>
        <p:spPr>
          <a:xfrm>
            <a:off x="320576" y="1037630"/>
            <a:ext cx="870205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want to talk to a human representative immediately.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228600" y="1205805"/>
            <a:ext cx="8686800" cy="390227"/>
          </a:xfrm>
          <a:prstGeom prst="rect">
            <a:avLst/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242888" y="1205805"/>
            <a:ext cx="0" cy="390227"/>
          </a:xfrm>
          <a:prstGeom prst="line">
            <a:avLst/>
          </a:prstGeom>
          <a:noFill/>
          <a:ln w="28575">
            <a:solidFill>
              <a:srgbClr val="27AE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576" y="1231106"/>
            <a:ext cx="87020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</a:t>
            </a:r>
            <a:endParaRPr lang="en-US" sz="550" dirty="0"/>
          </a:p>
        </p:txBody>
      </p:sp>
      <p:sp>
        <p:nvSpPr>
          <p:cNvPr id="14" name="Text 12"/>
          <p:cNvSpPr/>
          <p:nvPr/>
        </p:nvSpPr>
        <p:spPr>
          <a:xfrm>
            <a:off x="320576" y="1323082"/>
            <a:ext cx="870205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course! Let me connect you with a human agent right away.</a:t>
            </a:r>
            <a:endParaRPr lang="en-US" sz="750" dirty="0"/>
          </a:p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endParaRPr lang="en-US" sz="750" dirty="0"/>
          </a:p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━━━━━━━━━━━━━━━━━━━━━━━━━━━━━━━━━━━━━━━━━━━━━</a:t>
            </a:r>
            <a:endParaRPr lang="en-US" sz="750" dirty="0"/>
          </a:p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Session Ended</a:t>
            </a:r>
            <a:endParaRPr lang="en-US" sz="750" dirty="0"/>
          </a:p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━━━━━━━━━━━━━━━━━━━━━━━━━━━━━━━━━━━━━━━━━━━━━</a:t>
            </a:r>
            <a:endParaRPr lang="en-US" sz="7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34901"/>
          </a:xfrm>
          <a:prstGeom prst="rect">
            <a:avLst/>
          </a:prstGeom>
          <a:solidFill>
            <a:srgbClr val="1B2A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53901" y="149126"/>
            <a:ext cx="880892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TC-G1 — Multi-Turn DID Pricing </a:t>
            </a:r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07802" y="371326"/>
            <a:ext cx="854994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8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Continuity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28600" y="736402"/>
            <a:ext cx="8686800" cy="145852"/>
          </a:xfrm>
          <a:prstGeom prst="roundRect">
            <a:avLst>
              <a:gd name="adj" fmla="val 26122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04800" y="761702"/>
            <a:ext cx="870508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UK $19, Germany $19, HK $25. Perfect context continuity across 3 follow-ups.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228600" y="920353"/>
            <a:ext cx="8686800" cy="266402"/>
          </a:xfrm>
          <a:prstGeom prst="rect">
            <a:avLst/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242888" y="920353"/>
            <a:ext cx="0" cy="266402"/>
          </a:xfrm>
          <a:prstGeom prst="line">
            <a:avLst/>
          </a:prstGeom>
          <a:noFill/>
          <a:ln w="28575">
            <a:solidFill>
              <a:srgbClr val="2E86D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576" y="945654"/>
            <a:ext cx="87020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E8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</a:t>
            </a:r>
            <a:endParaRPr lang="en-US" sz="550" dirty="0"/>
          </a:p>
        </p:txBody>
      </p:sp>
      <p:sp>
        <p:nvSpPr>
          <p:cNvPr id="10" name="Text 8"/>
          <p:cNvSpPr/>
          <p:nvPr/>
        </p:nvSpPr>
        <p:spPr>
          <a:xfrm>
            <a:off x="320576" y="1037630"/>
            <a:ext cx="870205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much is a UK local number?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228600" y="1205805"/>
            <a:ext cx="8686800" cy="266402"/>
          </a:xfrm>
          <a:prstGeom prst="rect">
            <a:avLst/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242888" y="1205805"/>
            <a:ext cx="0" cy="266402"/>
          </a:xfrm>
          <a:prstGeom prst="line">
            <a:avLst/>
          </a:prstGeom>
          <a:noFill/>
          <a:ln w="28575">
            <a:solidFill>
              <a:srgbClr val="27AE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576" y="1231106"/>
            <a:ext cx="87020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</a:t>
            </a:r>
            <a:endParaRPr lang="en-US" sz="550" dirty="0"/>
          </a:p>
        </p:txBody>
      </p:sp>
      <p:sp>
        <p:nvSpPr>
          <p:cNvPr id="14" name="Text 12"/>
          <p:cNvSpPr/>
          <p:nvPr/>
        </p:nvSpPr>
        <p:spPr>
          <a:xfrm>
            <a:off x="320576" y="1323082"/>
            <a:ext cx="870205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I'd be happy to help with that! To make sure I connect you with the right resources — are you an existing CINNOX customer, or are you new to us?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228600" y="1491258"/>
            <a:ext cx="8686800" cy="266402"/>
          </a:xfrm>
          <a:prstGeom prst="rect">
            <a:avLst/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242888" y="1491258"/>
            <a:ext cx="0" cy="266402"/>
          </a:xfrm>
          <a:prstGeom prst="line">
            <a:avLst/>
          </a:prstGeom>
          <a:noFill/>
          <a:ln w="28575">
            <a:solidFill>
              <a:srgbClr val="2E86D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576" y="1516559"/>
            <a:ext cx="87020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E8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</a:t>
            </a:r>
            <a:endParaRPr lang="en-US" sz="550" dirty="0"/>
          </a:p>
        </p:txBody>
      </p:sp>
      <p:sp>
        <p:nvSpPr>
          <p:cNvPr id="18" name="Text 16"/>
          <p:cNvSpPr/>
          <p:nvPr/>
        </p:nvSpPr>
        <p:spPr>
          <a:xfrm>
            <a:off x="320576" y="1608534"/>
            <a:ext cx="870205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  Jason, PC bank, jason@pcb.com, +85211771177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228600" y="1776710"/>
            <a:ext cx="8686800" cy="266402"/>
          </a:xfrm>
          <a:prstGeom prst="rect">
            <a:avLst/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242888" y="1776710"/>
            <a:ext cx="0" cy="266402"/>
          </a:xfrm>
          <a:prstGeom prst="line">
            <a:avLst/>
          </a:prstGeom>
          <a:noFill/>
          <a:ln w="28575">
            <a:solidFill>
              <a:srgbClr val="27AE6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576" y="1802011"/>
            <a:ext cx="87020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</a:t>
            </a:r>
            <a:endParaRPr lang="en-US" sz="550" dirty="0"/>
          </a:p>
        </p:txBody>
      </p:sp>
      <p:sp>
        <p:nvSpPr>
          <p:cNvPr id="22" name="Text 20"/>
          <p:cNvSpPr/>
          <p:nvPr/>
        </p:nvSpPr>
        <p:spPr>
          <a:xfrm>
            <a:off x="320576" y="1893987"/>
            <a:ext cx="870205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Thanks, Jason! Let me confirm your details:</a:t>
            </a:r>
            <a:endParaRPr lang="en-US" sz="750" dirty="0"/>
          </a:p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endParaRPr lang="en-US" sz="750" dirty="0"/>
          </a:p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**Name:** Jason</a:t>
            </a:r>
            <a:endParaRPr lang="en-US" sz="750" dirty="0"/>
          </a:p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**Company:** PC Bank</a:t>
            </a:r>
            <a:endParaRPr lang="en-US" sz="750" dirty="0"/>
          </a:p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**Email:** jason@pcb.com</a:t>
            </a:r>
            <a:endParaRPr lang="en-US" sz="750" dirty="0"/>
          </a:p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**Phone:** +85211771177</a:t>
            </a:r>
            <a:endParaRPr lang="en-US" sz="750" dirty="0"/>
          </a:p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endParaRPr lang="en-US" sz="750" dirty="0"/>
          </a:p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that correct?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228600" y="2062163"/>
            <a:ext cx="8686800" cy="266402"/>
          </a:xfrm>
          <a:prstGeom prst="rect">
            <a:avLst/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242888" y="2062163"/>
            <a:ext cx="0" cy="266402"/>
          </a:xfrm>
          <a:prstGeom prst="line">
            <a:avLst/>
          </a:prstGeom>
          <a:noFill/>
          <a:ln w="28575">
            <a:solidFill>
              <a:srgbClr val="2E86D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576" y="2087463"/>
            <a:ext cx="87020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E8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</a:t>
            </a:r>
            <a:endParaRPr lang="en-US" sz="550" dirty="0"/>
          </a:p>
        </p:txBody>
      </p:sp>
      <p:sp>
        <p:nvSpPr>
          <p:cNvPr id="26" name="Text 24"/>
          <p:cNvSpPr/>
          <p:nvPr/>
        </p:nvSpPr>
        <p:spPr>
          <a:xfrm>
            <a:off x="320576" y="2179439"/>
            <a:ext cx="870205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228600" y="2347615"/>
            <a:ext cx="8686800" cy="266402"/>
          </a:xfrm>
          <a:prstGeom prst="rect">
            <a:avLst/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242888" y="2347615"/>
            <a:ext cx="0" cy="266402"/>
          </a:xfrm>
          <a:prstGeom prst="line">
            <a:avLst/>
          </a:prstGeom>
          <a:noFill/>
          <a:ln w="28575">
            <a:solidFill>
              <a:srgbClr val="27AE6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576" y="2372916"/>
            <a:ext cx="87020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</a:t>
            </a:r>
            <a:endParaRPr lang="en-US" sz="550" dirty="0"/>
          </a:p>
        </p:txBody>
      </p:sp>
      <p:sp>
        <p:nvSpPr>
          <p:cNvPr id="30" name="Text 28"/>
          <p:cNvSpPr/>
          <p:nvPr/>
        </p:nvSpPr>
        <p:spPr>
          <a:xfrm>
            <a:off x="320576" y="2464891"/>
            <a:ext cx="870205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you, Jason! Your information has been saved.</a:t>
            </a:r>
            <a:endParaRPr lang="en-US" sz="750" dirty="0"/>
          </a:p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endParaRPr lang="en-US" sz="750" dirty="0"/>
          </a:p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Now, regarding your question about UK local number pricing — let me look that up for you.According to our pu...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228600" y="2633067"/>
            <a:ext cx="8686800" cy="266402"/>
          </a:xfrm>
          <a:prstGeom prst="rect">
            <a:avLst/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242888" y="2633067"/>
            <a:ext cx="0" cy="266402"/>
          </a:xfrm>
          <a:prstGeom prst="line">
            <a:avLst/>
          </a:prstGeom>
          <a:noFill/>
          <a:ln w="28575">
            <a:solidFill>
              <a:srgbClr val="2E86D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576" y="2658368"/>
            <a:ext cx="87020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E8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</a:t>
            </a:r>
            <a:endParaRPr lang="en-US" sz="550" dirty="0"/>
          </a:p>
        </p:txBody>
      </p:sp>
      <p:sp>
        <p:nvSpPr>
          <p:cNvPr id="34" name="Text 32"/>
          <p:cNvSpPr/>
          <p:nvPr/>
        </p:nvSpPr>
        <p:spPr>
          <a:xfrm>
            <a:off x="320576" y="2750344"/>
            <a:ext cx="870205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about Germany?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228600" y="2918520"/>
            <a:ext cx="8686800" cy="266402"/>
          </a:xfrm>
          <a:prstGeom prst="rect">
            <a:avLst/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Shape 34"/>
          <p:cNvSpPr/>
          <p:nvPr/>
        </p:nvSpPr>
        <p:spPr>
          <a:xfrm>
            <a:off x="242888" y="2918520"/>
            <a:ext cx="0" cy="266402"/>
          </a:xfrm>
          <a:prstGeom prst="line">
            <a:avLst/>
          </a:prstGeom>
          <a:noFill/>
          <a:ln w="28575">
            <a:solidFill>
              <a:srgbClr val="27AE6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576" y="2943820"/>
            <a:ext cx="87020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</a:t>
            </a:r>
            <a:endParaRPr lang="en-US" sz="550" dirty="0"/>
          </a:p>
        </p:txBody>
      </p:sp>
      <p:sp>
        <p:nvSpPr>
          <p:cNvPr id="38" name="Text 36"/>
          <p:cNvSpPr/>
          <p:nvPr/>
        </p:nvSpPr>
        <p:spPr>
          <a:xfrm>
            <a:off x="320576" y="3035796"/>
            <a:ext cx="870205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**Germany local number (DID)** is also **US$19/month**. Here are the usage rates:</a:t>
            </a:r>
            <a:endParaRPr lang="en-US" sz="750" dirty="0"/>
          </a:p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endParaRPr lang="en-US" sz="750" dirty="0"/>
          </a:p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Rate Type | Price (US$) |</a:t>
            </a:r>
            <a:endParaRPr lang="en-US" sz="750" dirty="0"/>
          </a:p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|---|---|</a:t>
            </a:r>
            <a:endParaRPr lang="en-US" sz="750" dirty="0"/>
          </a:p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Monthly fee (MRC) | $19 |</a:t>
            </a:r>
            <a:endParaRPr lang="en-US" sz="750" dirty="0"/>
          </a:p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Receive...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228600" y="3203972"/>
            <a:ext cx="8686800" cy="266402"/>
          </a:xfrm>
          <a:prstGeom prst="rect">
            <a:avLst/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Shape 38"/>
          <p:cNvSpPr/>
          <p:nvPr/>
        </p:nvSpPr>
        <p:spPr>
          <a:xfrm>
            <a:off x="242888" y="3203972"/>
            <a:ext cx="0" cy="266402"/>
          </a:xfrm>
          <a:prstGeom prst="line">
            <a:avLst/>
          </a:prstGeom>
          <a:noFill/>
          <a:ln w="28575">
            <a:solidFill>
              <a:srgbClr val="2E86D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0576" y="3229273"/>
            <a:ext cx="87020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E8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</a:t>
            </a:r>
            <a:endParaRPr lang="en-US" sz="550" dirty="0"/>
          </a:p>
        </p:txBody>
      </p:sp>
      <p:sp>
        <p:nvSpPr>
          <p:cNvPr id="42" name="Text 40"/>
          <p:cNvSpPr/>
          <p:nvPr/>
        </p:nvSpPr>
        <p:spPr>
          <a:xfrm>
            <a:off x="320576" y="3321248"/>
            <a:ext cx="870205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for Hong Kong?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228600" y="3489424"/>
            <a:ext cx="8686800" cy="266402"/>
          </a:xfrm>
          <a:prstGeom prst="rect">
            <a:avLst/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Shape 42"/>
          <p:cNvSpPr/>
          <p:nvPr/>
        </p:nvSpPr>
        <p:spPr>
          <a:xfrm>
            <a:off x="242888" y="3489424"/>
            <a:ext cx="0" cy="266402"/>
          </a:xfrm>
          <a:prstGeom prst="line">
            <a:avLst/>
          </a:prstGeom>
          <a:noFill/>
          <a:ln w="28575">
            <a:solidFill>
              <a:srgbClr val="27AE6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20576" y="3514725"/>
            <a:ext cx="87020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</a:t>
            </a:r>
            <a:endParaRPr lang="en-US" sz="550" dirty="0"/>
          </a:p>
        </p:txBody>
      </p:sp>
      <p:sp>
        <p:nvSpPr>
          <p:cNvPr id="46" name="Text 44"/>
          <p:cNvSpPr/>
          <p:nvPr/>
        </p:nvSpPr>
        <p:spPr>
          <a:xfrm>
            <a:off x="320576" y="3606701"/>
            <a:ext cx="870205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**Hong Kong local number (DID)** is **US$25/month** — slightly higher than the UK and Germany. Here are the usage rates:</a:t>
            </a:r>
            <a:endParaRPr lang="en-US" sz="750" dirty="0"/>
          </a:p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endParaRPr lang="en-US" sz="750" dirty="0"/>
          </a:p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Rate Type | Price (US$) |</a:t>
            </a:r>
            <a:endParaRPr lang="en-US" sz="750" dirty="0"/>
          </a:p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|---|---...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228600" y="3774877"/>
            <a:ext cx="8686800" cy="266402"/>
          </a:xfrm>
          <a:prstGeom prst="rect">
            <a:avLst/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Shape 46"/>
          <p:cNvSpPr/>
          <p:nvPr/>
        </p:nvSpPr>
        <p:spPr>
          <a:xfrm>
            <a:off x="242888" y="3774877"/>
            <a:ext cx="0" cy="266402"/>
          </a:xfrm>
          <a:prstGeom prst="line">
            <a:avLst/>
          </a:prstGeom>
          <a:noFill/>
          <a:ln w="28575">
            <a:solidFill>
              <a:srgbClr val="2E86D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20576" y="3800177"/>
            <a:ext cx="87020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E8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</a:t>
            </a:r>
            <a:endParaRPr lang="en-US" sz="550" dirty="0"/>
          </a:p>
        </p:txBody>
      </p:sp>
      <p:sp>
        <p:nvSpPr>
          <p:cNvPr id="50" name="Text 48"/>
          <p:cNvSpPr/>
          <p:nvPr/>
        </p:nvSpPr>
        <p:spPr>
          <a:xfrm>
            <a:off x="320576" y="3892153"/>
            <a:ext cx="870205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228600" y="4060329"/>
            <a:ext cx="8686800" cy="266402"/>
          </a:xfrm>
          <a:prstGeom prst="rect">
            <a:avLst/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Shape 50"/>
          <p:cNvSpPr/>
          <p:nvPr/>
        </p:nvSpPr>
        <p:spPr>
          <a:xfrm>
            <a:off x="242888" y="4060329"/>
            <a:ext cx="0" cy="266402"/>
          </a:xfrm>
          <a:prstGeom prst="line">
            <a:avLst/>
          </a:prstGeom>
          <a:noFill/>
          <a:ln w="28575">
            <a:solidFill>
              <a:srgbClr val="27AE6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20576" y="4085630"/>
            <a:ext cx="87020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</a:t>
            </a:r>
            <a:endParaRPr lang="en-US" sz="550" dirty="0"/>
          </a:p>
        </p:txBody>
      </p:sp>
      <p:sp>
        <p:nvSpPr>
          <p:cNvPr id="54" name="Text 52"/>
          <p:cNvSpPr/>
          <p:nvPr/>
        </p:nvSpPr>
        <p:spPr>
          <a:xfrm>
            <a:off x="320576" y="4177605"/>
            <a:ext cx="870205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Alright! If you have any other questions about CINNOX, feel free to ask anytime. I'm here to help, Jason! 😊</a:t>
            </a:r>
            <a:endParaRPr lang="en-US" sz="7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34901"/>
          </a:xfrm>
          <a:prstGeom prst="rect">
            <a:avLst/>
          </a:prstGeom>
          <a:solidFill>
            <a:srgbClr val="1B2A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53901" y="149126"/>
            <a:ext cx="880892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TC-H1 — Spelling Errors </a:t>
            </a:r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07802" y="371326"/>
            <a:ext cx="854994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8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Tolerance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28600" y="736402"/>
            <a:ext cx="8686800" cy="145852"/>
          </a:xfrm>
          <a:prstGeom prst="roundRect">
            <a:avLst>
              <a:gd name="adj" fmla="val 26122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04800" y="761702"/>
            <a:ext cx="870508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"whtsapp intergration" understood immediately. WhatsApp campaigns follow-up also answered.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228600" y="920353"/>
            <a:ext cx="8686800" cy="266402"/>
          </a:xfrm>
          <a:prstGeom prst="rect">
            <a:avLst/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242888" y="920353"/>
            <a:ext cx="0" cy="266402"/>
          </a:xfrm>
          <a:prstGeom prst="line">
            <a:avLst/>
          </a:prstGeom>
          <a:noFill/>
          <a:ln w="28575">
            <a:solidFill>
              <a:srgbClr val="2E86D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576" y="945654"/>
            <a:ext cx="87020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E8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</a:t>
            </a:r>
            <a:endParaRPr lang="en-US" sz="550" dirty="0"/>
          </a:p>
        </p:txBody>
      </p:sp>
      <p:sp>
        <p:nvSpPr>
          <p:cNvPr id="10" name="Text 8"/>
          <p:cNvSpPr/>
          <p:nvPr/>
        </p:nvSpPr>
        <p:spPr>
          <a:xfrm>
            <a:off x="320576" y="1037630"/>
            <a:ext cx="870205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you have whtsapp intergration?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228600" y="1205805"/>
            <a:ext cx="8686800" cy="266402"/>
          </a:xfrm>
          <a:prstGeom prst="rect">
            <a:avLst/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242888" y="1205805"/>
            <a:ext cx="0" cy="266402"/>
          </a:xfrm>
          <a:prstGeom prst="line">
            <a:avLst/>
          </a:prstGeom>
          <a:noFill/>
          <a:ln w="28575">
            <a:solidFill>
              <a:srgbClr val="27AE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576" y="1231106"/>
            <a:ext cx="87020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</a:t>
            </a:r>
            <a:endParaRPr lang="en-US" sz="550" dirty="0"/>
          </a:p>
        </p:txBody>
      </p:sp>
      <p:sp>
        <p:nvSpPr>
          <p:cNvPr id="14" name="Text 12"/>
          <p:cNvSpPr/>
          <p:nvPr/>
        </p:nvSpPr>
        <p:spPr>
          <a:xfrm>
            <a:off x="320576" y="1323082"/>
            <a:ext cx="870205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I'd be happy to help with that! To make sure I connect you with the right resources — are you an existing CINNOX customer, or are you new to us?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228600" y="1491258"/>
            <a:ext cx="8686800" cy="266402"/>
          </a:xfrm>
          <a:prstGeom prst="rect">
            <a:avLst/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242888" y="1491258"/>
            <a:ext cx="0" cy="266402"/>
          </a:xfrm>
          <a:prstGeom prst="line">
            <a:avLst/>
          </a:prstGeom>
          <a:noFill/>
          <a:ln w="28575">
            <a:solidFill>
              <a:srgbClr val="2E86D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576" y="1516559"/>
            <a:ext cx="87020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E8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</a:t>
            </a:r>
            <a:endParaRPr lang="en-US" sz="550" dirty="0"/>
          </a:p>
        </p:txBody>
      </p:sp>
      <p:sp>
        <p:nvSpPr>
          <p:cNvPr id="18" name="Text 16"/>
          <p:cNvSpPr/>
          <p:nvPr/>
        </p:nvSpPr>
        <p:spPr>
          <a:xfrm>
            <a:off x="320576" y="1608534"/>
            <a:ext cx="870205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Ryan Park , Seoul Media Group , ryan@seoulmediad.com, +82-2-5678-1234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228600" y="1776710"/>
            <a:ext cx="8686800" cy="266402"/>
          </a:xfrm>
          <a:prstGeom prst="rect">
            <a:avLst/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242888" y="1776710"/>
            <a:ext cx="0" cy="266402"/>
          </a:xfrm>
          <a:prstGeom prst="line">
            <a:avLst/>
          </a:prstGeom>
          <a:noFill/>
          <a:ln w="28575">
            <a:solidFill>
              <a:srgbClr val="27AE6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576" y="1802011"/>
            <a:ext cx="87020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</a:t>
            </a:r>
            <a:endParaRPr lang="en-US" sz="550" dirty="0"/>
          </a:p>
        </p:txBody>
      </p:sp>
      <p:sp>
        <p:nvSpPr>
          <p:cNvPr id="22" name="Text 20"/>
          <p:cNvSpPr/>
          <p:nvPr/>
        </p:nvSpPr>
        <p:spPr>
          <a:xfrm>
            <a:off x="320576" y="1893987"/>
            <a:ext cx="870205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Nice to meet you, Ryan! Let me confirm your details:</a:t>
            </a:r>
            <a:endParaRPr lang="en-US" sz="750" dirty="0"/>
          </a:p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endParaRPr lang="en-US" sz="750" dirty="0"/>
          </a:p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**Name:** Ryan Park</a:t>
            </a:r>
            <a:endParaRPr lang="en-US" sz="750" dirty="0"/>
          </a:p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**Company:** Seoul Media Group</a:t>
            </a:r>
            <a:endParaRPr lang="en-US" sz="750" dirty="0"/>
          </a:p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**Email:** ryan@seoulmediad.com</a:t>
            </a:r>
            <a:endParaRPr lang="en-US" sz="750" dirty="0"/>
          </a:p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**Phone:** +82-2-5678-1234</a:t>
            </a:r>
            <a:endParaRPr lang="en-US" sz="750" dirty="0"/>
          </a:p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endParaRPr lang="en-US" sz="750" dirty="0"/>
          </a:p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that correct?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228600" y="2062163"/>
            <a:ext cx="8686800" cy="266402"/>
          </a:xfrm>
          <a:prstGeom prst="rect">
            <a:avLst/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242888" y="2062163"/>
            <a:ext cx="0" cy="266402"/>
          </a:xfrm>
          <a:prstGeom prst="line">
            <a:avLst/>
          </a:prstGeom>
          <a:noFill/>
          <a:ln w="28575">
            <a:solidFill>
              <a:srgbClr val="2E86D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576" y="2087463"/>
            <a:ext cx="87020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E8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</a:t>
            </a:r>
            <a:endParaRPr lang="en-US" sz="550" dirty="0"/>
          </a:p>
        </p:txBody>
      </p:sp>
      <p:sp>
        <p:nvSpPr>
          <p:cNvPr id="26" name="Text 24"/>
          <p:cNvSpPr/>
          <p:nvPr/>
        </p:nvSpPr>
        <p:spPr>
          <a:xfrm>
            <a:off x="320576" y="2179439"/>
            <a:ext cx="870205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228600" y="2347615"/>
            <a:ext cx="8686800" cy="390227"/>
          </a:xfrm>
          <a:prstGeom prst="rect">
            <a:avLst/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242888" y="2347615"/>
            <a:ext cx="0" cy="390227"/>
          </a:xfrm>
          <a:prstGeom prst="line">
            <a:avLst/>
          </a:prstGeom>
          <a:noFill/>
          <a:ln w="28575">
            <a:solidFill>
              <a:srgbClr val="27AE6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576" y="2372916"/>
            <a:ext cx="87020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</a:t>
            </a:r>
            <a:endParaRPr lang="en-US" sz="550" dirty="0"/>
          </a:p>
        </p:txBody>
      </p:sp>
      <p:sp>
        <p:nvSpPr>
          <p:cNvPr id="30" name="Text 28"/>
          <p:cNvSpPr/>
          <p:nvPr/>
        </p:nvSpPr>
        <p:spPr>
          <a:xfrm>
            <a:off x="320576" y="2464891"/>
            <a:ext cx="870205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you, Ryan! Your information has been saved.</a:t>
            </a:r>
            <a:endParaRPr lang="en-US" sz="750" dirty="0"/>
          </a:p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endParaRPr lang="en-US" sz="750" dirty="0"/>
          </a:p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Now, regarding your question about WhatsApp integration — let me look that up for you.Yes, CINNOX does support **WhatsApp integration**! According to our product documen...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228600" y="2756892"/>
            <a:ext cx="8686800" cy="266402"/>
          </a:xfrm>
          <a:prstGeom prst="rect">
            <a:avLst/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242888" y="2756892"/>
            <a:ext cx="0" cy="266402"/>
          </a:xfrm>
          <a:prstGeom prst="line">
            <a:avLst/>
          </a:prstGeom>
          <a:noFill/>
          <a:ln w="28575">
            <a:solidFill>
              <a:srgbClr val="2E86D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576" y="2782193"/>
            <a:ext cx="87020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E8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</a:t>
            </a:r>
            <a:endParaRPr lang="en-US" sz="550" dirty="0"/>
          </a:p>
        </p:txBody>
      </p:sp>
      <p:sp>
        <p:nvSpPr>
          <p:cNvPr id="34" name="Text 32"/>
          <p:cNvSpPr/>
          <p:nvPr/>
        </p:nvSpPr>
        <p:spPr>
          <a:xfrm>
            <a:off x="320576" y="2874169"/>
            <a:ext cx="870205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it support WhatsApp campaigns too?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228600" y="3042345"/>
            <a:ext cx="8686800" cy="390227"/>
          </a:xfrm>
          <a:prstGeom prst="rect">
            <a:avLst/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Shape 34"/>
          <p:cNvSpPr/>
          <p:nvPr/>
        </p:nvSpPr>
        <p:spPr>
          <a:xfrm>
            <a:off x="242888" y="3042345"/>
            <a:ext cx="0" cy="390227"/>
          </a:xfrm>
          <a:prstGeom prst="line">
            <a:avLst/>
          </a:prstGeom>
          <a:noFill/>
          <a:ln w="28575">
            <a:solidFill>
              <a:srgbClr val="27AE6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576" y="3067645"/>
            <a:ext cx="87020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</a:t>
            </a:r>
            <a:endParaRPr lang="en-US" sz="550" dirty="0"/>
          </a:p>
        </p:txBody>
      </p:sp>
      <p:sp>
        <p:nvSpPr>
          <p:cNvPr id="38" name="Text 36"/>
          <p:cNvSpPr/>
          <p:nvPr/>
        </p:nvSpPr>
        <p:spPr>
          <a:xfrm>
            <a:off x="320576" y="3159621"/>
            <a:ext cx="870205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spcBef>
                <a:spcPts val="50"/>
              </a:spcBef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Yes, it does! According to our product documentation, CINNOX supports **WhatsApp marketing campaigns** — for example, businesses use them to send seasonal promotions, holiday specials, and product information to customer...</a:t>
            </a:r>
            <a:endParaRPr lang="en-US" sz="7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34901"/>
          </a:xfrm>
          <a:prstGeom prst="rect">
            <a:avLst/>
          </a:prstGeom>
          <a:solidFill>
            <a:srgbClr val="1B2A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53901" y="149126"/>
            <a:ext cx="880892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TC-H2 — Vague Request </a:t>
            </a:r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</a:t>
            </a:r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REGRESSION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07802" y="371326"/>
            <a:ext cx="854994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8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Tolerance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28600" y="736402"/>
            <a:ext cx="8686800" cy="136327"/>
          </a:xfrm>
          <a:prstGeom prst="roundRect">
            <a:avLst>
              <a:gd name="adj" fmla="val 27948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04800" y="761702"/>
            <a:ext cx="870508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v1.3 Discovery Phase: clarifying Q asked. OCC recommended for 10-person phone+WhatsApp team.</a:t>
            </a:r>
            <a:endParaRPr lang="en-US" sz="600" dirty="0"/>
          </a:p>
        </p:txBody>
      </p:sp>
      <p:sp>
        <p:nvSpPr>
          <p:cNvPr id="7" name="Text 5"/>
          <p:cNvSpPr/>
          <p:nvPr/>
        </p:nvSpPr>
        <p:spPr>
          <a:xfrm>
            <a:off x="228600" y="910828"/>
            <a:ext cx="4305300" cy="145852"/>
          </a:xfrm>
          <a:prstGeom prst="roundRect">
            <a:avLst>
              <a:gd name="adj" fmla="val 26122"/>
            </a:avLst>
          </a:prstGeom>
          <a:solidFill>
            <a:srgbClr val="E74C3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04800" y="936129"/>
            <a:ext cx="423595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v1.2 FAIL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4529138" y="1056680"/>
            <a:ext cx="0" cy="3653879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" y="4705796"/>
            <a:ext cx="43053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33362" y="1056680"/>
            <a:ext cx="0" cy="3653879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6225" y="1113830"/>
            <a:ext cx="4210050" cy="249882"/>
          </a:xfrm>
          <a:prstGeom prst="rect">
            <a:avLst/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290513" y="1113830"/>
            <a:ext cx="0" cy="249882"/>
          </a:xfrm>
          <a:prstGeom prst="line">
            <a:avLst/>
          </a:prstGeom>
          <a:noFill/>
          <a:ln w="28575">
            <a:solidFill>
              <a:srgbClr val="2E86D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8201" y="1139130"/>
            <a:ext cx="413576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E8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</a:t>
            </a:r>
            <a:endParaRPr lang="en-US" sz="550" dirty="0"/>
          </a:p>
        </p:txBody>
      </p:sp>
      <p:sp>
        <p:nvSpPr>
          <p:cNvPr id="15" name="Text 13"/>
          <p:cNvSpPr/>
          <p:nvPr/>
        </p:nvSpPr>
        <p:spPr>
          <a:xfrm>
            <a:off x="368201" y="1231106"/>
            <a:ext cx="4135767" cy="107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5"/>
              </a:lnSpc>
              <a:spcBef>
                <a:spcPts val="50"/>
              </a:spcBef>
              <a:buNone/>
            </a:pPr>
            <a:r>
              <a:rPr lang="en-US" sz="6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want something for customer service.</a:t>
            </a:r>
            <a:endParaRPr lang="en-US" sz="650" dirty="0"/>
          </a:p>
        </p:txBody>
      </p:sp>
      <p:sp>
        <p:nvSpPr>
          <p:cNvPr id="16" name="Text 14"/>
          <p:cNvSpPr/>
          <p:nvPr/>
        </p:nvSpPr>
        <p:spPr>
          <a:xfrm>
            <a:off x="276225" y="1382762"/>
            <a:ext cx="4210050" cy="357188"/>
          </a:xfrm>
          <a:prstGeom prst="rect">
            <a:avLst/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290513" y="1382762"/>
            <a:ext cx="0" cy="357188"/>
          </a:xfrm>
          <a:prstGeom prst="line">
            <a:avLst/>
          </a:prstGeom>
          <a:noFill/>
          <a:ln w="28575">
            <a:solidFill>
              <a:srgbClr val="27AE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8201" y="1408063"/>
            <a:ext cx="413576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</a:t>
            </a:r>
            <a:endParaRPr lang="en-US" sz="550" dirty="0"/>
          </a:p>
        </p:txBody>
      </p:sp>
      <p:sp>
        <p:nvSpPr>
          <p:cNvPr id="19" name="Text 17"/>
          <p:cNvSpPr/>
          <p:nvPr/>
        </p:nvSpPr>
        <p:spPr>
          <a:xfrm>
            <a:off x="368201" y="1500039"/>
            <a:ext cx="4135767" cy="214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5"/>
              </a:lnSpc>
              <a:spcBef>
                <a:spcPts val="50"/>
              </a:spcBef>
              <a:buNone/>
            </a:pPr>
            <a:r>
              <a:rPr lang="en-US" sz="6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to hear you're interested in CINNOX for customer service! We have solutions designed to help teams manage customer...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276225" y="1759000"/>
            <a:ext cx="4210050" cy="249882"/>
          </a:xfrm>
          <a:prstGeom prst="rect">
            <a:avLst/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290513" y="1759000"/>
            <a:ext cx="0" cy="249882"/>
          </a:xfrm>
          <a:prstGeom prst="line">
            <a:avLst/>
          </a:prstGeom>
          <a:noFill/>
          <a:ln w="28575">
            <a:solidFill>
              <a:srgbClr val="2E86D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8201" y="1784300"/>
            <a:ext cx="413576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E8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</a:t>
            </a:r>
            <a:endParaRPr lang="en-US" sz="550" dirty="0"/>
          </a:p>
        </p:txBody>
      </p:sp>
      <p:sp>
        <p:nvSpPr>
          <p:cNvPr id="23" name="Text 21"/>
          <p:cNvSpPr/>
          <p:nvPr/>
        </p:nvSpPr>
        <p:spPr>
          <a:xfrm>
            <a:off x="368201" y="1876276"/>
            <a:ext cx="4135767" cy="107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5"/>
              </a:lnSpc>
              <a:spcBef>
                <a:spcPts val="50"/>
              </a:spcBef>
              <a:buNone/>
            </a:pPr>
            <a:r>
              <a:rPr lang="en-US" sz="6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Sarah Mitchell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276225" y="2027932"/>
            <a:ext cx="4210050" cy="249882"/>
          </a:xfrm>
          <a:prstGeom prst="rect">
            <a:avLst/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290513" y="2027932"/>
            <a:ext cx="0" cy="249882"/>
          </a:xfrm>
          <a:prstGeom prst="line">
            <a:avLst/>
          </a:prstGeom>
          <a:noFill/>
          <a:ln w="28575">
            <a:solidFill>
              <a:srgbClr val="27AE6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8201" y="2053233"/>
            <a:ext cx="413576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</a:t>
            </a:r>
            <a:endParaRPr lang="en-US" sz="550" dirty="0"/>
          </a:p>
        </p:txBody>
      </p:sp>
      <p:sp>
        <p:nvSpPr>
          <p:cNvPr id="27" name="Text 25"/>
          <p:cNvSpPr/>
          <p:nvPr/>
        </p:nvSpPr>
        <p:spPr>
          <a:xfrm>
            <a:off x="368201" y="2145209"/>
            <a:ext cx="4135767" cy="107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5"/>
              </a:lnSpc>
              <a:spcBef>
                <a:spcPts val="50"/>
              </a:spcBef>
              <a:buNone/>
            </a:pPr>
            <a:r>
              <a:rPr lang="en-US" sz="6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Nice to meet you, Sarah! And your company name?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276225" y="2296864"/>
            <a:ext cx="4210050" cy="249882"/>
          </a:xfrm>
          <a:prstGeom prst="rect">
            <a:avLst/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290513" y="2296864"/>
            <a:ext cx="0" cy="249882"/>
          </a:xfrm>
          <a:prstGeom prst="line">
            <a:avLst/>
          </a:prstGeom>
          <a:noFill/>
          <a:ln w="28575">
            <a:solidFill>
              <a:srgbClr val="2E86D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8201" y="2322165"/>
            <a:ext cx="413576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E8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</a:t>
            </a:r>
            <a:endParaRPr lang="en-US" sz="550" dirty="0"/>
          </a:p>
        </p:txBody>
      </p:sp>
      <p:sp>
        <p:nvSpPr>
          <p:cNvPr id="31" name="Text 29"/>
          <p:cNvSpPr/>
          <p:nvPr/>
        </p:nvSpPr>
        <p:spPr>
          <a:xfrm>
            <a:off x="368201" y="2414141"/>
            <a:ext cx="4135767" cy="107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5"/>
              </a:lnSpc>
              <a:spcBef>
                <a:spcPts val="50"/>
              </a:spcBef>
              <a:buNone/>
            </a:pPr>
            <a:r>
              <a:rPr lang="en-US" sz="6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Austin Digital Agency</a:t>
            </a:r>
            <a:endParaRPr lang="en-US" sz="650" dirty="0"/>
          </a:p>
        </p:txBody>
      </p:sp>
      <p:sp>
        <p:nvSpPr>
          <p:cNvPr id="32" name="Text 30"/>
          <p:cNvSpPr/>
          <p:nvPr/>
        </p:nvSpPr>
        <p:spPr>
          <a:xfrm>
            <a:off x="276225" y="2565797"/>
            <a:ext cx="4210050" cy="249882"/>
          </a:xfrm>
          <a:prstGeom prst="rect">
            <a:avLst/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290513" y="2565797"/>
            <a:ext cx="0" cy="249882"/>
          </a:xfrm>
          <a:prstGeom prst="line">
            <a:avLst/>
          </a:prstGeom>
          <a:noFill/>
          <a:ln w="28575">
            <a:solidFill>
              <a:srgbClr val="27AE6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8201" y="2591098"/>
            <a:ext cx="413576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</a:t>
            </a:r>
            <a:endParaRPr lang="en-US" sz="550" dirty="0"/>
          </a:p>
        </p:txBody>
      </p:sp>
      <p:sp>
        <p:nvSpPr>
          <p:cNvPr id="35" name="Text 33"/>
          <p:cNvSpPr/>
          <p:nvPr/>
        </p:nvSpPr>
        <p:spPr>
          <a:xfrm>
            <a:off x="368201" y="2683073"/>
            <a:ext cx="4135767" cy="107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5"/>
              </a:lnSpc>
              <a:spcBef>
                <a:spcPts val="50"/>
              </a:spcBef>
              <a:buNone/>
            </a:pPr>
            <a:r>
              <a:rPr lang="en-US" sz="6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Got it. What's your email address?</a:t>
            </a:r>
            <a:endParaRPr lang="en-US" sz="650" dirty="0"/>
          </a:p>
        </p:txBody>
      </p:sp>
      <p:sp>
        <p:nvSpPr>
          <p:cNvPr id="36" name="Text 34"/>
          <p:cNvSpPr/>
          <p:nvPr/>
        </p:nvSpPr>
        <p:spPr>
          <a:xfrm>
            <a:off x="276225" y="2834729"/>
            <a:ext cx="4210050" cy="249882"/>
          </a:xfrm>
          <a:prstGeom prst="rect">
            <a:avLst/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Shape 35"/>
          <p:cNvSpPr/>
          <p:nvPr/>
        </p:nvSpPr>
        <p:spPr>
          <a:xfrm>
            <a:off x="290513" y="2834729"/>
            <a:ext cx="0" cy="249882"/>
          </a:xfrm>
          <a:prstGeom prst="line">
            <a:avLst/>
          </a:prstGeom>
          <a:noFill/>
          <a:ln w="28575">
            <a:solidFill>
              <a:srgbClr val="2E86D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8201" y="2860030"/>
            <a:ext cx="413576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E8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</a:t>
            </a:r>
            <a:endParaRPr lang="en-US" sz="550" dirty="0"/>
          </a:p>
        </p:txBody>
      </p:sp>
      <p:sp>
        <p:nvSpPr>
          <p:cNvPr id="39" name="Text 37"/>
          <p:cNvSpPr/>
          <p:nvPr/>
        </p:nvSpPr>
        <p:spPr>
          <a:xfrm>
            <a:off x="368201" y="2952006"/>
            <a:ext cx="4135767" cy="107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5"/>
              </a:lnSpc>
              <a:spcBef>
                <a:spcPts val="50"/>
              </a:spcBef>
              <a:buNone/>
            </a:pPr>
            <a:r>
              <a:rPr lang="en-US" sz="6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sarah@austindigital.com</a:t>
            </a:r>
            <a:endParaRPr lang="en-US" sz="650" dirty="0"/>
          </a:p>
        </p:txBody>
      </p:sp>
      <p:sp>
        <p:nvSpPr>
          <p:cNvPr id="40" name="Text 38"/>
          <p:cNvSpPr/>
          <p:nvPr/>
        </p:nvSpPr>
        <p:spPr>
          <a:xfrm>
            <a:off x="276225" y="3103662"/>
            <a:ext cx="4210050" cy="249882"/>
          </a:xfrm>
          <a:prstGeom prst="rect">
            <a:avLst/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Shape 39"/>
          <p:cNvSpPr/>
          <p:nvPr/>
        </p:nvSpPr>
        <p:spPr>
          <a:xfrm>
            <a:off x="290513" y="3103662"/>
            <a:ext cx="0" cy="249882"/>
          </a:xfrm>
          <a:prstGeom prst="line">
            <a:avLst/>
          </a:prstGeom>
          <a:noFill/>
          <a:ln w="28575">
            <a:solidFill>
              <a:srgbClr val="27AE6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8201" y="3128963"/>
            <a:ext cx="413576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</a:t>
            </a:r>
            <a:endParaRPr lang="en-US" sz="550" dirty="0"/>
          </a:p>
        </p:txBody>
      </p:sp>
      <p:sp>
        <p:nvSpPr>
          <p:cNvPr id="43" name="Text 41"/>
          <p:cNvSpPr/>
          <p:nvPr/>
        </p:nvSpPr>
        <p:spPr>
          <a:xfrm>
            <a:off x="368201" y="3220938"/>
            <a:ext cx="4135767" cy="107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5"/>
              </a:lnSpc>
              <a:spcBef>
                <a:spcPts val="50"/>
              </a:spcBef>
              <a:buNone/>
            </a:pPr>
            <a:r>
              <a:rPr lang="en-US" sz="6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Perfect. And a phone number we can reach you on?</a:t>
            </a:r>
            <a:endParaRPr lang="en-US" sz="650" dirty="0"/>
          </a:p>
        </p:txBody>
      </p:sp>
      <p:sp>
        <p:nvSpPr>
          <p:cNvPr id="44" name="Text 42"/>
          <p:cNvSpPr/>
          <p:nvPr/>
        </p:nvSpPr>
        <p:spPr>
          <a:xfrm>
            <a:off x="276225" y="3372594"/>
            <a:ext cx="4210050" cy="249882"/>
          </a:xfrm>
          <a:prstGeom prst="rect">
            <a:avLst/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Shape 43"/>
          <p:cNvSpPr/>
          <p:nvPr/>
        </p:nvSpPr>
        <p:spPr>
          <a:xfrm>
            <a:off x="290513" y="3372594"/>
            <a:ext cx="0" cy="249882"/>
          </a:xfrm>
          <a:prstGeom prst="line">
            <a:avLst/>
          </a:prstGeom>
          <a:noFill/>
          <a:ln w="28575">
            <a:solidFill>
              <a:srgbClr val="2E86D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8201" y="3397895"/>
            <a:ext cx="413576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E8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</a:t>
            </a:r>
            <a:endParaRPr lang="en-US" sz="550" dirty="0"/>
          </a:p>
        </p:txBody>
      </p:sp>
      <p:sp>
        <p:nvSpPr>
          <p:cNvPr id="47" name="Text 45"/>
          <p:cNvSpPr/>
          <p:nvPr/>
        </p:nvSpPr>
        <p:spPr>
          <a:xfrm>
            <a:off x="368201" y="3489871"/>
            <a:ext cx="4135767" cy="107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5"/>
              </a:lnSpc>
              <a:spcBef>
                <a:spcPts val="50"/>
              </a:spcBef>
              <a:buNone/>
            </a:pPr>
            <a:r>
              <a:rPr lang="en-US" sz="6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+1-512-555-0123</a:t>
            </a:r>
            <a:endParaRPr lang="en-US" sz="650" dirty="0"/>
          </a:p>
        </p:txBody>
      </p:sp>
      <p:sp>
        <p:nvSpPr>
          <p:cNvPr id="48" name="Text 46"/>
          <p:cNvSpPr/>
          <p:nvPr/>
        </p:nvSpPr>
        <p:spPr>
          <a:xfrm>
            <a:off x="276225" y="3641527"/>
            <a:ext cx="4210050" cy="357188"/>
          </a:xfrm>
          <a:prstGeom prst="rect">
            <a:avLst/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Shape 47"/>
          <p:cNvSpPr/>
          <p:nvPr/>
        </p:nvSpPr>
        <p:spPr>
          <a:xfrm>
            <a:off x="290513" y="3641527"/>
            <a:ext cx="0" cy="357188"/>
          </a:xfrm>
          <a:prstGeom prst="line">
            <a:avLst/>
          </a:prstGeom>
          <a:noFill/>
          <a:ln w="28575">
            <a:solidFill>
              <a:srgbClr val="27AE6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68201" y="3666827"/>
            <a:ext cx="413576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</a:t>
            </a:r>
            <a:endParaRPr lang="en-US" sz="550" dirty="0"/>
          </a:p>
        </p:txBody>
      </p:sp>
      <p:sp>
        <p:nvSpPr>
          <p:cNvPr id="51" name="Text 49"/>
          <p:cNvSpPr/>
          <p:nvPr/>
        </p:nvSpPr>
        <p:spPr>
          <a:xfrm>
            <a:off x="368201" y="3758803"/>
            <a:ext cx="4135767" cy="214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5"/>
              </a:lnSpc>
              <a:spcBef>
                <a:spcPts val="50"/>
              </a:spcBef>
              <a:buNone/>
            </a:pPr>
            <a:r>
              <a:rPr lang="en-US" sz="6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 me confirm your details:</a:t>
            </a:r>
            <a:endParaRPr lang="en-US" sz="650" dirty="0"/>
          </a:p>
          <a:p>
            <a:pPr algn="l" indent="0" marL="0">
              <a:lnSpc>
                <a:spcPts val="845"/>
              </a:lnSpc>
              <a:spcBef>
                <a:spcPts val="50"/>
              </a:spcBef>
              <a:buNone/>
            </a:pPr>
            <a:endParaRPr lang="en-US" sz="650" dirty="0"/>
          </a:p>
          <a:p>
            <a:pPr algn="l" indent="0" marL="0">
              <a:lnSpc>
                <a:spcPts val="845"/>
              </a:lnSpc>
              <a:spcBef>
                <a:spcPts val="50"/>
              </a:spcBef>
              <a:buNone/>
            </a:pPr>
            <a:r>
              <a:rPr lang="en-US" sz="6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**Name:** Sarah Mitchell</a:t>
            </a:r>
            <a:endParaRPr lang="en-US" sz="650" dirty="0"/>
          </a:p>
          <a:p>
            <a:pPr algn="l" indent="0" marL="0">
              <a:lnSpc>
                <a:spcPts val="845"/>
              </a:lnSpc>
              <a:spcBef>
                <a:spcPts val="50"/>
              </a:spcBef>
              <a:buNone/>
            </a:pPr>
            <a:r>
              <a:rPr lang="en-US" sz="6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**Company:** Austin Digital Agency</a:t>
            </a:r>
            <a:endParaRPr lang="en-US" sz="650" dirty="0"/>
          </a:p>
          <a:p>
            <a:pPr algn="l" indent="0" marL="0">
              <a:lnSpc>
                <a:spcPts val="845"/>
              </a:lnSpc>
              <a:spcBef>
                <a:spcPts val="50"/>
              </a:spcBef>
              <a:buNone/>
            </a:pPr>
            <a:r>
              <a:rPr lang="en-US" sz="6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**Email:** sarah@austi...</a:t>
            </a:r>
            <a:endParaRPr lang="en-US" sz="650" dirty="0"/>
          </a:p>
        </p:txBody>
      </p:sp>
      <p:sp>
        <p:nvSpPr>
          <p:cNvPr id="52" name="Text 50"/>
          <p:cNvSpPr/>
          <p:nvPr/>
        </p:nvSpPr>
        <p:spPr>
          <a:xfrm>
            <a:off x="276225" y="4017764"/>
            <a:ext cx="4210050" cy="249882"/>
          </a:xfrm>
          <a:prstGeom prst="rect">
            <a:avLst/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Shape 51"/>
          <p:cNvSpPr/>
          <p:nvPr/>
        </p:nvSpPr>
        <p:spPr>
          <a:xfrm>
            <a:off x="290513" y="4017764"/>
            <a:ext cx="0" cy="249882"/>
          </a:xfrm>
          <a:prstGeom prst="line">
            <a:avLst/>
          </a:prstGeom>
          <a:noFill/>
          <a:ln w="28575">
            <a:solidFill>
              <a:srgbClr val="2E86D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68201" y="4043065"/>
            <a:ext cx="413576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E8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</a:t>
            </a:r>
            <a:endParaRPr lang="en-US" sz="550" dirty="0"/>
          </a:p>
        </p:txBody>
      </p:sp>
      <p:sp>
        <p:nvSpPr>
          <p:cNvPr id="55" name="Text 53"/>
          <p:cNvSpPr/>
          <p:nvPr/>
        </p:nvSpPr>
        <p:spPr>
          <a:xfrm>
            <a:off x="368201" y="4135041"/>
            <a:ext cx="4135767" cy="107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5"/>
              </a:lnSpc>
              <a:spcBef>
                <a:spcPts val="50"/>
              </a:spcBef>
              <a:buNone/>
            </a:pPr>
            <a:r>
              <a:rPr lang="en-US" sz="6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650" dirty="0"/>
          </a:p>
        </p:txBody>
      </p:sp>
      <p:sp>
        <p:nvSpPr>
          <p:cNvPr id="56" name="Text 54"/>
          <p:cNvSpPr/>
          <p:nvPr/>
        </p:nvSpPr>
        <p:spPr>
          <a:xfrm>
            <a:off x="276225" y="4286696"/>
            <a:ext cx="4210050" cy="357188"/>
          </a:xfrm>
          <a:prstGeom prst="rect">
            <a:avLst/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Shape 55"/>
          <p:cNvSpPr/>
          <p:nvPr/>
        </p:nvSpPr>
        <p:spPr>
          <a:xfrm>
            <a:off x="290513" y="4286696"/>
            <a:ext cx="0" cy="357188"/>
          </a:xfrm>
          <a:prstGeom prst="line">
            <a:avLst/>
          </a:prstGeom>
          <a:noFill/>
          <a:ln w="28575">
            <a:solidFill>
              <a:srgbClr val="27AE6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68201" y="4311997"/>
            <a:ext cx="413576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</a:t>
            </a:r>
            <a:endParaRPr lang="en-US" sz="550" dirty="0"/>
          </a:p>
        </p:txBody>
      </p:sp>
      <p:sp>
        <p:nvSpPr>
          <p:cNvPr id="59" name="Text 57"/>
          <p:cNvSpPr/>
          <p:nvPr/>
        </p:nvSpPr>
        <p:spPr>
          <a:xfrm>
            <a:off x="368201" y="4403973"/>
            <a:ext cx="4135767" cy="214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5"/>
              </a:lnSpc>
              <a:spcBef>
                <a:spcPts val="50"/>
              </a:spcBef>
              <a:buNone/>
            </a:pPr>
            <a:r>
              <a:rPr lang="en-US" sz="6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you, Sarah! Your information has been saved.</a:t>
            </a:r>
            <a:endParaRPr lang="en-US" sz="650" dirty="0"/>
          </a:p>
          <a:p>
            <a:pPr algn="l" indent="0" marL="0">
              <a:lnSpc>
                <a:spcPts val="845"/>
              </a:lnSpc>
              <a:spcBef>
                <a:spcPts val="50"/>
              </a:spcBef>
              <a:buNone/>
            </a:pPr>
            <a:endParaRPr lang="en-US" sz="650" dirty="0"/>
          </a:p>
          <a:p>
            <a:pPr algn="l" indent="0" marL="0">
              <a:lnSpc>
                <a:spcPts val="845"/>
              </a:lnSpc>
              <a:spcBef>
                <a:spcPts val="50"/>
              </a:spcBef>
              <a:buNone/>
            </a:pPr>
            <a:r>
              <a:rPr lang="en-US" sz="6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Now, regarding your interest in customer service solutions — let me ...</a:t>
            </a:r>
            <a:endParaRPr lang="en-US" sz="650" dirty="0"/>
          </a:p>
        </p:txBody>
      </p:sp>
      <p:sp>
        <p:nvSpPr>
          <p:cNvPr id="60" name="Text 58"/>
          <p:cNvSpPr/>
          <p:nvPr/>
        </p:nvSpPr>
        <p:spPr>
          <a:xfrm>
            <a:off x="4610100" y="910828"/>
            <a:ext cx="4305300" cy="145852"/>
          </a:xfrm>
          <a:prstGeom prst="roundRect">
            <a:avLst>
              <a:gd name="adj" fmla="val 26122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Text 59"/>
          <p:cNvSpPr/>
          <p:nvPr/>
        </p:nvSpPr>
        <p:spPr>
          <a:xfrm>
            <a:off x="4686300" y="936129"/>
            <a:ext cx="423595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 3 PASS</a:t>
            </a:r>
            <a:endParaRPr lang="en-US" sz="700" dirty="0"/>
          </a:p>
        </p:txBody>
      </p:sp>
      <p:sp>
        <p:nvSpPr>
          <p:cNvPr id="62" name="Shape 60"/>
          <p:cNvSpPr/>
          <p:nvPr/>
        </p:nvSpPr>
        <p:spPr>
          <a:xfrm>
            <a:off x="8910638" y="1056680"/>
            <a:ext cx="0" cy="5158829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610100" y="6210746"/>
            <a:ext cx="43053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614863" y="1056680"/>
            <a:ext cx="0" cy="5158829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657725" y="1113830"/>
            <a:ext cx="4210050" cy="249882"/>
          </a:xfrm>
          <a:prstGeom prst="rect">
            <a:avLst/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6" name="Shape 64"/>
          <p:cNvSpPr/>
          <p:nvPr/>
        </p:nvSpPr>
        <p:spPr>
          <a:xfrm>
            <a:off x="4672013" y="1113830"/>
            <a:ext cx="0" cy="249882"/>
          </a:xfrm>
          <a:prstGeom prst="line">
            <a:avLst/>
          </a:prstGeom>
          <a:noFill/>
          <a:ln w="28575">
            <a:solidFill>
              <a:srgbClr val="2E86DE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749701" y="1139130"/>
            <a:ext cx="413576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E8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</a:t>
            </a:r>
            <a:endParaRPr lang="en-US" sz="550" dirty="0"/>
          </a:p>
        </p:txBody>
      </p:sp>
      <p:sp>
        <p:nvSpPr>
          <p:cNvPr id="68" name="Text 66"/>
          <p:cNvSpPr/>
          <p:nvPr/>
        </p:nvSpPr>
        <p:spPr>
          <a:xfrm>
            <a:off x="4749701" y="1231106"/>
            <a:ext cx="4135767" cy="107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5"/>
              </a:lnSpc>
              <a:spcBef>
                <a:spcPts val="50"/>
              </a:spcBef>
              <a:buNone/>
            </a:pPr>
            <a:r>
              <a:rPr lang="en-US" sz="6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want something for customer service.</a:t>
            </a:r>
            <a:endParaRPr lang="en-US" sz="650" dirty="0"/>
          </a:p>
        </p:txBody>
      </p:sp>
      <p:sp>
        <p:nvSpPr>
          <p:cNvPr id="69" name="Text 67"/>
          <p:cNvSpPr/>
          <p:nvPr/>
        </p:nvSpPr>
        <p:spPr>
          <a:xfrm>
            <a:off x="4657725" y="1382762"/>
            <a:ext cx="4210050" cy="357188"/>
          </a:xfrm>
          <a:prstGeom prst="rect">
            <a:avLst/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0" name="Shape 68"/>
          <p:cNvSpPr/>
          <p:nvPr/>
        </p:nvSpPr>
        <p:spPr>
          <a:xfrm>
            <a:off x="4672013" y="1382762"/>
            <a:ext cx="0" cy="357188"/>
          </a:xfrm>
          <a:prstGeom prst="line">
            <a:avLst/>
          </a:prstGeom>
          <a:noFill/>
          <a:ln w="28575">
            <a:solidFill>
              <a:srgbClr val="27AE6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749701" y="1408063"/>
            <a:ext cx="413576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</a:t>
            </a:r>
            <a:endParaRPr lang="en-US" sz="550" dirty="0"/>
          </a:p>
        </p:txBody>
      </p:sp>
      <p:sp>
        <p:nvSpPr>
          <p:cNvPr id="72" name="Text 70"/>
          <p:cNvSpPr/>
          <p:nvPr/>
        </p:nvSpPr>
        <p:spPr>
          <a:xfrm>
            <a:off x="4749701" y="1500039"/>
            <a:ext cx="4135767" cy="214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5"/>
              </a:lnSpc>
              <a:spcBef>
                <a:spcPts val="50"/>
              </a:spcBef>
              <a:buNone/>
            </a:pPr>
            <a:r>
              <a:rPr lang="en-US" sz="6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I'd be happy to help with that! To make sure I connect you with the right resources — are you an existing CINNOX custo...</a:t>
            </a:r>
            <a:endParaRPr lang="en-US" sz="650" dirty="0"/>
          </a:p>
        </p:txBody>
      </p:sp>
      <p:sp>
        <p:nvSpPr>
          <p:cNvPr id="73" name="Text 71"/>
          <p:cNvSpPr/>
          <p:nvPr/>
        </p:nvSpPr>
        <p:spPr>
          <a:xfrm>
            <a:off x="4657725" y="1759000"/>
            <a:ext cx="4210050" cy="249882"/>
          </a:xfrm>
          <a:prstGeom prst="rect">
            <a:avLst/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4" name="Shape 72"/>
          <p:cNvSpPr/>
          <p:nvPr/>
        </p:nvSpPr>
        <p:spPr>
          <a:xfrm>
            <a:off x="4672013" y="1759000"/>
            <a:ext cx="0" cy="249882"/>
          </a:xfrm>
          <a:prstGeom prst="line">
            <a:avLst/>
          </a:prstGeom>
          <a:noFill/>
          <a:ln w="28575">
            <a:solidFill>
              <a:srgbClr val="2E86DE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749701" y="1784300"/>
            <a:ext cx="413576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E8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</a:t>
            </a:r>
            <a:endParaRPr lang="en-US" sz="550" dirty="0"/>
          </a:p>
        </p:txBody>
      </p:sp>
      <p:sp>
        <p:nvSpPr>
          <p:cNvPr id="76" name="Text 74"/>
          <p:cNvSpPr/>
          <p:nvPr/>
        </p:nvSpPr>
        <p:spPr>
          <a:xfrm>
            <a:off x="4749701" y="1876276"/>
            <a:ext cx="4135767" cy="107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5"/>
              </a:lnSpc>
              <a:spcBef>
                <a:spcPts val="50"/>
              </a:spcBef>
              <a:buNone/>
            </a:pPr>
            <a:r>
              <a:rPr lang="en-US" sz="6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</a:t>
            </a:r>
            <a:endParaRPr lang="en-US" sz="650" dirty="0"/>
          </a:p>
        </p:txBody>
      </p:sp>
      <p:sp>
        <p:nvSpPr>
          <p:cNvPr id="77" name="Text 75"/>
          <p:cNvSpPr/>
          <p:nvPr/>
        </p:nvSpPr>
        <p:spPr>
          <a:xfrm>
            <a:off x="4657725" y="2027932"/>
            <a:ext cx="4210050" cy="249882"/>
          </a:xfrm>
          <a:prstGeom prst="rect">
            <a:avLst/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8" name="Shape 76"/>
          <p:cNvSpPr/>
          <p:nvPr/>
        </p:nvSpPr>
        <p:spPr>
          <a:xfrm>
            <a:off x="4672013" y="2027932"/>
            <a:ext cx="0" cy="249882"/>
          </a:xfrm>
          <a:prstGeom prst="line">
            <a:avLst/>
          </a:prstGeom>
          <a:noFill/>
          <a:ln w="28575">
            <a:solidFill>
              <a:srgbClr val="27AE6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4749701" y="2053233"/>
            <a:ext cx="413576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</a:t>
            </a:r>
            <a:endParaRPr lang="en-US" sz="550" dirty="0"/>
          </a:p>
        </p:txBody>
      </p:sp>
      <p:sp>
        <p:nvSpPr>
          <p:cNvPr id="80" name="Text 78"/>
          <p:cNvSpPr/>
          <p:nvPr/>
        </p:nvSpPr>
        <p:spPr>
          <a:xfrm>
            <a:off x="4749701" y="2145209"/>
            <a:ext cx="4135767" cy="107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5"/>
              </a:lnSpc>
              <a:spcBef>
                <a:spcPts val="50"/>
              </a:spcBef>
              <a:buNone/>
            </a:pPr>
            <a:r>
              <a:rPr lang="en-US" sz="6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Great! May I start with your name?</a:t>
            </a:r>
            <a:endParaRPr lang="en-US" sz="650" dirty="0"/>
          </a:p>
        </p:txBody>
      </p:sp>
      <p:sp>
        <p:nvSpPr>
          <p:cNvPr id="81" name="Text 79"/>
          <p:cNvSpPr/>
          <p:nvPr/>
        </p:nvSpPr>
        <p:spPr>
          <a:xfrm>
            <a:off x="4657725" y="2296864"/>
            <a:ext cx="4210050" cy="249882"/>
          </a:xfrm>
          <a:prstGeom prst="rect">
            <a:avLst/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2" name="Shape 80"/>
          <p:cNvSpPr/>
          <p:nvPr/>
        </p:nvSpPr>
        <p:spPr>
          <a:xfrm>
            <a:off x="4672013" y="2296864"/>
            <a:ext cx="0" cy="249882"/>
          </a:xfrm>
          <a:prstGeom prst="line">
            <a:avLst/>
          </a:prstGeom>
          <a:noFill/>
          <a:ln w="28575">
            <a:solidFill>
              <a:srgbClr val="2E86DE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749701" y="2322165"/>
            <a:ext cx="413576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E8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</a:t>
            </a:r>
            <a:endParaRPr lang="en-US" sz="550" dirty="0"/>
          </a:p>
        </p:txBody>
      </p:sp>
      <p:sp>
        <p:nvSpPr>
          <p:cNvPr id="84" name="Text 82"/>
          <p:cNvSpPr/>
          <p:nvPr/>
        </p:nvSpPr>
        <p:spPr>
          <a:xfrm>
            <a:off x="4749701" y="2414141"/>
            <a:ext cx="4135767" cy="107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5"/>
              </a:lnSpc>
              <a:spcBef>
                <a:spcPts val="50"/>
              </a:spcBef>
              <a:buNone/>
            </a:pPr>
            <a:r>
              <a:rPr lang="en-US" sz="6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Sarah Mitchell，Austin Digital Agency，sarah@austindigital.com，+1-512-555-0123</a:t>
            </a:r>
            <a:endParaRPr lang="en-US" sz="650" dirty="0"/>
          </a:p>
        </p:txBody>
      </p:sp>
      <p:sp>
        <p:nvSpPr>
          <p:cNvPr id="85" name="Text 83"/>
          <p:cNvSpPr/>
          <p:nvPr/>
        </p:nvSpPr>
        <p:spPr>
          <a:xfrm>
            <a:off x="4657725" y="2565797"/>
            <a:ext cx="4210050" cy="357188"/>
          </a:xfrm>
          <a:prstGeom prst="rect">
            <a:avLst/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6" name="Shape 84"/>
          <p:cNvSpPr/>
          <p:nvPr/>
        </p:nvSpPr>
        <p:spPr>
          <a:xfrm>
            <a:off x="4672013" y="2565797"/>
            <a:ext cx="0" cy="357188"/>
          </a:xfrm>
          <a:prstGeom prst="line">
            <a:avLst/>
          </a:prstGeom>
          <a:noFill/>
          <a:ln w="28575">
            <a:solidFill>
              <a:srgbClr val="27AE6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4749701" y="2591098"/>
            <a:ext cx="413576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</a:t>
            </a:r>
            <a:endParaRPr lang="en-US" sz="550" dirty="0"/>
          </a:p>
        </p:txBody>
      </p:sp>
      <p:sp>
        <p:nvSpPr>
          <p:cNvPr id="88" name="Text 86"/>
          <p:cNvSpPr/>
          <p:nvPr/>
        </p:nvSpPr>
        <p:spPr>
          <a:xfrm>
            <a:off x="4749701" y="2683073"/>
            <a:ext cx="4135767" cy="214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5"/>
              </a:lnSpc>
              <a:spcBef>
                <a:spcPts val="50"/>
              </a:spcBef>
              <a:buNone/>
            </a:pPr>
            <a:r>
              <a:rPr lang="en-US" sz="6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Thanks, Sarah! Let me confirm your details:</a:t>
            </a:r>
            <a:endParaRPr lang="en-US" sz="650" dirty="0"/>
          </a:p>
          <a:p>
            <a:pPr algn="l" indent="0" marL="0">
              <a:lnSpc>
                <a:spcPts val="845"/>
              </a:lnSpc>
              <a:spcBef>
                <a:spcPts val="50"/>
              </a:spcBef>
              <a:buNone/>
            </a:pPr>
            <a:endParaRPr lang="en-US" sz="650" dirty="0"/>
          </a:p>
          <a:p>
            <a:pPr algn="l" indent="0" marL="0">
              <a:lnSpc>
                <a:spcPts val="845"/>
              </a:lnSpc>
              <a:spcBef>
                <a:spcPts val="50"/>
              </a:spcBef>
              <a:buNone/>
            </a:pPr>
            <a:r>
              <a:rPr lang="en-US" sz="6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**Name:** Sarah Mitchell</a:t>
            </a:r>
            <a:endParaRPr lang="en-US" sz="650" dirty="0"/>
          </a:p>
          <a:p>
            <a:pPr algn="l" indent="0" marL="0">
              <a:lnSpc>
                <a:spcPts val="845"/>
              </a:lnSpc>
              <a:spcBef>
                <a:spcPts val="50"/>
              </a:spcBef>
              <a:buNone/>
            </a:pPr>
            <a:r>
              <a:rPr lang="en-US" sz="6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**Company:** Austin Digital Agency</a:t>
            </a:r>
            <a:endParaRPr lang="en-US" sz="650" dirty="0"/>
          </a:p>
          <a:p>
            <a:pPr algn="l" indent="0" marL="0">
              <a:lnSpc>
                <a:spcPts val="845"/>
              </a:lnSpc>
              <a:spcBef>
                <a:spcPts val="50"/>
              </a:spcBef>
              <a:buNone/>
            </a:pPr>
            <a:r>
              <a:rPr lang="en-US" sz="6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**Email:*...</a:t>
            </a:r>
            <a:endParaRPr lang="en-US" sz="650" dirty="0"/>
          </a:p>
        </p:txBody>
      </p:sp>
      <p:sp>
        <p:nvSpPr>
          <p:cNvPr id="89" name="Text 87"/>
          <p:cNvSpPr/>
          <p:nvPr/>
        </p:nvSpPr>
        <p:spPr>
          <a:xfrm>
            <a:off x="4657725" y="2942034"/>
            <a:ext cx="4210050" cy="249882"/>
          </a:xfrm>
          <a:prstGeom prst="rect">
            <a:avLst/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0" name="Shape 88"/>
          <p:cNvSpPr/>
          <p:nvPr/>
        </p:nvSpPr>
        <p:spPr>
          <a:xfrm>
            <a:off x="4672013" y="2942034"/>
            <a:ext cx="0" cy="249882"/>
          </a:xfrm>
          <a:prstGeom prst="line">
            <a:avLst/>
          </a:prstGeom>
          <a:noFill/>
          <a:ln w="28575">
            <a:solidFill>
              <a:srgbClr val="2E86DE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4749701" y="2967335"/>
            <a:ext cx="413576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E8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</a:t>
            </a:r>
            <a:endParaRPr lang="en-US" sz="550" dirty="0"/>
          </a:p>
        </p:txBody>
      </p:sp>
      <p:sp>
        <p:nvSpPr>
          <p:cNvPr id="92" name="Text 90"/>
          <p:cNvSpPr/>
          <p:nvPr/>
        </p:nvSpPr>
        <p:spPr>
          <a:xfrm>
            <a:off x="4749701" y="3059311"/>
            <a:ext cx="4135767" cy="107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5"/>
              </a:lnSpc>
              <a:spcBef>
                <a:spcPts val="50"/>
              </a:spcBef>
              <a:buNone/>
            </a:pPr>
            <a:r>
              <a:rPr lang="en-US" sz="6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650" dirty="0"/>
          </a:p>
        </p:txBody>
      </p:sp>
      <p:sp>
        <p:nvSpPr>
          <p:cNvPr id="93" name="Text 91"/>
          <p:cNvSpPr/>
          <p:nvPr/>
        </p:nvSpPr>
        <p:spPr>
          <a:xfrm>
            <a:off x="4657725" y="3210967"/>
            <a:ext cx="4210050" cy="357188"/>
          </a:xfrm>
          <a:prstGeom prst="rect">
            <a:avLst/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4" name="Shape 92"/>
          <p:cNvSpPr/>
          <p:nvPr/>
        </p:nvSpPr>
        <p:spPr>
          <a:xfrm>
            <a:off x="4672013" y="3210967"/>
            <a:ext cx="0" cy="357188"/>
          </a:xfrm>
          <a:prstGeom prst="line">
            <a:avLst/>
          </a:prstGeom>
          <a:noFill/>
          <a:ln w="28575">
            <a:solidFill>
              <a:srgbClr val="27AE6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4749701" y="3236268"/>
            <a:ext cx="413576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</a:t>
            </a:r>
            <a:endParaRPr lang="en-US" sz="550" dirty="0"/>
          </a:p>
        </p:txBody>
      </p:sp>
      <p:sp>
        <p:nvSpPr>
          <p:cNvPr id="96" name="Text 94"/>
          <p:cNvSpPr/>
          <p:nvPr/>
        </p:nvSpPr>
        <p:spPr>
          <a:xfrm>
            <a:off x="4749701" y="3328243"/>
            <a:ext cx="4135767" cy="214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5"/>
              </a:lnSpc>
              <a:spcBef>
                <a:spcPts val="50"/>
              </a:spcBef>
              <a:buNone/>
            </a:pPr>
            <a:r>
              <a:rPr lang="en-US" sz="6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you, Sarah! Your information has been saved.</a:t>
            </a:r>
            <a:endParaRPr lang="en-US" sz="650" dirty="0"/>
          </a:p>
          <a:p>
            <a:pPr algn="l" indent="0" marL="0">
              <a:lnSpc>
                <a:spcPts val="845"/>
              </a:lnSpc>
              <a:spcBef>
                <a:spcPts val="50"/>
              </a:spcBef>
              <a:buNone/>
            </a:pPr>
            <a:endParaRPr lang="en-US" sz="650" dirty="0"/>
          </a:p>
          <a:p>
            <a:pPr algn="l" indent="0" marL="0">
              <a:lnSpc>
                <a:spcPts val="845"/>
              </a:lnSpc>
              <a:spcBef>
                <a:spcPts val="50"/>
              </a:spcBef>
              <a:buNone/>
            </a:pPr>
            <a:r>
              <a:rPr lang="en-US" sz="6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Now, you mentioned you're looking for something for customer service...</a:t>
            </a:r>
            <a:endParaRPr lang="en-US" sz="650" dirty="0"/>
          </a:p>
        </p:txBody>
      </p:sp>
      <p:sp>
        <p:nvSpPr>
          <p:cNvPr id="97" name="Text 95"/>
          <p:cNvSpPr/>
          <p:nvPr/>
        </p:nvSpPr>
        <p:spPr>
          <a:xfrm>
            <a:off x="4657725" y="3587204"/>
            <a:ext cx="4210050" cy="249882"/>
          </a:xfrm>
          <a:prstGeom prst="rect">
            <a:avLst/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8" name="Shape 96"/>
          <p:cNvSpPr/>
          <p:nvPr/>
        </p:nvSpPr>
        <p:spPr>
          <a:xfrm>
            <a:off x="4672013" y="3587204"/>
            <a:ext cx="0" cy="249882"/>
          </a:xfrm>
          <a:prstGeom prst="line">
            <a:avLst/>
          </a:prstGeom>
          <a:noFill/>
          <a:ln w="28575">
            <a:solidFill>
              <a:srgbClr val="2E86DE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4749701" y="3612505"/>
            <a:ext cx="413576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E8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</a:t>
            </a:r>
            <a:endParaRPr lang="en-US" sz="550" dirty="0"/>
          </a:p>
        </p:txBody>
      </p:sp>
      <p:sp>
        <p:nvSpPr>
          <p:cNvPr id="100" name="Text 98"/>
          <p:cNvSpPr/>
          <p:nvPr/>
        </p:nvSpPr>
        <p:spPr>
          <a:xfrm>
            <a:off x="4749701" y="3704481"/>
            <a:ext cx="4135767" cy="107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5"/>
              </a:lnSpc>
              <a:spcBef>
                <a:spcPts val="50"/>
              </a:spcBef>
              <a:buNone/>
            </a:pPr>
            <a:r>
              <a:rPr lang="en-US" sz="6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have about 10 people on our team.</a:t>
            </a:r>
            <a:endParaRPr lang="en-US" sz="650" dirty="0"/>
          </a:p>
        </p:txBody>
      </p:sp>
      <p:sp>
        <p:nvSpPr>
          <p:cNvPr id="101" name="Text 99"/>
          <p:cNvSpPr/>
          <p:nvPr/>
        </p:nvSpPr>
        <p:spPr>
          <a:xfrm>
            <a:off x="4657725" y="3856137"/>
            <a:ext cx="4210050" cy="357188"/>
          </a:xfrm>
          <a:prstGeom prst="rect">
            <a:avLst/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2" name="Shape 100"/>
          <p:cNvSpPr/>
          <p:nvPr/>
        </p:nvSpPr>
        <p:spPr>
          <a:xfrm>
            <a:off x="4672013" y="3856137"/>
            <a:ext cx="0" cy="357188"/>
          </a:xfrm>
          <a:prstGeom prst="line">
            <a:avLst/>
          </a:prstGeom>
          <a:noFill/>
          <a:ln w="28575">
            <a:solidFill>
              <a:srgbClr val="27AE60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4749701" y="3881438"/>
            <a:ext cx="413576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</a:t>
            </a:r>
            <a:endParaRPr lang="en-US" sz="550" dirty="0"/>
          </a:p>
        </p:txBody>
      </p:sp>
      <p:sp>
        <p:nvSpPr>
          <p:cNvPr id="104" name="Text 102"/>
          <p:cNvSpPr/>
          <p:nvPr/>
        </p:nvSpPr>
        <p:spPr>
          <a:xfrm>
            <a:off x="4749701" y="3973413"/>
            <a:ext cx="4135767" cy="214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5"/>
              </a:lnSpc>
              <a:spcBef>
                <a:spcPts val="50"/>
              </a:spcBef>
              <a:buNone/>
            </a:pPr>
            <a:r>
              <a:rPr lang="en-US" sz="6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Thanks for sharing that, Sarah! Let me look up what CINNOX offers for customer service teams your size.Great news, Sarah...</a:t>
            </a:r>
            <a:endParaRPr lang="en-US" sz="650" dirty="0"/>
          </a:p>
        </p:txBody>
      </p:sp>
      <p:sp>
        <p:nvSpPr>
          <p:cNvPr id="105" name="Text 103"/>
          <p:cNvSpPr/>
          <p:nvPr/>
        </p:nvSpPr>
        <p:spPr>
          <a:xfrm>
            <a:off x="4657725" y="4232374"/>
            <a:ext cx="4210050" cy="249882"/>
          </a:xfrm>
          <a:prstGeom prst="rect">
            <a:avLst/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6" name="Shape 104"/>
          <p:cNvSpPr/>
          <p:nvPr/>
        </p:nvSpPr>
        <p:spPr>
          <a:xfrm>
            <a:off x="4672013" y="4232374"/>
            <a:ext cx="0" cy="249882"/>
          </a:xfrm>
          <a:prstGeom prst="line">
            <a:avLst/>
          </a:prstGeom>
          <a:noFill/>
          <a:ln w="28575">
            <a:solidFill>
              <a:srgbClr val="2E86DE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4749701" y="4257675"/>
            <a:ext cx="413576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E8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</a:t>
            </a:r>
            <a:endParaRPr lang="en-US" sz="550" dirty="0"/>
          </a:p>
        </p:txBody>
      </p:sp>
      <p:sp>
        <p:nvSpPr>
          <p:cNvPr id="108" name="Text 106"/>
          <p:cNvSpPr/>
          <p:nvPr/>
        </p:nvSpPr>
        <p:spPr>
          <a:xfrm>
            <a:off x="4749701" y="4349651"/>
            <a:ext cx="4135767" cy="107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5"/>
              </a:lnSpc>
              <a:spcBef>
                <a:spcPts val="50"/>
              </a:spcBef>
              <a:buNone/>
            </a:pPr>
            <a:r>
              <a:rPr lang="en-US" sz="6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weostly phone calls, but we also use WhatsApp with some customers.</a:t>
            </a:r>
            <a:endParaRPr lang="en-US" sz="650" dirty="0"/>
          </a:p>
        </p:txBody>
      </p:sp>
      <p:sp>
        <p:nvSpPr>
          <p:cNvPr id="109" name="Text 107"/>
          <p:cNvSpPr/>
          <p:nvPr/>
        </p:nvSpPr>
        <p:spPr>
          <a:xfrm>
            <a:off x="4657725" y="4501307"/>
            <a:ext cx="4210050" cy="357188"/>
          </a:xfrm>
          <a:prstGeom prst="rect">
            <a:avLst/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0" name="Shape 108"/>
          <p:cNvSpPr/>
          <p:nvPr/>
        </p:nvSpPr>
        <p:spPr>
          <a:xfrm>
            <a:off x="4672013" y="4501307"/>
            <a:ext cx="0" cy="357188"/>
          </a:xfrm>
          <a:prstGeom prst="line">
            <a:avLst/>
          </a:prstGeom>
          <a:noFill/>
          <a:ln w="28575">
            <a:solidFill>
              <a:srgbClr val="27AE60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4749701" y="4526607"/>
            <a:ext cx="413576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</a:t>
            </a:r>
            <a:endParaRPr lang="en-US" sz="550" dirty="0"/>
          </a:p>
        </p:txBody>
      </p:sp>
      <p:sp>
        <p:nvSpPr>
          <p:cNvPr id="112" name="Text 110"/>
          <p:cNvSpPr/>
          <p:nvPr/>
        </p:nvSpPr>
        <p:spPr>
          <a:xfrm>
            <a:off x="4749701" y="4618583"/>
            <a:ext cx="4135767" cy="214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5"/>
              </a:lnSpc>
              <a:spcBef>
                <a:spcPts val="50"/>
              </a:spcBef>
              <a:buNone/>
            </a:pPr>
            <a:r>
              <a:rPr lang="en-US" sz="6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to know! Let me check what CINNOX offers for phone and WhatsApp support.CINNOX is a great fit for that, Sarah! Acc...</a:t>
            </a:r>
            <a:endParaRPr lang="en-US" sz="650" dirty="0"/>
          </a:p>
        </p:txBody>
      </p:sp>
      <p:sp>
        <p:nvSpPr>
          <p:cNvPr id="113" name="Text 111"/>
          <p:cNvSpPr/>
          <p:nvPr/>
        </p:nvSpPr>
        <p:spPr>
          <a:xfrm>
            <a:off x="4657725" y="4877544"/>
            <a:ext cx="4210050" cy="249882"/>
          </a:xfrm>
          <a:prstGeom prst="rect">
            <a:avLst/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4" name="Shape 112"/>
          <p:cNvSpPr/>
          <p:nvPr/>
        </p:nvSpPr>
        <p:spPr>
          <a:xfrm>
            <a:off x="4672013" y="4877544"/>
            <a:ext cx="0" cy="249882"/>
          </a:xfrm>
          <a:prstGeom prst="line">
            <a:avLst/>
          </a:prstGeom>
          <a:noFill/>
          <a:ln w="28575">
            <a:solidFill>
              <a:srgbClr val="2E86DE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4749701" y="4902845"/>
            <a:ext cx="413576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E8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</a:t>
            </a:r>
            <a:endParaRPr lang="en-US" sz="550" dirty="0"/>
          </a:p>
        </p:txBody>
      </p:sp>
      <p:sp>
        <p:nvSpPr>
          <p:cNvPr id="116" name="Text 114"/>
          <p:cNvSpPr/>
          <p:nvPr/>
        </p:nvSpPr>
        <p:spPr>
          <a:xfrm>
            <a:off x="4749701" y="4994821"/>
            <a:ext cx="4135767" cy="107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5"/>
              </a:lnSpc>
              <a:spcBef>
                <a:spcPts val="50"/>
              </a:spcBef>
              <a:buNone/>
            </a:pPr>
            <a:r>
              <a:rPr lang="en-US" sz="6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would you recommend?</a:t>
            </a:r>
            <a:endParaRPr lang="en-US" sz="650" dirty="0"/>
          </a:p>
        </p:txBody>
      </p:sp>
      <p:sp>
        <p:nvSpPr>
          <p:cNvPr id="117" name="Text 115"/>
          <p:cNvSpPr/>
          <p:nvPr/>
        </p:nvSpPr>
        <p:spPr>
          <a:xfrm>
            <a:off x="4657725" y="5146477"/>
            <a:ext cx="4210050" cy="357188"/>
          </a:xfrm>
          <a:prstGeom prst="rect">
            <a:avLst/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8" name="Shape 116"/>
          <p:cNvSpPr/>
          <p:nvPr/>
        </p:nvSpPr>
        <p:spPr>
          <a:xfrm>
            <a:off x="4672013" y="5146477"/>
            <a:ext cx="0" cy="357188"/>
          </a:xfrm>
          <a:prstGeom prst="line">
            <a:avLst/>
          </a:prstGeom>
          <a:noFill/>
          <a:ln w="28575">
            <a:solidFill>
              <a:srgbClr val="27AE60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4749701" y="5171777"/>
            <a:ext cx="413576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</a:t>
            </a:r>
            <a:endParaRPr lang="en-US" sz="550" dirty="0"/>
          </a:p>
        </p:txBody>
      </p:sp>
      <p:sp>
        <p:nvSpPr>
          <p:cNvPr id="120" name="Text 118"/>
          <p:cNvSpPr/>
          <p:nvPr/>
        </p:nvSpPr>
        <p:spPr>
          <a:xfrm>
            <a:off x="4749701" y="5263753"/>
            <a:ext cx="4135767" cy="214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5"/>
              </a:lnSpc>
              <a:spcBef>
                <a:spcPts val="50"/>
              </a:spcBef>
              <a:buNone/>
            </a:pPr>
            <a:r>
              <a:rPr lang="en-US" sz="6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 me pull up our plans to find the best match for your team.Based on our pricing documentation, I'd recommend the **Om...</a:t>
            </a:r>
            <a:endParaRPr lang="en-US" sz="650" dirty="0"/>
          </a:p>
        </p:txBody>
      </p:sp>
      <p:sp>
        <p:nvSpPr>
          <p:cNvPr id="121" name="Text 119"/>
          <p:cNvSpPr/>
          <p:nvPr/>
        </p:nvSpPr>
        <p:spPr>
          <a:xfrm>
            <a:off x="4657725" y="5522714"/>
            <a:ext cx="4210050" cy="249882"/>
          </a:xfrm>
          <a:prstGeom prst="rect">
            <a:avLst/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2" name="Shape 120"/>
          <p:cNvSpPr/>
          <p:nvPr/>
        </p:nvSpPr>
        <p:spPr>
          <a:xfrm>
            <a:off x="4672013" y="5522714"/>
            <a:ext cx="0" cy="249882"/>
          </a:xfrm>
          <a:prstGeom prst="line">
            <a:avLst/>
          </a:prstGeom>
          <a:noFill/>
          <a:ln w="28575">
            <a:solidFill>
              <a:srgbClr val="2E86DE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4749701" y="5548015"/>
            <a:ext cx="413576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E8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</a:t>
            </a:r>
            <a:endParaRPr lang="en-US" sz="550" dirty="0"/>
          </a:p>
        </p:txBody>
      </p:sp>
      <p:sp>
        <p:nvSpPr>
          <p:cNvPr id="124" name="Text 122"/>
          <p:cNvSpPr/>
          <p:nvPr/>
        </p:nvSpPr>
        <p:spPr>
          <a:xfrm>
            <a:off x="4749701" y="5639991"/>
            <a:ext cx="4135767" cy="107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5"/>
              </a:lnSpc>
              <a:spcBef>
                <a:spcPts val="50"/>
              </a:spcBef>
              <a:buNone/>
            </a:pPr>
            <a:r>
              <a:rPr lang="en-US" sz="6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650" dirty="0"/>
          </a:p>
        </p:txBody>
      </p:sp>
      <p:sp>
        <p:nvSpPr>
          <p:cNvPr id="125" name="Text 123"/>
          <p:cNvSpPr/>
          <p:nvPr/>
        </p:nvSpPr>
        <p:spPr>
          <a:xfrm>
            <a:off x="4657725" y="5791646"/>
            <a:ext cx="4210050" cy="357188"/>
          </a:xfrm>
          <a:prstGeom prst="rect">
            <a:avLst/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6" name="Shape 124"/>
          <p:cNvSpPr/>
          <p:nvPr/>
        </p:nvSpPr>
        <p:spPr>
          <a:xfrm>
            <a:off x="4672013" y="5791646"/>
            <a:ext cx="0" cy="357188"/>
          </a:xfrm>
          <a:prstGeom prst="line">
            <a:avLst/>
          </a:prstGeom>
          <a:noFill/>
          <a:ln w="28575">
            <a:solidFill>
              <a:srgbClr val="27AE60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4749701" y="5816947"/>
            <a:ext cx="413576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</a:t>
            </a:r>
            <a:endParaRPr lang="en-US" sz="550" dirty="0"/>
          </a:p>
        </p:txBody>
      </p:sp>
      <p:sp>
        <p:nvSpPr>
          <p:cNvPr id="128" name="Text 126"/>
          <p:cNvSpPr/>
          <p:nvPr/>
        </p:nvSpPr>
        <p:spPr>
          <a:xfrm>
            <a:off x="4749701" y="5908923"/>
            <a:ext cx="4135767" cy="214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5"/>
              </a:lnSpc>
              <a:spcBef>
                <a:spcPts val="50"/>
              </a:spcBef>
              <a:buNone/>
            </a:pPr>
            <a:r>
              <a:rPr lang="en-US" sz="6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I'm connecting you with our sales team now. They'll be with you shortly.</a:t>
            </a:r>
            <a:endParaRPr lang="en-US" sz="650" dirty="0"/>
          </a:p>
          <a:p>
            <a:pPr algn="l" indent="0" marL="0">
              <a:lnSpc>
                <a:spcPts val="845"/>
              </a:lnSpc>
              <a:spcBef>
                <a:spcPts val="50"/>
              </a:spcBef>
              <a:buNone/>
            </a:pPr>
            <a:endParaRPr lang="en-US" sz="650" dirty="0"/>
          </a:p>
          <a:p>
            <a:pPr algn="l" indent="0" marL="0">
              <a:lnSpc>
                <a:spcPts val="845"/>
              </a:lnSpc>
              <a:spcBef>
                <a:spcPts val="50"/>
              </a:spcBef>
              <a:buNone/>
            </a:pPr>
            <a:r>
              <a:rPr lang="en-US" sz="6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They'll have your details on file and can put ...</a:t>
            </a:r>
            <a:endParaRPr lang="en-US" sz="6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34901"/>
          </a:xfrm>
          <a:prstGeom prst="rect">
            <a:avLst/>
          </a:prstGeom>
          <a:solidFill>
            <a:srgbClr val="1B2A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53901" y="130076"/>
            <a:ext cx="880892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已解决的 10 个问题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07802" y="390376"/>
            <a:ext cx="854994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8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Q1-Q4, Q6, P4, P5, P7, P9, P14, P15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28600" y="941189"/>
            <a:ext cx="8686800" cy="0"/>
          </a:xfrm>
          <a:prstGeom prst="line">
            <a:avLst/>
          </a:prstGeom>
          <a:noFill/>
          <a:ln w="9525">
            <a:solidFill>
              <a:srgbClr val="1B2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774502"/>
            <a:ext cx="38862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编号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660350" y="774502"/>
            <a:ext cx="84190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严重程度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1536502" y="774502"/>
            <a:ext cx="373728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问题描述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5251252" y="774502"/>
            <a:ext cx="373743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修复措施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228600" y="1166366"/>
            <a:ext cx="86868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" y="1022003"/>
            <a:ext cx="38862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2E8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660350" y="1022003"/>
            <a:ext cx="84190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High→Resolved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1536502" y="1022003"/>
            <a:ext cx="373728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现有客户身份验证缺失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5251252" y="1022003"/>
            <a:ext cx="373743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SKILL.md 要求 Company + Account ID 验证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228600" y="1366093"/>
            <a:ext cx="86868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8600" y="1221730"/>
            <a:ext cx="38862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2E8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660350" y="1221730"/>
            <a:ext cx="84190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Medium→Resolved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1536502" y="1221730"/>
            <a:ext cx="373728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产品咨询流程多余字段收集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5251252" y="1221730"/>
            <a:ext cx="373743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产品咨询不再要求 Agent name / Service number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228600" y="1565821"/>
            <a:ext cx="86868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8600" y="1421457"/>
            <a:ext cx="38862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2E8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Q3/Q4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660350" y="1421457"/>
            <a:ext cx="84190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High→Resolved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1536502" y="1421457"/>
            <a:ext cx="373728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无身份信号时跳过 Lead 收集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5251252" y="1421457"/>
            <a:ext cx="373743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v1.2: 无身份信号 → 路由问题先行</a:t>
            </a:r>
            <a:endParaRPr lang="en-US" sz="650" dirty="0"/>
          </a:p>
        </p:txBody>
      </p:sp>
      <p:sp>
        <p:nvSpPr>
          <p:cNvPr id="25" name="Shape 23"/>
          <p:cNvSpPr/>
          <p:nvPr/>
        </p:nvSpPr>
        <p:spPr>
          <a:xfrm>
            <a:off x="228600" y="1765548"/>
            <a:ext cx="86868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28600" y="1621185"/>
            <a:ext cx="38862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2E8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Q6</a:t>
            </a:r>
            <a:endParaRPr lang="en-US" sz="650" dirty="0"/>
          </a:p>
        </p:txBody>
      </p:sp>
      <p:sp>
        <p:nvSpPr>
          <p:cNvPr id="27" name="Text 25"/>
          <p:cNvSpPr/>
          <p:nvPr/>
        </p:nvSpPr>
        <p:spPr>
          <a:xfrm>
            <a:off x="660350" y="1621185"/>
            <a:ext cx="84190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High→Resolved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1536502" y="1621185"/>
            <a:ext cx="373728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后直接产品介绍</a:t>
            </a:r>
            <a:endParaRPr lang="en-US" sz="650" dirty="0"/>
          </a:p>
        </p:txBody>
      </p:sp>
      <p:sp>
        <p:nvSpPr>
          <p:cNvPr id="29" name="Text 27"/>
          <p:cNvSpPr/>
          <p:nvPr/>
        </p:nvSpPr>
        <p:spPr>
          <a:xfrm>
            <a:off x="5251252" y="1621185"/>
            <a:ext cx="373743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v1.3: Discovery Phase 先问 clarifying questions</a:t>
            </a:r>
            <a:endParaRPr lang="en-US" sz="650" dirty="0"/>
          </a:p>
        </p:txBody>
      </p:sp>
      <p:sp>
        <p:nvSpPr>
          <p:cNvPr id="30" name="Shape 28"/>
          <p:cNvSpPr/>
          <p:nvPr/>
        </p:nvSpPr>
        <p:spPr>
          <a:xfrm>
            <a:off x="228600" y="1965275"/>
            <a:ext cx="86868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28600" y="1820912"/>
            <a:ext cx="38862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2E8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P4</a:t>
            </a:r>
            <a:endParaRPr lang="en-US" sz="650" dirty="0"/>
          </a:p>
        </p:txBody>
      </p:sp>
      <p:sp>
        <p:nvSpPr>
          <p:cNvPr id="32" name="Text 30"/>
          <p:cNvSpPr/>
          <p:nvPr/>
        </p:nvSpPr>
        <p:spPr>
          <a:xfrm>
            <a:off x="660350" y="1820912"/>
            <a:ext cx="84190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Medium→Resolved</a:t>
            </a:r>
            <a:endParaRPr lang="en-US" sz="650" dirty="0"/>
          </a:p>
        </p:txBody>
      </p:sp>
      <p:sp>
        <p:nvSpPr>
          <p:cNvPr id="33" name="Text 31"/>
          <p:cNvSpPr/>
          <p:nvPr/>
        </p:nvSpPr>
        <p:spPr>
          <a:xfrm>
            <a:off x="1536502" y="1820912"/>
            <a:ext cx="373728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收集后缺少衔接过渡</a:t>
            </a:r>
            <a:endParaRPr lang="en-US" sz="650" dirty="0"/>
          </a:p>
        </p:txBody>
      </p:sp>
      <p:sp>
        <p:nvSpPr>
          <p:cNvPr id="34" name="Text 32"/>
          <p:cNvSpPr/>
          <p:nvPr/>
        </p:nvSpPr>
        <p:spPr>
          <a:xfrm>
            <a:off x="5251252" y="1820912"/>
            <a:ext cx="373743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"Now, regarding your question about [topic]..."</a:t>
            </a:r>
            <a:endParaRPr lang="en-US" sz="650" dirty="0"/>
          </a:p>
        </p:txBody>
      </p:sp>
      <p:sp>
        <p:nvSpPr>
          <p:cNvPr id="35" name="Shape 33"/>
          <p:cNvSpPr/>
          <p:nvPr/>
        </p:nvSpPr>
        <p:spPr>
          <a:xfrm>
            <a:off x="228600" y="2165003"/>
            <a:ext cx="86868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8600" y="2020639"/>
            <a:ext cx="38862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2E8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P5</a:t>
            </a:r>
            <a:endParaRPr lang="en-US" sz="650" dirty="0"/>
          </a:p>
        </p:txBody>
      </p:sp>
      <p:sp>
        <p:nvSpPr>
          <p:cNvPr id="37" name="Text 35"/>
          <p:cNvSpPr/>
          <p:nvPr/>
        </p:nvSpPr>
        <p:spPr>
          <a:xfrm>
            <a:off x="660350" y="2020639"/>
            <a:ext cx="84190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Medium→Resolved</a:t>
            </a:r>
            <a:endParaRPr lang="en-US" sz="650" dirty="0"/>
          </a:p>
        </p:txBody>
      </p:sp>
      <p:sp>
        <p:nvSpPr>
          <p:cNvPr id="38" name="Text 36"/>
          <p:cNvSpPr/>
          <p:nvPr/>
        </p:nvSpPr>
        <p:spPr>
          <a:xfrm>
            <a:off x="1536502" y="2020639"/>
            <a:ext cx="373728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无数据复述确认</a:t>
            </a:r>
            <a:endParaRPr lang="en-US" sz="650" dirty="0"/>
          </a:p>
        </p:txBody>
      </p:sp>
      <p:sp>
        <p:nvSpPr>
          <p:cNvPr id="39" name="Text 37"/>
          <p:cNvSpPr/>
          <p:nvPr/>
        </p:nvSpPr>
        <p:spPr>
          <a:xfrm>
            <a:off x="5251252" y="2020639"/>
            <a:ext cx="373743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"Let me confirm: Name/Company/Email/Phone"</a:t>
            </a:r>
            <a:endParaRPr lang="en-US" sz="650" dirty="0"/>
          </a:p>
        </p:txBody>
      </p:sp>
      <p:sp>
        <p:nvSpPr>
          <p:cNvPr id="40" name="Shape 38"/>
          <p:cNvSpPr/>
          <p:nvPr/>
        </p:nvSpPr>
        <p:spPr>
          <a:xfrm>
            <a:off x="228600" y="2364730"/>
            <a:ext cx="86868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28600" y="2220367"/>
            <a:ext cx="38862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2E8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P7</a:t>
            </a:r>
            <a:endParaRPr lang="en-US" sz="650" dirty="0"/>
          </a:p>
        </p:txBody>
      </p:sp>
      <p:sp>
        <p:nvSpPr>
          <p:cNvPr id="42" name="Text 40"/>
          <p:cNvSpPr/>
          <p:nvPr/>
        </p:nvSpPr>
        <p:spPr>
          <a:xfrm>
            <a:off x="660350" y="2220367"/>
            <a:ext cx="84190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Low→Resolved</a:t>
            </a:r>
            <a:endParaRPr lang="en-US" sz="650" dirty="0"/>
          </a:p>
        </p:txBody>
      </p:sp>
      <p:sp>
        <p:nvSpPr>
          <p:cNvPr id="43" name="Text 41"/>
          <p:cNvSpPr/>
          <p:nvPr/>
        </p:nvSpPr>
        <p:spPr>
          <a:xfrm>
            <a:off x="1536502" y="2220367"/>
            <a:ext cx="373728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价格信息散文形式</a:t>
            </a:r>
            <a:endParaRPr lang="en-US" sz="650" dirty="0"/>
          </a:p>
        </p:txBody>
      </p:sp>
      <p:sp>
        <p:nvSpPr>
          <p:cNvPr id="44" name="Text 42"/>
          <p:cNvSpPr/>
          <p:nvPr/>
        </p:nvSpPr>
        <p:spPr>
          <a:xfrm>
            <a:off x="5251252" y="2220367"/>
            <a:ext cx="373743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3+ pricing tiers 使用 markdown 表格</a:t>
            </a:r>
            <a:endParaRPr lang="en-US" sz="650" dirty="0"/>
          </a:p>
        </p:txBody>
      </p:sp>
      <p:sp>
        <p:nvSpPr>
          <p:cNvPr id="45" name="Shape 43"/>
          <p:cNvSpPr/>
          <p:nvPr/>
        </p:nvSpPr>
        <p:spPr>
          <a:xfrm>
            <a:off x="228600" y="2564457"/>
            <a:ext cx="86868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28600" y="2420094"/>
            <a:ext cx="38862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2E8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P9</a:t>
            </a:r>
            <a:endParaRPr lang="en-US" sz="650" dirty="0"/>
          </a:p>
        </p:txBody>
      </p:sp>
      <p:sp>
        <p:nvSpPr>
          <p:cNvPr id="47" name="Text 45"/>
          <p:cNvSpPr/>
          <p:nvPr/>
        </p:nvSpPr>
        <p:spPr>
          <a:xfrm>
            <a:off x="660350" y="2420094"/>
            <a:ext cx="84190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Medium→Resolved</a:t>
            </a:r>
            <a:endParaRPr lang="en-US" sz="650" dirty="0"/>
          </a:p>
        </p:txBody>
      </p:sp>
      <p:sp>
        <p:nvSpPr>
          <p:cNvPr id="48" name="Text 46"/>
          <p:cNvSpPr/>
          <p:nvPr/>
        </p:nvSpPr>
        <p:spPr>
          <a:xfrm>
            <a:off x="1536502" y="2420094"/>
            <a:ext cx="373728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拒绝电话后缺中间选项</a:t>
            </a:r>
            <a:endParaRPr lang="en-US" sz="650" dirty="0"/>
          </a:p>
        </p:txBody>
      </p:sp>
      <p:sp>
        <p:nvSpPr>
          <p:cNvPr id="49" name="Text 47"/>
          <p:cNvSpPr/>
          <p:nvPr/>
        </p:nvSpPr>
        <p:spPr>
          <a:xfrm>
            <a:off x="5251252" y="2420094"/>
            <a:ext cx="373743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"We can reach you by email instead"</a:t>
            </a:r>
            <a:endParaRPr lang="en-US" sz="650" dirty="0"/>
          </a:p>
        </p:txBody>
      </p:sp>
      <p:sp>
        <p:nvSpPr>
          <p:cNvPr id="50" name="Shape 48"/>
          <p:cNvSpPr/>
          <p:nvPr/>
        </p:nvSpPr>
        <p:spPr>
          <a:xfrm>
            <a:off x="228600" y="2764185"/>
            <a:ext cx="86868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28600" y="2619821"/>
            <a:ext cx="38862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2E8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P14</a:t>
            </a:r>
            <a:endParaRPr lang="en-US" sz="650" dirty="0"/>
          </a:p>
        </p:txBody>
      </p:sp>
      <p:sp>
        <p:nvSpPr>
          <p:cNvPr id="52" name="Text 50"/>
          <p:cNvSpPr/>
          <p:nvPr/>
        </p:nvSpPr>
        <p:spPr>
          <a:xfrm>
            <a:off x="660350" y="2619821"/>
            <a:ext cx="84190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Low→Resolved</a:t>
            </a:r>
            <a:endParaRPr lang="en-US" sz="650" dirty="0"/>
          </a:p>
        </p:txBody>
      </p:sp>
      <p:sp>
        <p:nvSpPr>
          <p:cNvPr id="53" name="Text 51"/>
          <p:cNvSpPr/>
          <p:nvPr/>
        </p:nvSpPr>
        <p:spPr>
          <a:xfrm>
            <a:off x="1536502" y="2619821"/>
            <a:ext cx="373728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TC-G1/B1 判定标准不一致</a:t>
            </a:r>
            <a:endParaRPr lang="en-US" sz="650" dirty="0"/>
          </a:p>
        </p:txBody>
      </p:sp>
      <p:sp>
        <p:nvSpPr>
          <p:cNvPr id="54" name="Text 52"/>
          <p:cNvSpPr/>
          <p:nvPr/>
        </p:nvSpPr>
        <p:spPr>
          <a:xfrm>
            <a:off x="5251252" y="2619821"/>
            <a:ext cx="373743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TC-G1 checklist 已更新路由问题检查项</a:t>
            </a:r>
            <a:endParaRPr lang="en-US" sz="650" dirty="0"/>
          </a:p>
        </p:txBody>
      </p:sp>
      <p:sp>
        <p:nvSpPr>
          <p:cNvPr id="55" name="Shape 53"/>
          <p:cNvSpPr/>
          <p:nvPr/>
        </p:nvSpPr>
        <p:spPr>
          <a:xfrm>
            <a:off x="228600" y="2963912"/>
            <a:ext cx="86868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28600" y="2819549"/>
            <a:ext cx="38862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2E8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P15</a:t>
            </a:r>
            <a:endParaRPr lang="en-US" sz="650" dirty="0"/>
          </a:p>
        </p:txBody>
      </p:sp>
      <p:sp>
        <p:nvSpPr>
          <p:cNvPr id="57" name="Text 55"/>
          <p:cNvSpPr/>
          <p:nvPr/>
        </p:nvSpPr>
        <p:spPr>
          <a:xfrm>
            <a:off x="660350" y="2819549"/>
            <a:ext cx="84190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Medium→Resolved</a:t>
            </a:r>
            <a:endParaRPr lang="en-US" sz="650" dirty="0"/>
          </a:p>
        </p:txBody>
      </p:sp>
      <p:sp>
        <p:nvSpPr>
          <p:cNvPr id="58" name="Text 56"/>
          <p:cNvSpPr/>
          <p:nvPr/>
        </p:nvSpPr>
        <p:spPr>
          <a:xfrm>
            <a:off x="1536502" y="2819549"/>
            <a:ext cx="373728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现有客户产品咨询缺身份核验</a:t>
            </a:r>
            <a:endParaRPr lang="en-US" sz="650" dirty="0"/>
          </a:p>
        </p:txBody>
      </p:sp>
      <p:sp>
        <p:nvSpPr>
          <p:cNvPr id="59" name="Text 57"/>
          <p:cNvSpPr/>
          <p:nvPr/>
        </p:nvSpPr>
        <p:spPr>
          <a:xfrm>
            <a:off x="5251252" y="2819549"/>
            <a:ext cx="373743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Customer Flow 要求 Account ID 验证</a:t>
            </a:r>
            <a:endParaRPr lang="en-US" sz="6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34901"/>
          </a:xfrm>
          <a:prstGeom prst="rect">
            <a:avLst/>
          </a:prstGeom>
          <a:solidFill>
            <a:srgbClr val="1B2A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53901" y="115788"/>
            <a:ext cx="880892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待 CINNOX 团队确认（3 项）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07802" y="376089"/>
            <a:ext cx="854994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8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需要业务决策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28600" y="812602"/>
            <a:ext cx="8686800" cy="799951"/>
          </a:xfrm>
          <a:prstGeom prst="rect">
            <a:avLst/>
          </a:prstGeom>
          <a:solidFill>
            <a:srgbClr val="FFF3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252413" y="812602"/>
            <a:ext cx="0" cy="799951"/>
          </a:xfrm>
          <a:prstGeom prst="line">
            <a:avLst/>
          </a:prstGeom>
          <a:noFill/>
          <a:ln w="47625">
            <a:solidFill>
              <a:srgbClr val="F39C1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8625" y="939552"/>
            <a:ext cx="850106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P1: Lead 前置策略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28625" y="1171277"/>
            <a:ext cx="850106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v1.1 要求回答任何问题前先收集 4 个字段（Name/Company/Email/Phone），对直接提问型用户造成明显阻力。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28625" y="1352252"/>
            <a:ext cx="850106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7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建议评估：前置收集 vs 渐进式信息收集（progressive profiling）的转化差异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228600" y="1714054"/>
            <a:ext cx="8686800" cy="799951"/>
          </a:xfrm>
          <a:prstGeom prst="rect">
            <a:avLst/>
          </a:prstGeom>
          <a:solidFill>
            <a:srgbClr val="FFF3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252413" y="1714054"/>
            <a:ext cx="0" cy="799951"/>
          </a:xfrm>
          <a:prstGeom prst="line">
            <a:avLst/>
          </a:prstGeom>
          <a:noFill/>
          <a:ln w="47625">
            <a:solidFill>
              <a:srgbClr val="F39C1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8625" y="1841004"/>
            <a:ext cx="850106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P3: 转人工后缺工单/ETA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28625" y="2072729"/>
            <a:ext cx="850106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 说"请稍候"后对话终止，未提供工单号、预计响应时间或联系渠道。客户无法判断是同步等待还是异步回访。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28625" y="2253704"/>
            <a:ext cx="850106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7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影响 TC: TC-E1/E2/F1/F2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228600" y="2615505"/>
            <a:ext cx="8686800" cy="799951"/>
          </a:xfrm>
          <a:prstGeom prst="rect">
            <a:avLst/>
          </a:prstGeom>
          <a:solidFill>
            <a:srgbClr val="FFF3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252413" y="2615505"/>
            <a:ext cx="0" cy="799951"/>
          </a:xfrm>
          <a:prstGeom prst="line">
            <a:avLst/>
          </a:prstGeom>
          <a:noFill/>
          <a:ln w="47625">
            <a:solidFill>
              <a:srgbClr val="F39C1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8625" y="2742456"/>
            <a:ext cx="850106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P8: 转人工不区分同步/异步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28625" y="2974181"/>
            <a:ext cx="850106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"please hold" 未说明等待方式（Chat/电话/邮件）。Billing、Tech、Partnership 性质不同但使用同一套话术。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28625" y="3155156"/>
            <a:ext cx="850106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7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影响 TC: TC-A3/E1/E2/F1/F2</a:t>
            </a:r>
            <a:endParaRPr lang="en-US" sz="7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34901"/>
          </a:xfrm>
          <a:prstGeom prst="rect">
            <a:avLst/>
          </a:prstGeom>
          <a:solidFill>
            <a:srgbClr val="1B2A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53901" y="115788"/>
            <a:ext cx="880892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体验优化建议（5 项）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07802" y="376089"/>
            <a:ext cx="854994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8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可直接改进，无需业务确认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28600" y="787152"/>
            <a:ext cx="381000" cy="444401"/>
          </a:xfrm>
          <a:prstGeom prst="roundRect">
            <a:avLst>
              <a:gd name="adj" fmla="val 13333"/>
            </a:avLst>
          </a:prstGeom>
          <a:solidFill>
            <a:srgbClr val="2E86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51234" y="952202"/>
            <a:ext cx="13829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60350" y="787152"/>
            <a:ext cx="8255050" cy="444401"/>
          </a:xfrm>
          <a:prstGeom prst="roundRect">
            <a:avLst>
              <a:gd name="adj" fmla="val 11431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36550" y="863352"/>
            <a:ext cx="826470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预约缺少主动询问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36550" y="1031528"/>
            <a:ext cx="826470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 应主动询问合适时间和感兴趣话题。TC-D2 中未解释 WHY 需要电话号码。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228600" y="1294954"/>
            <a:ext cx="381000" cy="444401"/>
          </a:xfrm>
          <a:prstGeom prst="roundRect">
            <a:avLst>
              <a:gd name="adj" fmla="val 13333"/>
            </a:avLst>
          </a:prstGeom>
          <a:solidFill>
            <a:srgbClr val="2E86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56890" y="1460004"/>
            <a:ext cx="12675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P6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60350" y="1294954"/>
            <a:ext cx="8255050" cy="444401"/>
          </a:xfrm>
          <a:prstGeom prst="roundRect">
            <a:avLst>
              <a:gd name="adj" fmla="val 11431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36550" y="1371154"/>
            <a:ext cx="826470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步串行问答效率低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36550" y="1539329"/>
            <a:ext cx="826470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→ Company → Email → Phone 各占一轮。可考虑合并："请问您的姓名和公司？"减少往返。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228600" y="1802755"/>
            <a:ext cx="381000" cy="444401"/>
          </a:xfrm>
          <a:prstGeom prst="roundRect">
            <a:avLst>
              <a:gd name="adj" fmla="val 13333"/>
            </a:avLst>
          </a:prstGeom>
          <a:solidFill>
            <a:srgbClr val="2E86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28761" y="1967805"/>
            <a:ext cx="18429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P3/P8/P10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60350" y="1802755"/>
            <a:ext cx="8255050" cy="444401"/>
          </a:xfrm>
          <a:prstGeom prst="roundRect">
            <a:avLst>
              <a:gd name="adj" fmla="val 11431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36550" y="1878955"/>
            <a:ext cx="826470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转人工流程待完善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736550" y="2047131"/>
            <a:ext cx="826470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转人工话术不区分同步/异步、缺工单号/ETA、措辞不统一。只需 CINNOX 提供真实转接接口即可解决。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228600" y="2310557"/>
            <a:ext cx="381000" cy="444401"/>
          </a:xfrm>
          <a:prstGeom prst="roundRect">
            <a:avLst>
              <a:gd name="adj" fmla="val 13333"/>
            </a:avLst>
          </a:prstGeom>
          <a:solidFill>
            <a:srgbClr val="2E86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31440" y="2475607"/>
            <a:ext cx="17867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P11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60350" y="2310557"/>
            <a:ext cx="8255050" cy="444401"/>
          </a:xfrm>
          <a:prstGeom prst="roundRect">
            <a:avLst>
              <a:gd name="adj" fmla="val 11431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736550" y="2386757"/>
            <a:ext cx="826470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记录资信缺少进度提示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736550" y="2554932"/>
            <a:ext cx="826470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 后台处理时无"记录中..."反馈。用户无法判断系统是否收到回复。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228600" y="2818358"/>
            <a:ext cx="381000" cy="444401"/>
          </a:xfrm>
          <a:prstGeom prst="roundRect">
            <a:avLst>
              <a:gd name="adj" fmla="val 13333"/>
            </a:avLst>
          </a:prstGeom>
          <a:solidFill>
            <a:srgbClr val="2E86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258068" y="2983409"/>
            <a:ext cx="32835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P12/13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60350" y="2818358"/>
            <a:ext cx="8255050" cy="444401"/>
          </a:xfrm>
          <a:prstGeom prst="roundRect">
            <a:avLst>
              <a:gd name="adj" fmla="val 11431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736550" y="2894558"/>
            <a:ext cx="826470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单条消息过长 + 缺少消息边界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36550" y="3062734"/>
            <a:ext cx="826470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 在同一条消息中包含确认、产品说明、价格、引导。建议拆分为多条消息或结构化格式。</a:t>
            </a:r>
            <a:endParaRPr lang="en-US" sz="7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24887" y="1621036"/>
            <a:ext cx="2694078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190851" y="2265462"/>
            <a:ext cx="762000" cy="25301"/>
          </a:xfrm>
          <a:prstGeom prst="rect">
            <a:avLst/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224887" y="2468463"/>
            <a:ext cx="269407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0"/>
              </a:spcBef>
              <a:buNone/>
            </a:pPr>
            <a:r>
              <a:rPr lang="en-US" sz="11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CINNOX AI Bot — UAT Round 3 Complete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24887" y="2773263"/>
            <a:ext cx="269407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200"/>
              </a:spcBef>
              <a:buNone/>
            </a:pPr>
            <a:r>
              <a:rPr lang="en-US" sz="1000" dirty="0">
                <a:solidFill>
                  <a:srgbClr val="E8F4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19/19 PASS (100%)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224887" y="3170039"/>
            <a:ext cx="269407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0"/>
              </a:spcBef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OneSyn Technology | 2026-03-04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24887" y="3379589"/>
            <a:ext cx="269407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buNone/>
            </a:pPr>
            <a:r>
              <a:rPr lang="en-US" sz="8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Next: 转人工接口对接 → 体验优化迭代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CINNOX AI Bot — UAT Round 3 Report</dc:title>
  <dc:subject>PptxGenJS Presentation</dc:subject>
  <dc:creator>OneSyn</dc:creator>
  <cp:lastModifiedBy>OneSyn</cp:lastModifiedBy>
  <cp:revision>1</cp:revision>
  <dcterms:created xsi:type="dcterms:W3CDTF">2026-03-04T12:53:31Z</dcterms:created>
  <dcterms:modified xsi:type="dcterms:W3CDTF">2026-03-04T12:53:31Z</dcterms:modified>
</cp:coreProperties>
</file>