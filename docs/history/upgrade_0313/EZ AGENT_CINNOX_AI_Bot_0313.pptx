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half" idx="1"/>
          </p:nvPr>
        </p:nvSpPr>
        <p:spPr>
          <a:xfrm>
            <a:off x="722312" y="2906713"/>
            <a:ext cx="77724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/>
            </a:lvl1pPr>
            <a:lvl2pPr marL="0" indent="0">
              <a:spcBef>
                <a:spcPts val="500"/>
              </a:spcBef>
              <a:buSzTx/>
              <a:buFontTx/>
              <a:buNone/>
              <a:defRPr sz="2400"/>
            </a:lvl2pPr>
            <a:lvl3pPr marL="0" indent="0">
              <a:spcBef>
                <a:spcPts val="500"/>
              </a:spcBef>
              <a:buSzTx/>
              <a:buFontTx/>
              <a:buNone/>
              <a:defRPr sz="2400"/>
            </a:lvl3pPr>
            <a:lvl4pPr marL="0" indent="0">
              <a:spcBef>
                <a:spcPts val="500"/>
              </a:spcBef>
              <a:buSzTx/>
              <a:buFontTx/>
              <a:buNone/>
              <a:defRPr sz="2400"/>
            </a:lvl4pPr>
            <a:lvl5pPr marL="0" indent="0">
              <a:spcBef>
                <a:spcPts val="500"/>
              </a:spcBef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7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0" y="54864"/>
            <a:ext cx="5029200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" name="Oval 3"/>
          <p:cNvSpPr/>
          <p:nvPr/>
        </p:nvSpPr>
        <p:spPr>
          <a:xfrm>
            <a:off x="5943600" y="-914401"/>
            <a:ext cx="4114800" cy="4114804"/>
          </a:xfrm>
          <a:prstGeom prst="ellipse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" name="Oval 4"/>
          <p:cNvSpPr/>
          <p:nvPr/>
        </p:nvSpPr>
        <p:spPr>
          <a:xfrm>
            <a:off x="6857999" y="457197"/>
            <a:ext cx="2926087" cy="2926088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777236" y="1097280"/>
            <a:ext cx="5394966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x CINNOX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777236" y="1920238"/>
            <a:ext cx="5394966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0891B2"/>
                </a:solidFill>
              </a:defRPr>
            </a:lvl1pPr>
          </a:lstStyle>
          <a:p>
            <a:pPr/>
            <a:r>
              <a:t>智能客服解决方案</a:t>
            </a:r>
          </a:p>
        </p:txBody>
      </p:sp>
      <p:sp>
        <p:nvSpPr>
          <p:cNvPr id="100" name="Rectangle 7"/>
          <p:cNvSpPr/>
          <p:nvPr/>
        </p:nvSpPr>
        <p:spPr>
          <a:xfrm>
            <a:off x="731519" y="2606038"/>
            <a:ext cx="2286001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777236" y="2834638"/>
            <a:ext cx="5394966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基于真实对话数据的 AI Agent 方案提案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777236" y="3474720"/>
            <a:ext cx="3566166" cy="320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 年 3 月</a:t>
            </a:r>
          </a:p>
        </p:txBody>
      </p:sp>
      <p:sp>
        <p:nvSpPr>
          <p:cNvPr id="103" name="TextBox 10"/>
          <p:cNvSpPr txBox="1"/>
          <p:nvPr/>
        </p:nvSpPr>
        <p:spPr>
          <a:xfrm>
            <a:off x="777236" y="3794759"/>
            <a:ext cx="3566166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1792333" y="228600"/>
            <a:ext cx="6799999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平台概览</a:t>
            </a:r>
          </a:p>
        </p:txBody>
      </p:sp>
      <p:sp>
        <p:nvSpPr>
          <p:cNvPr id="109" name="Text 4"/>
          <p:cNvSpPr/>
          <p:nvPr/>
        </p:nvSpPr>
        <p:spPr>
          <a:xfrm>
            <a:off x="381000" y="1025425"/>
            <a:ext cx="4089352" cy="996555"/>
          </a:xfrm>
          <a:prstGeom prst="roundRect">
            <a:avLst>
              <a:gd name="adj" fmla="val 7646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Shape 5"/>
          <p:cNvSpPr/>
          <p:nvPr/>
        </p:nvSpPr>
        <p:spPr>
          <a:xfrm flipH="1">
            <a:off x="404813" y="1025425"/>
            <a:ext cx="9" cy="996555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Text 6"/>
          <p:cNvSpPr txBox="1"/>
          <p:nvPr/>
        </p:nvSpPr>
        <p:spPr>
          <a:xfrm>
            <a:off x="606326" y="119047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全渠道通信平台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606326" y="147622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是 M800 集团旗下企业级全渠道客户互动平台，整合即时通讯、语音通话、视频会议、社交媒体于一体。</a:t>
            </a:r>
          </a:p>
        </p:txBody>
      </p:sp>
      <p:sp>
        <p:nvSpPr>
          <p:cNvPr id="113" name="Text 8"/>
          <p:cNvSpPr/>
          <p:nvPr/>
        </p:nvSpPr>
        <p:spPr>
          <a:xfrm>
            <a:off x="381000" y="2123480"/>
            <a:ext cx="4089352" cy="1263113"/>
          </a:xfrm>
          <a:prstGeom prst="roundRect">
            <a:avLst>
              <a:gd name="adj" fmla="val 6033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4" name="Shape 9"/>
          <p:cNvSpPr/>
          <p:nvPr/>
        </p:nvSpPr>
        <p:spPr>
          <a:xfrm flipH="1">
            <a:off x="404813" y="2123480"/>
            <a:ext cx="9" cy="1263113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10"/>
          <p:cNvSpPr txBox="1"/>
          <p:nvPr/>
        </p:nvSpPr>
        <p:spPr>
          <a:xfrm>
            <a:off x="606326" y="2288530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三档产品线</a:t>
            </a:r>
          </a:p>
        </p:txBody>
      </p:sp>
      <p:sp>
        <p:nvSpPr>
          <p:cNvPr id="116" name="Text 11"/>
          <p:cNvSpPr txBox="1"/>
          <p:nvPr/>
        </p:nvSpPr>
        <p:spPr>
          <a:xfrm>
            <a:off x="606326" y="2574280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Digital Connect (DC)</a:t>
            </a:r>
            <a:r>
              <a:rPr b="0"/>
              <a:t> - 基础版全渠道客服</a:t>
            </a:r>
          </a:p>
        </p:txBody>
      </p:sp>
      <p:sp>
        <p:nvSpPr>
          <p:cNvPr id="117" name="Text 12"/>
          <p:cNvSpPr txBox="1"/>
          <p:nvPr/>
        </p:nvSpPr>
        <p:spPr>
          <a:xfrm>
            <a:off x="606326" y="2802731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Omnichannel Contact Centre (OCC)</a:t>
            </a:r>
            <a:r>
              <a:rPr b="0"/>
              <a:t> - 专业联络中心</a:t>
            </a:r>
          </a:p>
        </p:txBody>
      </p:sp>
      <p:sp>
        <p:nvSpPr>
          <p:cNvPr id="118" name="Text 13"/>
          <p:cNvSpPr txBox="1"/>
          <p:nvPr/>
        </p:nvSpPr>
        <p:spPr>
          <a:xfrm>
            <a:off x="606326" y="3031182"/>
            <a:ext cx="3760050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CX Hub</a:t>
            </a:r>
            <a:r>
              <a:rPr b="0"/>
              <a:t> - 企业级客户体验中心</a:t>
            </a:r>
          </a:p>
        </p:txBody>
      </p:sp>
      <p:sp>
        <p:nvSpPr>
          <p:cNvPr id="119" name="Text 14"/>
          <p:cNvSpPr/>
          <p:nvPr/>
        </p:nvSpPr>
        <p:spPr>
          <a:xfrm>
            <a:off x="381000" y="3488085"/>
            <a:ext cx="4089352" cy="1411920"/>
          </a:xfrm>
          <a:prstGeom prst="roundRect">
            <a:avLst>
              <a:gd name="adj" fmla="val 7646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0" name="Shape 15"/>
          <p:cNvSpPr/>
          <p:nvPr/>
        </p:nvSpPr>
        <p:spPr>
          <a:xfrm flipH="1">
            <a:off x="404813" y="3488085"/>
            <a:ext cx="9" cy="1411920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Text 16"/>
          <p:cNvSpPr txBox="1"/>
          <p:nvPr/>
        </p:nvSpPr>
        <p:spPr>
          <a:xfrm>
            <a:off x="606326" y="3653135"/>
            <a:ext cx="3760050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全球电信能力</a:t>
            </a:r>
          </a:p>
        </p:txBody>
      </p:sp>
      <p:sp>
        <p:nvSpPr>
          <p:cNvPr id="122" name="Text 17"/>
          <p:cNvSpPr txBox="1"/>
          <p:nvPr/>
        </p:nvSpPr>
        <p:spPr>
          <a:xfrm>
            <a:off x="606326" y="3938885"/>
            <a:ext cx="3760050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虚拟号码 (DID)、SMS/OTP、SIP 语音、WhatsApp Business 集成，覆盖全球 100+ 国家和地区。</a:t>
            </a:r>
          </a:p>
        </p:txBody>
      </p:sp>
      <p:sp>
        <p:nvSpPr>
          <p:cNvPr id="123" name="Text 18"/>
          <p:cNvSpPr/>
          <p:nvPr/>
        </p:nvSpPr>
        <p:spPr>
          <a:xfrm>
            <a:off x="4673501" y="1025425"/>
            <a:ext cx="4089499" cy="996555"/>
          </a:xfrm>
          <a:prstGeom prst="roundRect">
            <a:avLst>
              <a:gd name="adj" fmla="val 7646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4" name="Text 19"/>
          <p:cNvSpPr txBox="1"/>
          <p:nvPr/>
        </p:nvSpPr>
        <p:spPr>
          <a:xfrm>
            <a:off x="4851201" y="1190475"/>
            <a:ext cx="3808782" cy="192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Sales Bot</a:t>
            </a:r>
          </a:p>
        </p:txBody>
      </p:sp>
      <p:sp>
        <p:nvSpPr>
          <p:cNvPr id="125" name="Text 20"/>
          <p:cNvSpPr txBox="1"/>
          <p:nvPr/>
        </p:nvSpPr>
        <p:spPr>
          <a:xfrm>
            <a:off x="4851201" y="1476225"/>
            <a:ext cx="3808782" cy="3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M800 同步布局 AI 语音销售机器人产品线，支持外呼 (Outbound) 和呼入 (Inbound) 场景，与 CINNOX 平台深度集成。</a:t>
            </a:r>
          </a:p>
        </p:txBody>
      </p:sp>
      <p:sp>
        <p:nvSpPr>
          <p:cNvPr id="126" name="Text 21"/>
          <p:cNvSpPr/>
          <p:nvPr/>
        </p:nvSpPr>
        <p:spPr>
          <a:xfrm>
            <a:off x="4673501" y="2123480"/>
            <a:ext cx="4089499" cy="2776525"/>
          </a:xfrm>
          <a:prstGeom prst="roundRect">
            <a:avLst>
              <a:gd name="adj" fmla="val 391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7" name="Shape 22"/>
          <p:cNvSpPr/>
          <p:nvPr/>
        </p:nvSpPr>
        <p:spPr>
          <a:xfrm flipH="1">
            <a:off x="4697312" y="2123480"/>
            <a:ext cx="5" cy="2776524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Text 23"/>
          <p:cNvSpPr txBox="1"/>
          <p:nvPr/>
        </p:nvSpPr>
        <p:spPr>
          <a:xfrm>
            <a:off x="4898827" y="2288530"/>
            <a:ext cx="3760202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核心服务能力</a:t>
            </a:r>
          </a:p>
        </p:txBody>
      </p:sp>
      <p:sp>
        <p:nvSpPr>
          <p:cNvPr id="129" name="Text 24"/>
          <p:cNvSpPr txBox="1"/>
          <p:nvPr/>
        </p:nvSpPr>
        <p:spPr>
          <a:xfrm>
            <a:off x="4898827" y="2574280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WhatsApp Business 集成</a:t>
            </a:r>
          </a:p>
        </p:txBody>
      </p:sp>
      <p:sp>
        <p:nvSpPr>
          <p:cNvPr id="130" name="Text 25"/>
          <p:cNvSpPr txBox="1"/>
          <p:nvPr/>
        </p:nvSpPr>
        <p:spPr>
          <a:xfrm>
            <a:off x="4898827" y="2802731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全球虚拟号码 (DID) 供应</a:t>
            </a:r>
          </a:p>
        </p:txBody>
      </p:sp>
      <p:sp>
        <p:nvSpPr>
          <p:cNvPr id="131" name="Text 26"/>
          <p:cNvSpPr txBox="1"/>
          <p:nvPr/>
        </p:nvSpPr>
        <p:spPr>
          <a:xfrm>
            <a:off x="4898827" y="303118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SMS / OTP 验证服务</a:t>
            </a:r>
          </a:p>
        </p:txBody>
      </p:sp>
      <p:sp>
        <p:nvSpPr>
          <p:cNvPr id="132" name="Text 27"/>
          <p:cNvSpPr txBox="1"/>
          <p:nvPr/>
        </p:nvSpPr>
        <p:spPr>
          <a:xfrm>
            <a:off x="4898827" y="3259632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语音通话</a:t>
            </a:r>
          </a:p>
        </p:txBody>
      </p:sp>
      <p:sp>
        <p:nvSpPr>
          <p:cNvPr id="133" name="Text 28"/>
          <p:cNvSpPr txBox="1"/>
          <p:nvPr/>
        </p:nvSpPr>
        <p:spPr>
          <a:xfrm>
            <a:off x="4898827" y="348808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API 开放接口</a:t>
            </a:r>
          </a:p>
        </p:txBody>
      </p:sp>
      <p:sp>
        <p:nvSpPr>
          <p:cNvPr id="134" name="Text 29"/>
          <p:cNvSpPr txBox="1"/>
          <p:nvPr/>
        </p:nvSpPr>
        <p:spPr>
          <a:xfrm>
            <a:off x="4898827" y="3716535"/>
            <a:ext cx="3760202" cy="19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IVR 语音导航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7" name="Text 1"/>
          <p:cNvSpPr/>
          <p:nvPr/>
        </p:nvSpPr>
        <p:spPr>
          <a:xfrm>
            <a:off x="380996" y="301674"/>
            <a:ext cx="1208194" cy="244377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8" name="Text 2"/>
          <p:cNvSpPr txBox="1"/>
          <p:nvPr/>
        </p:nvSpPr>
        <p:spPr>
          <a:xfrm>
            <a:off x="533398" y="352424"/>
            <a:ext cx="92145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SITUATION</a:t>
            </a:r>
          </a:p>
        </p:txBody>
      </p:sp>
      <p:sp>
        <p:nvSpPr>
          <p:cNvPr id="139" name="Text 3"/>
          <p:cNvSpPr txBox="1"/>
          <p:nvPr/>
        </p:nvSpPr>
        <p:spPr>
          <a:xfrm>
            <a:off x="1792334" y="228600"/>
            <a:ext cx="6799999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现有 AI 客服部署现状</a:t>
            </a:r>
          </a:p>
        </p:txBody>
      </p:sp>
      <p:sp>
        <p:nvSpPr>
          <p:cNvPr id="140" name="Text 4"/>
          <p:cNvSpPr/>
          <p:nvPr/>
        </p:nvSpPr>
        <p:spPr>
          <a:xfrm>
            <a:off x="381000" y="1000125"/>
            <a:ext cx="1556147" cy="812602"/>
          </a:xfrm>
          <a:prstGeom prst="roundRect">
            <a:avLst>
              <a:gd name="adj" fmla="val 937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1" name="Shape 5"/>
          <p:cNvSpPr/>
          <p:nvPr/>
        </p:nvSpPr>
        <p:spPr>
          <a:xfrm>
            <a:off x="380993" y="1019175"/>
            <a:ext cx="1556161" cy="0"/>
          </a:xfrm>
          <a:prstGeom prst="line">
            <a:avLst/>
          </a:prstGeom>
          <a:ln w="38100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Text 6"/>
          <p:cNvSpPr txBox="1"/>
          <p:nvPr/>
        </p:nvSpPr>
        <p:spPr>
          <a:xfrm>
            <a:off x="494927" y="1165175"/>
            <a:ext cx="1328293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94927" y="1542900"/>
            <a:ext cx="132829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机器人实例</a:t>
            </a:r>
          </a:p>
        </p:txBody>
      </p:sp>
      <p:sp>
        <p:nvSpPr>
          <p:cNvPr id="144" name="Text 8"/>
          <p:cNvSpPr/>
          <p:nvPr/>
        </p:nvSpPr>
        <p:spPr>
          <a:xfrm>
            <a:off x="2064097" y="1000125"/>
            <a:ext cx="1556305" cy="812602"/>
          </a:xfrm>
          <a:prstGeom prst="roundRect">
            <a:avLst>
              <a:gd name="adj" fmla="val 937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5" name="Shape 9"/>
          <p:cNvSpPr/>
          <p:nvPr/>
        </p:nvSpPr>
        <p:spPr>
          <a:xfrm>
            <a:off x="2064097" y="1019175"/>
            <a:ext cx="1556305" cy="0"/>
          </a:xfrm>
          <a:prstGeom prst="line">
            <a:avLst/>
          </a:prstGeom>
          <a:ln w="38100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Text 10"/>
          <p:cNvSpPr txBox="1"/>
          <p:nvPr/>
        </p:nvSpPr>
        <p:spPr>
          <a:xfrm>
            <a:off x="2178024" y="1165175"/>
            <a:ext cx="1328449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147" name="Text 11"/>
          <p:cNvSpPr txBox="1"/>
          <p:nvPr/>
        </p:nvSpPr>
        <p:spPr>
          <a:xfrm>
            <a:off x="2178024" y="1542900"/>
            <a:ext cx="132844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咨询场景分类</a:t>
            </a:r>
          </a:p>
        </p:txBody>
      </p:sp>
      <p:sp>
        <p:nvSpPr>
          <p:cNvPr id="148" name="Text 12"/>
          <p:cNvSpPr/>
          <p:nvPr/>
        </p:nvSpPr>
        <p:spPr>
          <a:xfrm>
            <a:off x="3747341" y="1000125"/>
            <a:ext cx="1556305" cy="812602"/>
          </a:xfrm>
          <a:prstGeom prst="roundRect">
            <a:avLst>
              <a:gd name="adj" fmla="val 937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9" name="Shape 13"/>
          <p:cNvSpPr/>
          <p:nvPr/>
        </p:nvSpPr>
        <p:spPr>
          <a:xfrm>
            <a:off x="3747341" y="1019175"/>
            <a:ext cx="1556305" cy="0"/>
          </a:xfrm>
          <a:prstGeom prst="line">
            <a:avLst/>
          </a:prstGeom>
          <a:ln w="38100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Text 14"/>
          <p:cNvSpPr txBox="1"/>
          <p:nvPr/>
        </p:nvSpPr>
        <p:spPr>
          <a:xfrm>
            <a:off x="3861270" y="1165175"/>
            <a:ext cx="1328452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151" name="Text 15"/>
          <p:cNvSpPr txBox="1"/>
          <p:nvPr/>
        </p:nvSpPr>
        <p:spPr>
          <a:xfrm>
            <a:off x="3861270" y="1542900"/>
            <a:ext cx="13284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分析对话样本</a:t>
            </a:r>
          </a:p>
        </p:txBody>
      </p:sp>
      <p:sp>
        <p:nvSpPr>
          <p:cNvPr id="152" name="Text 16"/>
          <p:cNvSpPr/>
          <p:nvPr/>
        </p:nvSpPr>
        <p:spPr>
          <a:xfrm>
            <a:off x="381000" y="1939675"/>
            <a:ext cx="4922640" cy="919740"/>
          </a:xfrm>
          <a:prstGeom prst="roundRect">
            <a:avLst>
              <a:gd name="adj" fmla="val 8676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3" name="Shape 17"/>
          <p:cNvSpPr/>
          <p:nvPr/>
        </p:nvSpPr>
        <p:spPr>
          <a:xfrm flipH="1">
            <a:off x="404813" y="1939674"/>
            <a:ext cx="9" cy="919741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Text 18"/>
          <p:cNvSpPr txBox="1"/>
          <p:nvPr/>
        </p:nvSpPr>
        <p:spPr>
          <a:xfrm>
            <a:off x="581022" y="2091925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已部署 AI 机器人</a:t>
            </a:r>
          </a:p>
        </p:txBody>
      </p:sp>
      <p:sp>
        <p:nvSpPr>
          <p:cNvPr id="155" name="Text 19"/>
          <p:cNvSpPr txBox="1"/>
          <p:nvPr/>
        </p:nvSpPr>
        <p:spPr>
          <a:xfrm>
            <a:off x="581022" y="2320376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官网部署 Vega、Mira、Chihiro 三个 AI 实例处理客户咨询，覆盖 18 类场景。</a:t>
            </a:r>
          </a:p>
        </p:txBody>
      </p:sp>
      <p:sp>
        <p:nvSpPr>
          <p:cNvPr id="156" name="Text 20"/>
          <p:cNvSpPr txBox="1"/>
          <p:nvPr/>
        </p:nvSpPr>
        <p:spPr>
          <a:xfrm>
            <a:off x="581022" y="2505667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以 Broadcast Chat 广播模式运行，与人工客服并行。</a:t>
            </a:r>
          </a:p>
        </p:txBody>
      </p:sp>
      <p:sp>
        <p:nvSpPr>
          <p:cNvPr id="157" name="Text 21"/>
          <p:cNvSpPr/>
          <p:nvPr/>
        </p:nvSpPr>
        <p:spPr>
          <a:xfrm>
            <a:off x="381000" y="2919413"/>
            <a:ext cx="4922640" cy="1980592"/>
          </a:xfrm>
          <a:prstGeom prst="roundRect">
            <a:avLst>
              <a:gd name="adj" fmla="val 1099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" name="Shape 22"/>
          <p:cNvSpPr/>
          <p:nvPr/>
        </p:nvSpPr>
        <p:spPr>
          <a:xfrm flipH="1">
            <a:off x="404813" y="2919413"/>
            <a:ext cx="9" cy="1980591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Text 23"/>
          <p:cNvSpPr txBox="1"/>
          <p:nvPr/>
        </p:nvSpPr>
        <p:spPr>
          <a:xfrm>
            <a:off x="581022" y="3071664"/>
            <a:ext cx="4661624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人工客服团队</a:t>
            </a:r>
          </a:p>
        </p:txBody>
      </p:sp>
      <p:sp>
        <p:nvSpPr>
          <p:cNvPr id="160" name="Text 24"/>
          <p:cNvSpPr txBox="1"/>
          <p:nvPr/>
        </p:nvSpPr>
        <p:spPr>
          <a:xfrm>
            <a:off x="581022" y="3300114"/>
            <a:ext cx="4661624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名人工客服参与 escalation 接管。Sandy Fan 为最高频接单人员。</a:t>
            </a:r>
          </a:p>
        </p:txBody>
      </p:sp>
      <p:sp>
        <p:nvSpPr>
          <p:cNvPr id="161" name="Text 25"/>
          <p:cNvSpPr/>
          <p:nvPr/>
        </p:nvSpPr>
        <p:spPr>
          <a:xfrm>
            <a:off x="5481339" y="1000125"/>
            <a:ext cx="3281661" cy="1660900"/>
          </a:xfrm>
          <a:prstGeom prst="roundRect">
            <a:avLst>
              <a:gd name="adj" fmla="val 4705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" name="Shape 26"/>
          <p:cNvSpPr/>
          <p:nvPr/>
        </p:nvSpPr>
        <p:spPr>
          <a:xfrm>
            <a:off x="5505151" y="1000124"/>
            <a:ext cx="9" cy="1660901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Text 27"/>
          <p:cNvSpPr txBox="1"/>
          <p:nvPr/>
        </p:nvSpPr>
        <p:spPr>
          <a:xfrm>
            <a:off x="5681364" y="1152375"/>
            <a:ext cx="2987829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咨询场景分布</a:t>
            </a:r>
          </a:p>
        </p:txBody>
      </p:sp>
      <p:sp>
        <p:nvSpPr>
          <p:cNvPr id="164" name="Text 28"/>
          <p:cNvSpPr txBox="1"/>
          <p:nvPr/>
        </p:nvSpPr>
        <p:spPr>
          <a:xfrm>
            <a:off x="5681364" y="1380825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 / virtual number</a:t>
            </a:r>
          </a:p>
        </p:txBody>
      </p:sp>
      <p:sp>
        <p:nvSpPr>
          <p:cNvPr id="165" name="Text 29"/>
          <p:cNvSpPr txBox="1"/>
          <p:nvPr/>
        </p:nvSpPr>
        <p:spPr>
          <a:xfrm>
            <a:off x="5681364" y="1566117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/ SMS-OTP</a:t>
            </a:r>
          </a:p>
        </p:txBody>
      </p:sp>
      <p:sp>
        <p:nvSpPr>
          <p:cNvPr id="166" name="Text 30"/>
          <p:cNvSpPr txBox="1"/>
          <p:nvPr/>
        </p:nvSpPr>
        <p:spPr>
          <a:xfrm>
            <a:off x="5681364" y="1751408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upgrade / partnership</a:t>
            </a:r>
          </a:p>
        </p:txBody>
      </p:sp>
      <p:sp>
        <p:nvSpPr>
          <p:cNvPr id="167" name="Text 31"/>
          <p:cNvSpPr txBox="1"/>
          <p:nvPr/>
        </p:nvSpPr>
        <p:spPr>
          <a:xfrm>
            <a:off x="5681364" y="1936700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 / voice</a:t>
            </a:r>
          </a:p>
        </p:txBody>
      </p:sp>
      <p:sp>
        <p:nvSpPr>
          <p:cNvPr id="168" name="Text 32"/>
          <p:cNvSpPr txBox="1"/>
          <p:nvPr/>
        </p:nvSpPr>
        <p:spPr>
          <a:xfrm>
            <a:off x="5681364" y="2121991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demo / termination</a:t>
            </a:r>
          </a:p>
        </p:txBody>
      </p:sp>
      <p:sp>
        <p:nvSpPr>
          <p:cNvPr id="169" name="Text 33"/>
          <p:cNvSpPr txBox="1"/>
          <p:nvPr/>
        </p:nvSpPr>
        <p:spPr>
          <a:xfrm>
            <a:off x="5681364" y="2307282"/>
            <a:ext cx="2987829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chatbot / target China</a:t>
            </a:r>
          </a:p>
        </p:txBody>
      </p:sp>
      <p:sp>
        <p:nvSpPr>
          <p:cNvPr id="170" name="Text 34"/>
          <p:cNvSpPr/>
          <p:nvPr/>
        </p:nvSpPr>
        <p:spPr>
          <a:xfrm>
            <a:off x="5481339" y="2721024"/>
            <a:ext cx="3281661" cy="2178976"/>
          </a:xfrm>
          <a:prstGeom prst="roundRect">
            <a:avLst>
              <a:gd name="adj" fmla="val 7772"/>
            </a:avLst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1" name="Text 35"/>
          <p:cNvSpPr txBox="1"/>
          <p:nvPr/>
        </p:nvSpPr>
        <p:spPr>
          <a:xfrm>
            <a:off x="5608289" y="2835175"/>
            <a:ext cx="308832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172" name="Text 36"/>
          <p:cNvSpPr txBox="1"/>
          <p:nvPr/>
        </p:nvSpPr>
        <p:spPr>
          <a:xfrm>
            <a:off x="5608289" y="2990700"/>
            <a:ext cx="308832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173" name="Text 37"/>
          <p:cNvSpPr txBox="1"/>
          <p:nvPr/>
        </p:nvSpPr>
        <p:spPr>
          <a:xfrm>
            <a:off x="5608289" y="3146225"/>
            <a:ext cx="30883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6" name="Text 1"/>
          <p:cNvSpPr/>
          <p:nvPr/>
        </p:nvSpPr>
        <p:spPr>
          <a:xfrm>
            <a:off x="380998" y="276225"/>
            <a:ext cx="1117554" cy="244376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7" name="Text 2"/>
          <p:cNvSpPr txBox="1"/>
          <p:nvPr/>
        </p:nvSpPr>
        <p:spPr>
          <a:xfrm>
            <a:off x="533398" y="3269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78" name="Text 3"/>
          <p:cNvSpPr txBox="1"/>
          <p:nvPr/>
        </p:nvSpPr>
        <p:spPr>
          <a:xfrm>
            <a:off x="1701700" y="203142"/>
            <a:ext cx="313461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对话数据分析：整体概览</a:t>
            </a:r>
          </a:p>
        </p:txBody>
      </p:sp>
      <p:sp>
        <p:nvSpPr>
          <p:cNvPr id="179" name="Text 4"/>
          <p:cNvSpPr/>
          <p:nvPr/>
        </p:nvSpPr>
        <p:spPr>
          <a:xfrm>
            <a:off x="381000" y="949225"/>
            <a:ext cx="8382000" cy="1073054"/>
          </a:xfrm>
          <a:prstGeom prst="roundRect">
            <a:avLst>
              <a:gd name="adj" fmla="val 710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" name="Shape 5"/>
          <p:cNvSpPr/>
          <p:nvPr/>
        </p:nvSpPr>
        <p:spPr>
          <a:xfrm>
            <a:off x="380995" y="968275"/>
            <a:ext cx="8382005" cy="9"/>
          </a:xfrm>
          <a:prstGeom prst="line">
            <a:avLst/>
          </a:prstGeom>
          <a:ln w="38100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Text 6"/>
          <p:cNvSpPr txBox="1"/>
          <p:nvPr/>
        </p:nvSpPr>
        <p:spPr>
          <a:xfrm>
            <a:off x="495547" y="1139724"/>
            <a:ext cx="3860257" cy="814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61%</a:t>
            </a:r>
          </a:p>
        </p:txBody>
      </p:sp>
      <p:sp>
        <p:nvSpPr>
          <p:cNvPr id="182" name="Text 7"/>
          <p:cNvSpPr txBox="1"/>
          <p:nvPr/>
        </p:nvSpPr>
        <p:spPr>
          <a:xfrm>
            <a:off x="2173338" y="1564879"/>
            <a:ext cx="386025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6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转人工率（100 条对话中 61 次）</a:t>
            </a:r>
          </a:p>
        </p:txBody>
      </p:sp>
      <p:sp>
        <p:nvSpPr>
          <p:cNvPr id="183" name="Text 8"/>
          <p:cNvSpPr/>
          <p:nvPr/>
        </p:nvSpPr>
        <p:spPr>
          <a:xfrm>
            <a:off x="381000" y="2123775"/>
            <a:ext cx="4329504" cy="666456"/>
          </a:xfrm>
          <a:prstGeom prst="roundRect">
            <a:avLst>
              <a:gd name="adj" fmla="val 11434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4" name="Text 9"/>
          <p:cNvSpPr txBox="1"/>
          <p:nvPr/>
        </p:nvSpPr>
        <p:spPr>
          <a:xfrm>
            <a:off x="464591" y="2225275"/>
            <a:ext cx="1826669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DD524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185" name="Text 10"/>
          <p:cNvSpPr txBox="1"/>
          <p:nvPr/>
        </p:nvSpPr>
        <p:spPr>
          <a:xfrm>
            <a:off x="1498550" y="2425226"/>
            <a:ext cx="1826668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500">
                <a:solidFill>
                  <a:srgbClr val="DD514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异常/过早转人工</a:t>
            </a:r>
          </a:p>
        </p:txBody>
      </p:sp>
      <p:sp>
        <p:nvSpPr>
          <p:cNvPr id="186" name="Text 11"/>
          <p:cNvSpPr/>
          <p:nvPr/>
        </p:nvSpPr>
        <p:spPr>
          <a:xfrm>
            <a:off x="4812500" y="2123775"/>
            <a:ext cx="3950502" cy="666456"/>
          </a:xfrm>
          <a:prstGeom prst="roundRect">
            <a:avLst>
              <a:gd name="adj" fmla="val 11434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7" name="Text 12"/>
          <p:cNvSpPr txBox="1"/>
          <p:nvPr/>
        </p:nvSpPr>
        <p:spPr>
          <a:xfrm>
            <a:off x="4895941" y="2225275"/>
            <a:ext cx="1826819" cy="51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36%</a:t>
            </a:r>
          </a:p>
        </p:txBody>
      </p:sp>
      <p:sp>
        <p:nvSpPr>
          <p:cNvPr id="188" name="Text 13"/>
          <p:cNvSpPr txBox="1"/>
          <p:nvPr/>
        </p:nvSpPr>
        <p:spPr>
          <a:xfrm>
            <a:off x="5929902" y="2425226"/>
            <a:ext cx="1826818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5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正常转人工</a:t>
            </a:r>
          </a:p>
        </p:txBody>
      </p:sp>
      <p:sp>
        <p:nvSpPr>
          <p:cNvPr id="189" name="Text 14"/>
          <p:cNvSpPr/>
          <p:nvPr/>
        </p:nvSpPr>
        <p:spPr>
          <a:xfrm>
            <a:off x="381000" y="2891730"/>
            <a:ext cx="8382000" cy="1300767"/>
          </a:xfrm>
          <a:prstGeom prst="roundRect">
            <a:avLst>
              <a:gd name="adj" fmla="val 5858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0" name="Shape 15"/>
          <p:cNvSpPr/>
          <p:nvPr/>
        </p:nvSpPr>
        <p:spPr>
          <a:xfrm flipH="1">
            <a:off x="404813" y="2891730"/>
            <a:ext cx="9" cy="1300767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 16"/>
          <p:cNvSpPr txBox="1"/>
          <p:nvPr/>
        </p:nvSpPr>
        <p:spPr>
          <a:xfrm>
            <a:off x="581018" y="3043982"/>
            <a:ext cx="381167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异常转人工分类（25 例）</a:t>
            </a:r>
          </a:p>
        </p:txBody>
      </p:sp>
      <p:sp>
        <p:nvSpPr>
          <p:cNvPr id="192" name="Text 17"/>
          <p:cNvSpPr/>
          <p:nvPr/>
        </p:nvSpPr>
        <p:spPr>
          <a:xfrm>
            <a:off x="581025" y="3299519"/>
            <a:ext cx="711102" cy="164911"/>
          </a:xfrm>
          <a:prstGeom prst="roundRect">
            <a:avLst>
              <a:gd name="adj" fmla="val 23105"/>
            </a:avLst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3" name="Text 18"/>
          <p:cNvSpPr txBox="1"/>
          <p:nvPr/>
        </p:nvSpPr>
        <p:spPr>
          <a:xfrm>
            <a:off x="651637" y="3324819"/>
            <a:ext cx="5698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</a:t>
            </a:r>
          </a:p>
        </p:txBody>
      </p:sp>
      <p:sp>
        <p:nvSpPr>
          <p:cNvPr id="194" name="Text 19"/>
          <p:cNvSpPr txBox="1"/>
          <p:nvPr/>
        </p:nvSpPr>
        <p:spPr>
          <a:xfrm>
            <a:off x="1368324" y="3301007"/>
            <a:ext cx="2900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23 例</a:t>
            </a:r>
            <a:r>
              <a:rPr b="0"/>
              <a:t> - AI 从未介入</a:t>
            </a:r>
          </a:p>
        </p:txBody>
      </p:sp>
      <p:sp>
        <p:nvSpPr>
          <p:cNvPr id="195" name="Text 20"/>
          <p:cNvSpPr/>
          <p:nvPr/>
        </p:nvSpPr>
        <p:spPr>
          <a:xfrm>
            <a:off x="581025" y="3562796"/>
            <a:ext cx="711102" cy="164911"/>
          </a:xfrm>
          <a:prstGeom prst="roundRect">
            <a:avLst>
              <a:gd name="adj" fmla="val 23105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6" name="Text 21"/>
          <p:cNvSpPr txBox="1"/>
          <p:nvPr/>
        </p:nvSpPr>
        <p:spPr>
          <a:xfrm>
            <a:off x="651637" y="3588096"/>
            <a:ext cx="5698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</a:t>
            </a:r>
          </a:p>
        </p:txBody>
      </p:sp>
      <p:sp>
        <p:nvSpPr>
          <p:cNvPr id="197" name="Text 22"/>
          <p:cNvSpPr txBox="1"/>
          <p:nvPr/>
        </p:nvSpPr>
        <p:spPr>
          <a:xfrm>
            <a:off x="1368324" y="3564285"/>
            <a:ext cx="2900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AI 过早退出</a:t>
            </a:r>
          </a:p>
        </p:txBody>
      </p:sp>
      <p:sp>
        <p:nvSpPr>
          <p:cNvPr id="198" name="Text 23"/>
          <p:cNvSpPr/>
          <p:nvPr/>
        </p:nvSpPr>
        <p:spPr>
          <a:xfrm>
            <a:off x="581025" y="3826073"/>
            <a:ext cx="711102" cy="164911"/>
          </a:xfrm>
          <a:prstGeom prst="roundRect">
            <a:avLst>
              <a:gd name="adj" fmla="val 23105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9" name="Text 24"/>
          <p:cNvSpPr txBox="1"/>
          <p:nvPr/>
        </p:nvSpPr>
        <p:spPr>
          <a:xfrm>
            <a:off x="651637" y="3851373"/>
            <a:ext cx="5698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</a:t>
            </a:r>
          </a:p>
        </p:txBody>
      </p:sp>
      <p:sp>
        <p:nvSpPr>
          <p:cNvPr id="200" name="Text 25"/>
          <p:cNvSpPr txBox="1"/>
          <p:nvPr/>
        </p:nvSpPr>
        <p:spPr>
          <a:xfrm>
            <a:off x="1368320" y="3827562"/>
            <a:ext cx="29000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例</a:t>
            </a:r>
            <a:r>
              <a:rPr b="0"/>
              <a:t> - 知识盲区</a:t>
            </a:r>
          </a:p>
        </p:txBody>
      </p:sp>
      <p:sp>
        <p:nvSpPr>
          <p:cNvPr id="201" name="Text 34"/>
          <p:cNvSpPr/>
          <p:nvPr/>
        </p:nvSpPr>
        <p:spPr>
          <a:xfrm>
            <a:off x="380999" y="4329855"/>
            <a:ext cx="4089352" cy="653662"/>
          </a:xfrm>
          <a:prstGeom prst="roundRect">
            <a:avLst>
              <a:gd name="adj" fmla="val 7772"/>
            </a:avLst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2" name="Text 35"/>
          <p:cNvSpPr txBox="1"/>
          <p:nvPr/>
        </p:nvSpPr>
        <p:spPr>
          <a:xfrm>
            <a:off x="507949" y="4444005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数据来源</a:t>
            </a:r>
          </a:p>
        </p:txBody>
      </p:sp>
      <p:sp>
        <p:nvSpPr>
          <p:cNvPr id="203" name="Text 36"/>
          <p:cNvSpPr txBox="1"/>
          <p:nvPr/>
        </p:nvSpPr>
        <p:spPr>
          <a:xfrm>
            <a:off x="507949" y="4599530"/>
            <a:ext cx="308831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提供的真实对话记录</a:t>
            </a:r>
          </a:p>
        </p:txBody>
      </p:sp>
      <p:sp>
        <p:nvSpPr>
          <p:cNvPr id="204" name="Text 37"/>
          <p:cNvSpPr txBox="1"/>
          <p:nvPr/>
        </p:nvSpPr>
        <p:spPr>
          <a:xfrm>
            <a:off x="507949" y="4755057"/>
            <a:ext cx="30883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2025.12 - 2026.02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7" name="Text 1"/>
          <p:cNvSpPr/>
          <p:nvPr/>
        </p:nvSpPr>
        <p:spPr>
          <a:xfrm>
            <a:off x="380998" y="257175"/>
            <a:ext cx="1117554" cy="244376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8" name="Text 2"/>
          <p:cNvSpPr txBox="1"/>
          <p:nvPr/>
        </p:nvSpPr>
        <p:spPr>
          <a:xfrm>
            <a:off x="533398" y="30792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09" name="Text 3"/>
          <p:cNvSpPr txBox="1"/>
          <p:nvPr/>
        </p:nvSpPr>
        <p:spPr>
          <a:xfrm>
            <a:off x="1701698" y="203150"/>
            <a:ext cx="359792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从未介入（23 例）</a:t>
            </a:r>
          </a:p>
        </p:txBody>
      </p:sp>
      <p:sp>
        <p:nvSpPr>
          <p:cNvPr id="210" name="Text 4"/>
          <p:cNvSpPr/>
          <p:nvPr/>
        </p:nvSpPr>
        <p:spPr>
          <a:xfrm>
            <a:off x="381000" y="885675"/>
            <a:ext cx="4089352" cy="802036"/>
          </a:xfrm>
          <a:prstGeom prst="roundRect">
            <a:avLst>
              <a:gd name="adj" fmla="val 950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1" name="Shape 5"/>
          <p:cNvSpPr/>
          <p:nvPr/>
        </p:nvSpPr>
        <p:spPr>
          <a:xfrm flipH="1">
            <a:off x="404813" y="885674"/>
            <a:ext cx="9" cy="802045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Text 6"/>
          <p:cNvSpPr txBox="1"/>
          <p:nvPr/>
        </p:nvSpPr>
        <p:spPr>
          <a:xfrm>
            <a:off x="581018" y="1012478"/>
            <a:ext cx="3811678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现象</a:t>
            </a:r>
          </a:p>
        </p:txBody>
      </p:sp>
      <p:sp>
        <p:nvSpPr>
          <p:cNvPr id="213" name="Text 7"/>
          <p:cNvSpPr txBox="1"/>
          <p:nvPr/>
        </p:nvSpPr>
        <p:spPr>
          <a:xfrm>
            <a:off x="581018" y="1240928"/>
            <a:ext cx="3811678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客户打开聊天窗口后，AI 完全没有响应，人工在 </a:t>
            </a:r>
            <a:r>
              <a:rPr b="1"/>
              <a:t>0-2 秒内</a:t>
            </a:r>
            <a:r>
              <a:t> 直接接管。占全部异常转人工的 </a:t>
            </a:r>
            <a:r>
              <a:rPr b="1"/>
              <a:t>92%</a:t>
            </a:r>
            <a:r>
              <a:t>。</a:t>
            </a:r>
          </a:p>
        </p:txBody>
      </p:sp>
      <p:sp>
        <p:nvSpPr>
          <p:cNvPr id="214" name="Text 8"/>
          <p:cNvSpPr/>
          <p:nvPr/>
        </p:nvSpPr>
        <p:spPr>
          <a:xfrm>
            <a:off x="381000" y="1763908"/>
            <a:ext cx="4089352" cy="758586"/>
          </a:xfrm>
          <a:prstGeom prst="roundRect">
            <a:avLst>
              <a:gd name="adj" fmla="val 6697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Text 9"/>
          <p:cNvSpPr txBox="1"/>
          <p:nvPr/>
        </p:nvSpPr>
        <p:spPr>
          <a:xfrm>
            <a:off x="507950" y="1852759"/>
            <a:ext cx="3912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visitor.activated</a:t>
            </a:r>
          </a:p>
        </p:txBody>
      </p:sp>
      <p:sp>
        <p:nvSpPr>
          <p:cNvPr id="216" name="Text 10"/>
          <p:cNvSpPr txBox="1"/>
          <p:nvPr/>
        </p:nvSpPr>
        <p:spPr>
          <a:xfrm>
            <a:off x="507950" y="1979709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8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TYPE_PRECHAT（客户进入）</a:t>
            </a:r>
          </a:p>
        </p:txBody>
      </p:sp>
      <p:sp>
        <p:nvSpPr>
          <p:cNvPr id="217" name="Text 11"/>
          <p:cNvSpPr txBox="1"/>
          <p:nvPr/>
        </p:nvSpPr>
        <p:spPr>
          <a:xfrm>
            <a:off x="507950" y="2135234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Sandy Fan: room.join  &lt;-- 人工直接接管</a:t>
            </a:r>
          </a:p>
        </p:txBody>
      </p:sp>
      <p:sp>
        <p:nvSpPr>
          <p:cNvPr id="218" name="Text 12"/>
          <p:cNvSpPr txBox="1"/>
          <p:nvPr/>
        </p:nvSpPr>
        <p:spPr>
          <a:xfrm>
            <a:off x="507950" y="2290763"/>
            <a:ext cx="391215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b="1" sz="8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（AI 从未出现）</a:t>
            </a:r>
          </a:p>
        </p:txBody>
      </p:sp>
      <p:sp>
        <p:nvSpPr>
          <p:cNvPr id="219" name="Text 13"/>
          <p:cNvSpPr/>
          <p:nvPr/>
        </p:nvSpPr>
        <p:spPr>
          <a:xfrm>
            <a:off x="381000" y="2573238"/>
            <a:ext cx="4089352" cy="802044"/>
          </a:xfrm>
          <a:prstGeom prst="roundRect">
            <a:avLst>
              <a:gd name="adj" fmla="val 950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" name="Shape 14"/>
          <p:cNvSpPr/>
          <p:nvPr/>
        </p:nvSpPr>
        <p:spPr>
          <a:xfrm flipH="1">
            <a:off x="404813" y="2573238"/>
            <a:ext cx="9" cy="802044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Text 15"/>
          <p:cNvSpPr txBox="1"/>
          <p:nvPr/>
        </p:nvSpPr>
        <p:spPr>
          <a:xfrm>
            <a:off x="581018" y="2700040"/>
            <a:ext cx="3811678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根因分析</a:t>
            </a:r>
          </a:p>
        </p:txBody>
      </p:sp>
      <p:sp>
        <p:nvSpPr>
          <p:cNvPr id="222" name="Text 16"/>
          <p:cNvSpPr txBox="1"/>
          <p:nvPr/>
        </p:nvSpPr>
        <p:spPr>
          <a:xfrm>
            <a:off x="581018" y="2928491"/>
            <a:ext cx="3811678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路由配置问题：当人工在线时 AI 被跳过。非 AI Bug，而是</a:t>
            </a:r>
            <a:r>
              <a:rPr b="1"/>
              <a:t>配置策略</a:t>
            </a:r>
            <a:r>
              <a:t>导致 AI 投资未产生价值。</a:t>
            </a:r>
          </a:p>
        </p:txBody>
      </p:sp>
      <p:sp>
        <p:nvSpPr>
          <p:cNvPr id="223" name="Text 17"/>
          <p:cNvSpPr/>
          <p:nvPr/>
        </p:nvSpPr>
        <p:spPr>
          <a:xfrm>
            <a:off x="381000" y="3451473"/>
            <a:ext cx="4089352" cy="1448532"/>
          </a:xfrm>
          <a:prstGeom prst="roundRect">
            <a:avLst>
              <a:gd name="adj" fmla="val 7525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4" name="Shape 18"/>
          <p:cNvSpPr/>
          <p:nvPr/>
        </p:nvSpPr>
        <p:spPr>
          <a:xfrm flipH="1">
            <a:off x="404813" y="3451473"/>
            <a:ext cx="9" cy="1448532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 19"/>
          <p:cNvSpPr txBox="1"/>
          <p:nvPr/>
        </p:nvSpPr>
        <p:spPr>
          <a:xfrm>
            <a:off x="581018" y="3578273"/>
            <a:ext cx="3811678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关键影响</a:t>
            </a:r>
          </a:p>
        </p:txBody>
      </p:sp>
      <p:sp>
        <p:nvSpPr>
          <p:cNvPr id="226" name="Text 20"/>
          <p:cNvSpPr txBox="1"/>
          <p:nvPr/>
        </p:nvSpPr>
        <p:spPr>
          <a:xfrm>
            <a:off x="581018" y="3806726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被 AI 跳过</a:t>
            </a:r>
          </a:p>
        </p:txBody>
      </p:sp>
      <p:sp>
        <p:nvSpPr>
          <p:cNvPr id="227" name="Text 21"/>
          <p:cNvSpPr txBox="1"/>
          <p:nvPr/>
        </p:nvSpPr>
        <p:spPr>
          <a:xfrm>
            <a:off x="581018" y="3992017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中国市场 67% 未经 AI 筛选</a:t>
            </a:r>
          </a:p>
        </p:txBody>
      </p:sp>
      <p:sp>
        <p:nvSpPr>
          <p:cNvPr id="228" name="Text 22"/>
          <p:cNvSpPr txBox="1"/>
          <p:nvPr/>
        </p:nvSpPr>
        <p:spPr>
          <a:xfrm>
            <a:off x="581018" y="4177307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客服管理 71% 异常率</a:t>
            </a:r>
          </a:p>
        </p:txBody>
      </p:sp>
      <p:sp>
        <p:nvSpPr>
          <p:cNvPr id="229" name="Text 23"/>
          <p:cNvSpPr/>
          <p:nvPr/>
        </p:nvSpPr>
        <p:spPr>
          <a:xfrm>
            <a:off x="4673501" y="885675"/>
            <a:ext cx="4089499" cy="2531419"/>
          </a:xfrm>
          <a:prstGeom prst="roundRect">
            <a:avLst>
              <a:gd name="adj" fmla="val 4356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0" name="Text 24"/>
          <p:cNvSpPr txBox="1"/>
          <p:nvPr/>
        </p:nvSpPr>
        <p:spPr>
          <a:xfrm>
            <a:off x="4800451" y="987175"/>
            <a:ext cx="391231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高发话题 - 异常率排行</a:t>
            </a:r>
          </a:p>
        </p:txBody>
      </p:sp>
      <p:sp>
        <p:nvSpPr>
          <p:cNvPr id="231" name="Text 25"/>
          <p:cNvSpPr/>
          <p:nvPr/>
        </p:nvSpPr>
        <p:spPr>
          <a:xfrm>
            <a:off x="4800451" y="1218900"/>
            <a:ext cx="3835599" cy="228605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2" name="Shape 26"/>
          <p:cNvSpPr/>
          <p:nvPr/>
        </p:nvSpPr>
        <p:spPr>
          <a:xfrm>
            <a:off x="4800451" y="1442740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Text 27"/>
          <p:cNvSpPr txBox="1"/>
          <p:nvPr/>
        </p:nvSpPr>
        <p:spPr>
          <a:xfrm>
            <a:off x="4800451" y="12570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话题分类</a:t>
            </a:r>
          </a:p>
        </p:txBody>
      </p:sp>
      <p:sp>
        <p:nvSpPr>
          <p:cNvPr id="234" name="Text 28"/>
          <p:cNvSpPr txBox="1"/>
          <p:nvPr/>
        </p:nvSpPr>
        <p:spPr>
          <a:xfrm>
            <a:off x="6708661" y="12570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escalation</a:t>
            </a:r>
          </a:p>
        </p:txBody>
      </p:sp>
      <p:sp>
        <p:nvSpPr>
          <p:cNvPr id="235" name="Text 29"/>
          <p:cNvSpPr txBox="1"/>
          <p:nvPr/>
        </p:nvSpPr>
        <p:spPr>
          <a:xfrm>
            <a:off x="7667559" y="1257000"/>
            <a:ext cx="978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异常率</a:t>
            </a:r>
          </a:p>
        </p:txBody>
      </p:sp>
      <p:sp>
        <p:nvSpPr>
          <p:cNvPr id="236" name="Shape 30"/>
          <p:cNvSpPr/>
          <p:nvPr/>
        </p:nvSpPr>
        <p:spPr>
          <a:xfrm>
            <a:off x="4800451" y="1671340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Text 31"/>
          <p:cNvSpPr txBox="1"/>
          <p:nvPr/>
        </p:nvSpPr>
        <p:spPr>
          <a:xfrm>
            <a:off x="4800451" y="14856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agent（客服相关）</a:t>
            </a:r>
          </a:p>
        </p:txBody>
      </p:sp>
      <p:sp>
        <p:nvSpPr>
          <p:cNvPr id="238" name="Text 32"/>
          <p:cNvSpPr txBox="1"/>
          <p:nvPr/>
        </p:nvSpPr>
        <p:spPr>
          <a:xfrm>
            <a:off x="6708661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9" name="Text 33"/>
          <p:cNvSpPr txBox="1"/>
          <p:nvPr/>
        </p:nvSpPr>
        <p:spPr>
          <a:xfrm>
            <a:off x="7667559" y="14856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71%</a:t>
            </a:r>
          </a:p>
        </p:txBody>
      </p:sp>
      <p:sp>
        <p:nvSpPr>
          <p:cNvPr id="240" name="Shape 34"/>
          <p:cNvSpPr/>
          <p:nvPr/>
        </p:nvSpPr>
        <p:spPr>
          <a:xfrm>
            <a:off x="4800451" y="1899940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Text 35"/>
          <p:cNvSpPr txBox="1"/>
          <p:nvPr/>
        </p:nvSpPr>
        <p:spPr>
          <a:xfrm>
            <a:off x="4800451" y="1714200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sales（销售咨询）</a:t>
            </a:r>
          </a:p>
        </p:txBody>
      </p:sp>
      <p:sp>
        <p:nvSpPr>
          <p:cNvPr id="242" name="Text 36"/>
          <p:cNvSpPr txBox="1"/>
          <p:nvPr/>
        </p:nvSpPr>
        <p:spPr>
          <a:xfrm>
            <a:off x="6708661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43" name="Text 37"/>
          <p:cNvSpPr txBox="1"/>
          <p:nvPr/>
        </p:nvSpPr>
        <p:spPr>
          <a:xfrm>
            <a:off x="7667559" y="17142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70%</a:t>
            </a:r>
          </a:p>
        </p:txBody>
      </p:sp>
      <p:sp>
        <p:nvSpPr>
          <p:cNvPr id="244" name="Shape 38"/>
          <p:cNvSpPr/>
          <p:nvPr/>
        </p:nvSpPr>
        <p:spPr>
          <a:xfrm>
            <a:off x="4800451" y="2099965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Text 39"/>
          <p:cNvSpPr txBox="1"/>
          <p:nvPr/>
        </p:nvSpPr>
        <p:spPr>
          <a:xfrm>
            <a:off x="4800451" y="1942800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target_China</a:t>
            </a:r>
          </a:p>
        </p:txBody>
      </p:sp>
      <p:sp>
        <p:nvSpPr>
          <p:cNvPr id="246" name="Text 40"/>
          <p:cNvSpPr txBox="1"/>
          <p:nvPr/>
        </p:nvSpPr>
        <p:spPr>
          <a:xfrm>
            <a:off x="6708661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7" name="Text 41"/>
          <p:cNvSpPr txBox="1"/>
          <p:nvPr/>
        </p:nvSpPr>
        <p:spPr>
          <a:xfrm>
            <a:off x="7667559" y="1942800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67%</a:t>
            </a:r>
          </a:p>
        </p:txBody>
      </p:sp>
      <p:sp>
        <p:nvSpPr>
          <p:cNvPr id="248" name="Shape 42"/>
          <p:cNvSpPr/>
          <p:nvPr/>
        </p:nvSpPr>
        <p:spPr>
          <a:xfrm>
            <a:off x="4800451" y="2328565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" name="Text 43"/>
          <p:cNvSpPr txBox="1"/>
          <p:nvPr/>
        </p:nvSpPr>
        <p:spPr>
          <a:xfrm>
            <a:off x="4800451" y="2142825"/>
            <a:ext cx="195615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complaint（投诉）</a:t>
            </a:r>
          </a:p>
        </p:txBody>
      </p:sp>
      <p:sp>
        <p:nvSpPr>
          <p:cNvPr id="250" name="Text 44"/>
          <p:cNvSpPr txBox="1"/>
          <p:nvPr/>
        </p:nvSpPr>
        <p:spPr>
          <a:xfrm>
            <a:off x="6708661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1" name="Text 45"/>
          <p:cNvSpPr txBox="1"/>
          <p:nvPr/>
        </p:nvSpPr>
        <p:spPr>
          <a:xfrm>
            <a:off x="7667559" y="21428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252" name="Shape 46"/>
          <p:cNvSpPr/>
          <p:nvPr/>
        </p:nvSpPr>
        <p:spPr>
          <a:xfrm>
            <a:off x="4800451" y="2528590"/>
            <a:ext cx="3835599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Text 47"/>
          <p:cNvSpPr txBox="1"/>
          <p:nvPr/>
        </p:nvSpPr>
        <p:spPr>
          <a:xfrm>
            <a:off x="4800451" y="2371425"/>
            <a:ext cx="19561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partnership</a:t>
            </a:r>
          </a:p>
        </p:txBody>
      </p:sp>
      <p:sp>
        <p:nvSpPr>
          <p:cNvPr id="254" name="Text 48"/>
          <p:cNvSpPr txBox="1"/>
          <p:nvPr/>
        </p:nvSpPr>
        <p:spPr>
          <a:xfrm>
            <a:off x="6708661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55" name="Text 49"/>
          <p:cNvSpPr txBox="1"/>
          <p:nvPr/>
        </p:nvSpPr>
        <p:spPr>
          <a:xfrm>
            <a:off x="7667559" y="2371425"/>
            <a:ext cx="978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256" name="Text 8"/>
          <p:cNvSpPr/>
          <p:nvPr/>
        </p:nvSpPr>
        <p:spPr>
          <a:xfrm>
            <a:off x="4673648" y="3417094"/>
            <a:ext cx="4089354" cy="1482911"/>
          </a:xfrm>
          <a:prstGeom prst="roundRect">
            <a:avLst>
              <a:gd name="adj" fmla="val 704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Shape 9"/>
          <p:cNvSpPr/>
          <p:nvPr/>
        </p:nvSpPr>
        <p:spPr>
          <a:xfrm>
            <a:off x="4697462" y="3417094"/>
            <a:ext cx="9" cy="1482911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8" name="Text 10"/>
          <p:cNvSpPr txBox="1"/>
          <p:nvPr/>
        </p:nvSpPr>
        <p:spPr>
          <a:xfrm>
            <a:off x="4873671" y="3569344"/>
            <a:ext cx="381167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59" name="Text 11"/>
          <p:cNvSpPr txBox="1"/>
          <p:nvPr/>
        </p:nvSpPr>
        <p:spPr>
          <a:xfrm>
            <a:off x="4873671" y="3815655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60" name="Text 12"/>
          <p:cNvSpPr txBox="1"/>
          <p:nvPr/>
        </p:nvSpPr>
        <p:spPr>
          <a:xfrm>
            <a:off x="4873671" y="4000946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61" name="Text 13"/>
          <p:cNvSpPr txBox="1"/>
          <p:nvPr/>
        </p:nvSpPr>
        <p:spPr>
          <a:xfrm>
            <a:off x="4873671" y="4186237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4" name="Text 1"/>
          <p:cNvSpPr/>
          <p:nvPr/>
        </p:nvSpPr>
        <p:spPr>
          <a:xfrm>
            <a:off x="380998" y="238125"/>
            <a:ext cx="1117554" cy="244376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5" name="Text 2"/>
          <p:cNvSpPr txBox="1"/>
          <p:nvPr/>
        </p:nvSpPr>
        <p:spPr>
          <a:xfrm>
            <a:off x="533398" y="288875"/>
            <a:ext cx="8290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66" name="Text 3"/>
          <p:cNvSpPr txBox="1"/>
          <p:nvPr/>
        </p:nvSpPr>
        <p:spPr>
          <a:xfrm>
            <a:off x="1701701" y="203150"/>
            <a:ext cx="441569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267" name="Text 4"/>
          <p:cNvSpPr/>
          <p:nvPr/>
        </p:nvSpPr>
        <p:spPr>
          <a:xfrm>
            <a:off x="381000" y="847575"/>
            <a:ext cx="4089352" cy="33338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8" name="Text 5"/>
          <p:cNvSpPr txBox="1"/>
          <p:nvPr/>
        </p:nvSpPr>
        <p:spPr>
          <a:xfrm>
            <a:off x="533394" y="923775"/>
            <a:ext cx="386025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提问后不等回答（5 例）</a:t>
            </a:r>
          </a:p>
        </p:txBody>
      </p:sp>
      <p:sp>
        <p:nvSpPr>
          <p:cNvPr id="269" name="Text 6"/>
          <p:cNvSpPr/>
          <p:nvPr/>
        </p:nvSpPr>
        <p:spPr>
          <a:xfrm>
            <a:off x="380999" y="1180949"/>
            <a:ext cx="4089352" cy="413599"/>
          </a:xfrm>
          <a:prstGeom prst="rect">
            <a:avLst/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0" name="Shape 7"/>
          <p:cNvSpPr/>
          <p:nvPr/>
        </p:nvSpPr>
        <p:spPr>
          <a:xfrm flipH="1">
            <a:off x="404813" y="1180949"/>
            <a:ext cx="9" cy="413599"/>
          </a:xfrm>
          <a:prstGeom prst="line">
            <a:avLst/>
          </a:prstGeom>
          <a:ln w="47625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" name="Text 8"/>
          <p:cNvSpPr txBox="1"/>
          <p:nvPr/>
        </p:nvSpPr>
        <p:spPr>
          <a:xfrm>
            <a:off x="581018" y="1307753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提出澄清问题后，</a:t>
            </a:r>
            <a:r>
              <a:rPr b="1"/>
              <a:t>未等客户回复</a:t>
            </a:r>
            <a:r>
              <a:t>就触发 room.leave。</a:t>
            </a:r>
          </a:p>
        </p:txBody>
      </p:sp>
      <p:sp>
        <p:nvSpPr>
          <p:cNvPr id="272" name="Text 9"/>
          <p:cNvSpPr/>
          <p:nvPr/>
        </p:nvSpPr>
        <p:spPr>
          <a:xfrm>
            <a:off x="381000" y="1670742"/>
            <a:ext cx="4089352" cy="574486"/>
          </a:xfrm>
          <a:prstGeom prst="roundRect">
            <a:avLst>
              <a:gd name="adj" fmla="val 8843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3" name="Text 10"/>
          <p:cNvSpPr txBox="1"/>
          <p:nvPr/>
        </p:nvSpPr>
        <p:spPr>
          <a:xfrm>
            <a:off x="482499" y="175959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客户：请问有印度bc的营销通道吗</a:t>
            </a:r>
          </a:p>
        </p:txBody>
      </p:sp>
      <p:sp>
        <p:nvSpPr>
          <p:cNvPr id="274" name="Text 11"/>
          <p:cNvSpPr txBox="1"/>
          <p:nvPr/>
        </p:nvSpPr>
        <p:spPr>
          <a:xfrm>
            <a:off x="482499" y="189606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Vega：您能否解释一下"bc"指的是什么？</a:t>
            </a:r>
          </a:p>
        </p:txBody>
      </p:sp>
      <p:sp>
        <p:nvSpPr>
          <p:cNvPr id="275" name="Text 12"/>
          <p:cNvSpPr txBox="1"/>
          <p:nvPr/>
        </p:nvSpPr>
        <p:spPr>
          <a:xfrm>
            <a:off x="482499" y="2032546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不等回答</a:t>
            </a:r>
          </a:p>
        </p:txBody>
      </p:sp>
      <p:sp>
        <p:nvSpPr>
          <p:cNvPr id="276" name="Text 13"/>
          <p:cNvSpPr/>
          <p:nvPr/>
        </p:nvSpPr>
        <p:spPr>
          <a:xfrm>
            <a:off x="381000" y="2295971"/>
            <a:ext cx="4089352" cy="574486"/>
          </a:xfrm>
          <a:prstGeom prst="roundRect">
            <a:avLst>
              <a:gd name="adj" fmla="val 8843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7" name="Text 14"/>
          <p:cNvSpPr txBox="1"/>
          <p:nvPr/>
        </p:nvSpPr>
        <p:spPr>
          <a:xfrm>
            <a:off x="482499" y="2384822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客户：I would like to schedule a demo</a:t>
            </a:r>
          </a:p>
        </p:txBody>
      </p:sp>
      <p:sp>
        <p:nvSpPr>
          <p:cNvPr id="278" name="Text 15"/>
          <p:cNvSpPr txBox="1"/>
          <p:nvPr/>
        </p:nvSpPr>
        <p:spPr>
          <a:xfrm>
            <a:off x="482499" y="2521297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Vega：To schedule a demo, follow steps...</a:t>
            </a:r>
          </a:p>
        </p:txBody>
      </p:sp>
      <p:sp>
        <p:nvSpPr>
          <p:cNvPr id="279" name="Text 16"/>
          <p:cNvSpPr txBox="1"/>
          <p:nvPr/>
        </p:nvSpPr>
        <p:spPr>
          <a:xfrm>
            <a:off x="482499" y="2657773"/>
            <a:ext cx="39640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"/>
              </a:spcBef>
              <a:defRPr sz="7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[room.leave] &lt;-- 模板回复后离开</a:t>
            </a:r>
          </a:p>
        </p:txBody>
      </p:sp>
      <p:sp>
        <p:nvSpPr>
          <p:cNvPr id="280" name="Text 17"/>
          <p:cNvSpPr/>
          <p:nvPr/>
        </p:nvSpPr>
        <p:spPr>
          <a:xfrm>
            <a:off x="380999" y="2921198"/>
            <a:ext cx="4089352" cy="1978807"/>
          </a:xfrm>
          <a:prstGeom prst="rect">
            <a:avLst/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1" name="Shape 18"/>
          <p:cNvSpPr/>
          <p:nvPr/>
        </p:nvSpPr>
        <p:spPr>
          <a:xfrm flipH="1">
            <a:off x="404813" y="2921198"/>
            <a:ext cx="9" cy="1978807"/>
          </a:xfrm>
          <a:prstGeom prst="line">
            <a:avLst/>
          </a:prstGeom>
          <a:ln w="47625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" name="Text 19"/>
          <p:cNvSpPr txBox="1"/>
          <p:nvPr/>
        </p:nvSpPr>
        <p:spPr>
          <a:xfrm>
            <a:off x="581018" y="3047999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：会话生命周期 Bug — 等待超时过短，一次回复后即结束。</a:t>
            </a:r>
          </a:p>
        </p:txBody>
      </p:sp>
      <p:sp>
        <p:nvSpPr>
          <p:cNvPr id="283" name="Text 8"/>
          <p:cNvSpPr/>
          <p:nvPr/>
        </p:nvSpPr>
        <p:spPr>
          <a:xfrm>
            <a:off x="4677304" y="847575"/>
            <a:ext cx="4089352" cy="4052426"/>
          </a:xfrm>
          <a:prstGeom prst="roundRect">
            <a:avLst>
              <a:gd name="adj" fmla="val 704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4" name="Shape 9"/>
          <p:cNvSpPr/>
          <p:nvPr/>
        </p:nvSpPr>
        <p:spPr>
          <a:xfrm>
            <a:off x="4701118" y="847571"/>
            <a:ext cx="9" cy="4052432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" name="Text 10"/>
          <p:cNvSpPr txBox="1"/>
          <p:nvPr/>
        </p:nvSpPr>
        <p:spPr>
          <a:xfrm>
            <a:off x="4877327" y="999825"/>
            <a:ext cx="381167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286" name="Text 11"/>
          <p:cNvSpPr txBox="1"/>
          <p:nvPr/>
        </p:nvSpPr>
        <p:spPr>
          <a:xfrm>
            <a:off x="4877327" y="1246137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287" name="Text 12"/>
          <p:cNvSpPr txBox="1"/>
          <p:nvPr/>
        </p:nvSpPr>
        <p:spPr>
          <a:xfrm>
            <a:off x="4877327" y="1431429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288" name="Text 13"/>
          <p:cNvSpPr txBox="1"/>
          <p:nvPr/>
        </p:nvSpPr>
        <p:spPr>
          <a:xfrm>
            <a:off x="4877327" y="1616720"/>
            <a:ext cx="381167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0" y="-2"/>
            <a:ext cx="9144000" cy="7206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1" name="Text 1"/>
          <p:cNvSpPr/>
          <p:nvPr/>
        </p:nvSpPr>
        <p:spPr>
          <a:xfrm>
            <a:off x="381000" y="238125"/>
            <a:ext cx="1117551" cy="244376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2" name="Text 2"/>
          <p:cNvSpPr txBox="1"/>
          <p:nvPr/>
        </p:nvSpPr>
        <p:spPr>
          <a:xfrm>
            <a:off x="533400" y="288875"/>
            <a:ext cx="8290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293" name="Text 3"/>
          <p:cNvSpPr txBox="1"/>
          <p:nvPr/>
        </p:nvSpPr>
        <p:spPr>
          <a:xfrm>
            <a:off x="1701700" y="203150"/>
            <a:ext cx="441569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294" name="Text 20"/>
          <p:cNvSpPr/>
          <p:nvPr/>
        </p:nvSpPr>
        <p:spPr>
          <a:xfrm>
            <a:off x="381000" y="847575"/>
            <a:ext cx="4089500" cy="33338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5" name="Text 21"/>
          <p:cNvSpPr txBox="1"/>
          <p:nvPr/>
        </p:nvSpPr>
        <p:spPr>
          <a:xfrm>
            <a:off x="533392" y="923775"/>
            <a:ext cx="38604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C：AI 对自家产品说"不知道"（5 例）</a:t>
            </a:r>
          </a:p>
        </p:txBody>
      </p:sp>
      <p:sp>
        <p:nvSpPr>
          <p:cNvPr id="296" name="Text 22"/>
          <p:cNvSpPr/>
          <p:nvPr/>
        </p:nvSpPr>
        <p:spPr>
          <a:xfrm>
            <a:off x="381000" y="1180949"/>
            <a:ext cx="4089500" cy="413599"/>
          </a:xfrm>
          <a:prstGeom prst="rect">
            <a:avLst/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7" name="Shape 23"/>
          <p:cNvSpPr/>
          <p:nvPr/>
        </p:nvSpPr>
        <p:spPr>
          <a:xfrm flipH="1">
            <a:off x="404810" y="1180949"/>
            <a:ext cx="9" cy="413599"/>
          </a:xfrm>
          <a:prstGeom prst="line">
            <a:avLst/>
          </a:prstGeom>
          <a:ln w="47625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" name="Text 24"/>
          <p:cNvSpPr txBox="1"/>
          <p:nvPr/>
        </p:nvSpPr>
        <p:spPr>
          <a:xfrm>
            <a:off x="581018" y="1307753"/>
            <a:ext cx="3811832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客户询问</a:t>
            </a:r>
            <a:r>
              <a:rPr b="1"/>
              <a:t>核心产品功能</a:t>
            </a:r>
            <a:r>
              <a:t>，AI 回答"没有相关信息"。</a:t>
            </a:r>
          </a:p>
        </p:txBody>
      </p:sp>
      <p:sp>
        <p:nvSpPr>
          <p:cNvPr id="299" name="Text 25"/>
          <p:cNvSpPr/>
          <p:nvPr/>
        </p:nvSpPr>
        <p:spPr>
          <a:xfrm>
            <a:off x="381000" y="1670742"/>
            <a:ext cx="4089500" cy="1344963"/>
          </a:xfrm>
          <a:prstGeom prst="roundRect">
            <a:avLst>
              <a:gd name="adj" fmla="val 5666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0" name="Text 26"/>
          <p:cNvSpPr txBox="1"/>
          <p:nvPr/>
        </p:nvSpPr>
        <p:spPr>
          <a:xfrm>
            <a:off x="507942" y="1772242"/>
            <a:ext cx="391232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典型失败案例</a:t>
            </a:r>
          </a:p>
        </p:txBody>
      </p:sp>
      <p:sp>
        <p:nvSpPr>
          <p:cNvPr id="301" name="Shape 27"/>
          <p:cNvSpPr/>
          <p:nvPr/>
        </p:nvSpPr>
        <p:spPr>
          <a:xfrm>
            <a:off x="507944" y="2154583"/>
            <a:ext cx="3835612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" name="Text 28"/>
          <p:cNvSpPr txBox="1"/>
          <p:nvPr/>
        </p:nvSpPr>
        <p:spPr>
          <a:xfrm>
            <a:off x="507944" y="2010221"/>
            <a:ext cx="1564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Denmark toll free</a:t>
            </a:r>
          </a:p>
        </p:txBody>
      </p:sp>
      <p:sp>
        <p:nvSpPr>
          <p:cNvPr id="303" name="Text 29"/>
          <p:cNvSpPr txBox="1"/>
          <p:nvPr/>
        </p:nvSpPr>
        <p:spPr>
          <a:xfrm>
            <a:off x="2042217" y="2010221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specific information"</a:t>
            </a:r>
          </a:p>
        </p:txBody>
      </p:sp>
      <p:sp>
        <p:nvSpPr>
          <p:cNvPr id="304" name="Shape 30"/>
          <p:cNvSpPr/>
          <p:nvPr/>
        </p:nvSpPr>
        <p:spPr>
          <a:xfrm>
            <a:off x="507944" y="2329009"/>
            <a:ext cx="3835612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5" name="Text 31"/>
          <p:cNvSpPr txBox="1"/>
          <p:nvPr/>
        </p:nvSpPr>
        <p:spPr>
          <a:xfrm>
            <a:off x="507944" y="2184648"/>
            <a:ext cx="1564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VoIP services</a:t>
            </a:r>
          </a:p>
        </p:txBody>
      </p:sp>
      <p:sp>
        <p:nvSpPr>
          <p:cNvPr id="306" name="Text 32"/>
          <p:cNvSpPr txBox="1"/>
          <p:nvPr/>
        </p:nvSpPr>
        <p:spPr>
          <a:xfrm>
            <a:off x="2042217" y="2184648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information about services"</a:t>
            </a:r>
          </a:p>
        </p:txBody>
      </p:sp>
      <p:sp>
        <p:nvSpPr>
          <p:cNvPr id="307" name="Shape 33"/>
          <p:cNvSpPr/>
          <p:nvPr/>
        </p:nvSpPr>
        <p:spPr>
          <a:xfrm>
            <a:off x="507944" y="2532013"/>
            <a:ext cx="3835612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Text 34"/>
          <p:cNvSpPr txBox="1"/>
          <p:nvPr/>
        </p:nvSpPr>
        <p:spPr>
          <a:xfrm>
            <a:off x="507944" y="2359074"/>
            <a:ext cx="156497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Turkey 号码</a:t>
            </a:r>
          </a:p>
        </p:txBody>
      </p:sp>
      <p:sp>
        <p:nvSpPr>
          <p:cNvPr id="309" name="Text 35"/>
          <p:cNvSpPr txBox="1"/>
          <p:nvPr/>
        </p:nvSpPr>
        <p:spPr>
          <a:xfrm>
            <a:off x="2042217" y="2359074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 don't have the capability"</a:t>
            </a:r>
          </a:p>
        </p:txBody>
      </p:sp>
      <p:sp>
        <p:nvSpPr>
          <p:cNvPr id="310" name="Shape 36"/>
          <p:cNvSpPr/>
          <p:nvPr/>
        </p:nvSpPr>
        <p:spPr>
          <a:xfrm>
            <a:off x="507944" y="2706439"/>
            <a:ext cx="3835612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" name="Text 37"/>
          <p:cNvSpPr txBox="1"/>
          <p:nvPr/>
        </p:nvSpPr>
        <p:spPr>
          <a:xfrm>
            <a:off x="507944" y="2562075"/>
            <a:ext cx="1564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 rate limit</a:t>
            </a:r>
          </a:p>
        </p:txBody>
      </p:sp>
      <p:sp>
        <p:nvSpPr>
          <p:cNvPr id="312" name="Text 38"/>
          <p:cNvSpPr txBox="1"/>
          <p:nvPr/>
        </p:nvSpPr>
        <p:spPr>
          <a:xfrm>
            <a:off x="2042217" y="2562075"/>
            <a:ext cx="23473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"I'm not sure about the rate limit"</a:t>
            </a:r>
          </a:p>
        </p:txBody>
      </p:sp>
      <p:sp>
        <p:nvSpPr>
          <p:cNvPr id="313" name="Shape 39"/>
          <p:cNvSpPr/>
          <p:nvPr/>
        </p:nvSpPr>
        <p:spPr>
          <a:xfrm>
            <a:off x="507944" y="2909441"/>
            <a:ext cx="3835612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" name="Text 40"/>
          <p:cNvSpPr txBox="1"/>
          <p:nvPr/>
        </p:nvSpPr>
        <p:spPr>
          <a:xfrm>
            <a:off x="507944" y="2736500"/>
            <a:ext cx="1564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SIP Voice</a:t>
            </a:r>
          </a:p>
        </p:txBody>
      </p:sp>
      <p:sp>
        <p:nvSpPr>
          <p:cNvPr id="315" name="Text 41"/>
          <p:cNvSpPr txBox="1"/>
          <p:nvPr/>
        </p:nvSpPr>
        <p:spPr>
          <a:xfrm>
            <a:off x="2042217" y="2736500"/>
            <a:ext cx="23473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承认无具体信息，转人工</a:t>
            </a:r>
          </a:p>
        </p:txBody>
      </p:sp>
      <p:sp>
        <p:nvSpPr>
          <p:cNvPr id="316" name="Text 42"/>
          <p:cNvSpPr/>
          <p:nvPr/>
        </p:nvSpPr>
        <p:spPr>
          <a:xfrm>
            <a:off x="381000" y="3091901"/>
            <a:ext cx="4089500" cy="1808099"/>
          </a:xfrm>
          <a:prstGeom prst="rect">
            <a:avLst/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7" name="Shape 43"/>
          <p:cNvSpPr/>
          <p:nvPr/>
        </p:nvSpPr>
        <p:spPr>
          <a:xfrm flipH="1">
            <a:off x="404810" y="3091901"/>
            <a:ext cx="9" cy="1808099"/>
          </a:xfrm>
          <a:prstGeom prst="line">
            <a:avLst/>
          </a:prstGeom>
          <a:ln w="47625">
            <a:solidFill>
              <a:srgbClr val="F59E0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" name="Text 44"/>
          <p:cNvSpPr txBox="1"/>
          <p:nvPr/>
        </p:nvSpPr>
        <p:spPr>
          <a:xfrm>
            <a:off x="581018" y="3218706"/>
            <a:ext cx="3811832" cy="313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根因</a:t>
            </a:r>
            <a:r>
              <a:rPr b="0"/>
              <a:t>：知识库覆盖不足 — 对 toll-free、VoIP、DID、API 等核心产品缺乏知识。</a:t>
            </a:r>
          </a:p>
        </p:txBody>
      </p:sp>
      <p:sp>
        <p:nvSpPr>
          <p:cNvPr id="319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0" name="Shape 15"/>
          <p:cNvSpPr/>
          <p:nvPr/>
        </p:nvSpPr>
        <p:spPr>
          <a:xfrm>
            <a:off x="4697312" y="885674"/>
            <a:ext cx="9" cy="896100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1" name="Text 16"/>
          <p:cNvSpPr txBox="1"/>
          <p:nvPr/>
        </p:nvSpPr>
        <p:spPr>
          <a:xfrm>
            <a:off x="4873526" y="1037925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322" name="Text 17"/>
          <p:cNvSpPr txBox="1"/>
          <p:nvPr/>
        </p:nvSpPr>
        <p:spPr>
          <a:xfrm>
            <a:off x="4873526" y="1284237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323" name="Text 18"/>
          <p:cNvSpPr txBox="1"/>
          <p:nvPr/>
        </p:nvSpPr>
        <p:spPr>
          <a:xfrm>
            <a:off x="4873526" y="1469529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324" name="Text 19"/>
          <p:cNvSpPr/>
          <p:nvPr/>
        </p:nvSpPr>
        <p:spPr>
          <a:xfrm>
            <a:off x="4673501" y="1883271"/>
            <a:ext cx="4089499" cy="3016734"/>
          </a:xfrm>
          <a:prstGeom prst="roundRect">
            <a:avLst>
              <a:gd name="adj" fmla="val 704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5" name="Shape 20"/>
          <p:cNvSpPr/>
          <p:nvPr/>
        </p:nvSpPr>
        <p:spPr>
          <a:xfrm>
            <a:off x="4697312" y="1883266"/>
            <a:ext cx="9" cy="3016734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Text 21"/>
          <p:cNvSpPr txBox="1"/>
          <p:nvPr/>
        </p:nvSpPr>
        <p:spPr>
          <a:xfrm>
            <a:off x="4873526" y="2035522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327" name="Text 22"/>
          <p:cNvSpPr txBox="1"/>
          <p:nvPr/>
        </p:nvSpPr>
        <p:spPr>
          <a:xfrm>
            <a:off x="4873526" y="2281833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328" name="Text 23"/>
          <p:cNvSpPr txBox="1"/>
          <p:nvPr/>
        </p:nvSpPr>
        <p:spPr>
          <a:xfrm>
            <a:off x="4873526" y="2467124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329" name="Text 24"/>
          <p:cNvSpPr txBox="1"/>
          <p:nvPr/>
        </p:nvSpPr>
        <p:spPr>
          <a:xfrm>
            <a:off x="4873526" y="2652415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2" name="Text 1"/>
          <p:cNvSpPr/>
          <p:nvPr/>
        </p:nvSpPr>
        <p:spPr>
          <a:xfrm>
            <a:off x="381000" y="257175"/>
            <a:ext cx="1400026" cy="244376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3" name="Text 2"/>
          <p:cNvSpPr txBox="1"/>
          <p:nvPr/>
        </p:nvSpPr>
        <p:spPr>
          <a:xfrm>
            <a:off x="533397" y="307925"/>
            <a:ext cx="111713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IMPLICATION</a:t>
            </a:r>
          </a:p>
        </p:txBody>
      </p:sp>
      <p:sp>
        <p:nvSpPr>
          <p:cNvPr id="334" name="Text 3"/>
          <p:cNvSpPr txBox="1"/>
          <p:nvPr/>
        </p:nvSpPr>
        <p:spPr>
          <a:xfrm>
            <a:off x="1984172" y="203150"/>
            <a:ext cx="362632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商业影响：运营成本与商机流失</a:t>
            </a:r>
          </a:p>
        </p:txBody>
      </p:sp>
      <p:sp>
        <p:nvSpPr>
          <p:cNvPr id="335" name="Text 14"/>
          <p:cNvSpPr/>
          <p:nvPr/>
        </p:nvSpPr>
        <p:spPr>
          <a:xfrm>
            <a:off x="4673501" y="885675"/>
            <a:ext cx="4089499" cy="896096"/>
          </a:xfrm>
          <a:prstGeom prst="roundRect">
            <a:avLst>
              <a:gd name="adj" fmla="val 8504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6" name="Shape 15"/>
          <p:cNvSpPr/>
          <p:nvPr/>
        </p:nvSpPr>
        <p:spPr>
          <a:xfrm>
            <a:off x="4697312" y="885674"/>
            <a:ext cx="9" cy="896100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7" name="Text 16"/>
          <p:cNvSpPr txBox="1"/>
          <p:nvPr/>
        </p:nvSpPr>
        <p:spPr>
          <a:xfrm>
            <a:off x="4873526" y="1037925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品牌信任影响</a:t>
            </a:r>
          </a:p>
        </p:txBody>
      </p:sp>
      <p:sp>
        <p:nvSpPr>
          <p:cNvPr id="338" name="Text 17"/>
          <p:cNvSpPr txBox="1"/>
          <p:nvPr/>
        </p:nvSpPr>
        <p:spPr>
          <a:xfrm>
            <a:off x="4873526" y="1284237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对核心产品回答 "I don't know" — </a:t>
            </a:r>
            <a:r>
              <a:rPr b="1"/>
              <a:t>损害品牌专业形象</a:t>
            </a:r>
            <a:r>
              <a:t>。</a:t>
            </a:r>
          </a:p>
        </p:txBody>
      </p:sp>
      <p:sp>
        <p:nvSpPr>
          <p:cNvPr id="339" name="Text 18"/>
          <p:cNvSpPr txBox="1"/>
          <p:nvPr/>
        </p:nvSpPr>
        <p:spPr>
          <a:xfrm>
            <a:off x="4873526" y="1469529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客户第一次接触就对 AI 产生怀疑，信任重建成本极高。</a:t>
            </a:r>
          </a:p>
        </p:txBody>
      </p:sp>
      <p:sp>
        <p:nvSpPr>
          <p:cNvPr id="340" name="Text 19"/>
          <p:cNvSpPr/>
          <p:nvPr/>
        </p:nvSpPr>
        <p:spPr>
          <a:xfrm>
            <a:off x="4673501" y="1883271"/>
            <a:ext cx="4089499" cy="1081394"/>
          </a:xfrm>
          <a:prstGeom prst="roundRect">
            <a:avLst>
              <a:gd name="adj" fmla="val 704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1" name="Shape 20"/>
          <p:cNvSpPr/>
          <p:nvPr/>
        </p:nvSpPr>
        <p:spPr>
          <a:xfrm>
            <a:off x="4697312" y="1883271"/>
            <a:ext cx="9" cy="1081394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" name="Text 21"/>
          <p:cNvSpPr txBox="1"/>
          <p:nvPr/>
        </p:nvSpPr>
        <p:spPr>
          <a:xfrm>
            <a:off x="4873526" y="2035522"/>
            <a:ext cx="3811821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商机流失影响</a:t>
            </a:r>
          </a:p>
        </p:txBody>
      </p:sp>
      <p:sp>
        <p:nvSpPr>
          <p:cNvPr id="343" name="Text 22"/>
          <p:cNvSpPr txBox="1"/>
          <p:nvPr/>
        </p:nvSpPr>
        <p:spPr>
          <a:xfrm>
            <a:off x="4873526" y="2281833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销售咨询 </a:t>
            </a:r>
            <a:r>
              <a:rPr b="1"/>
              <a:t>70% 被 AI 跳过</a:t>
            </a:r>
            <a:r>
              <a:t> — 商机在第一接触点流失。</a:t>
            </a:r>
          </a:p>
        </p:txBody>
      </p:sp>
      <p:sp>
        <p:nvSpPr>
          <p:cNvPr id="344" name="Text 23"/>
          <p:cNvSpPr txBox="1"/>
          <p:nvPr/>
        </p:nvSpPr>
        <p:spPr>
          <a:xfrm>
            <a:off x="4873526" y="2467124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无线索收集机制 — 客户流失后无法跟进。</a:t>
            </a:r>
          </a:p>
        </p:txBody>
      </p:sp>
      <p:sp>
        <p:nvSpPr>
          <p:cNvPr id="345" name="Text 24"/>
          <p:cNvSpPr txBox="1"/>
          <p:nvPr/>
        </p:nvSpPr>
        <p:spPr>
          <a:xfrm>
            <a:off x="4873526" y="2652415"/>
            <a:ext cx="3811821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核心产品被告知"不知道"后客户可能转向竞品。</a:t>
            </a:r>
          </a:p>
        </p:txBody>
      </p:sp>
      <p:sp>
        <p:nvSpPr>
          <p:cNvPr id="346" name="Text 25"/>
          <p:cNvSpPr/>
          <p:nvPr/>
        </p:nvSpPr>
        <p:spPr>
          <a:xfrm>
            <a:off x="4673501" y="3066157"/>
            <a:ext cx="4089499" cy="1833843"/>
          </a:xfrm>
          <a:prstGeom prst="roundRect">
            <a:avLst>
              <a:gd name="adj" fmla="val 5717"/>
            </a:avLst>
          </a:prstGeom>
          <a:solidFill>
            <a:srgbClr val="131C30"/>
          </a:solidFill>
          <a:ln w="19050">
            <a:solidFill>
              <a:srgbClr val="EF4444"/>
            </a:solidFill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7" name="Text 26"/>
          <p:cNvSpPr txBox="1"/>
          <p:nvPr/>
        </p:nvSpPr>
        <p:spPr>
          <a:xfrm>
            <a:off x="4844951" y="3212008"/>
            <a:ext cx="3821532" cy="185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典型反面案例 INQ-002EK2</a:t>
            </a:r>
          </a:p>
        </p:txBody>
      </p:sp>
      <p:sp>
        <p:nvSpPr>
          <p:cNvPr id="348" name="Text 27"/>
          <p:cNvSpPr txBox="1"/>
          <p:nvPr/>
        </p:nvSpPr>
        <p:spPr>
          <a:xfrm>
            <a:off x="4844951" y="3440460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客户：I need Denmark toll free</a:t>
            </a:r>
          </a:p>
        </p:txBody>
      </p:sp>
      <p:sp>
        <p:nvSpPr>
          <p:cNvPr id="349" name="Text 28"/>
          <p:cNvSpPr txBox="1"/>
          <p:nvPr/>
        </p:nvSpPr>
        <p:spPr>
          <a:xfrm>
            <a:off x="4844951" y="3608039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AI：I don't have specific information...</a:t>
            </a:r>
          </a:p>
        </p:txBody>
      </p:sp>
      <p:sp>
        <p:nvSpPr>
          <p:cNvPr id="350" name="Text 29"/>
          <p:cNvSpPr txBox="1"/>
          <p:nvPr/>
        </p:nvSpPr>
        <p:spPr>
          <a:xfrm>
            <a:off x="4844951" y="377562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客户：May I talk to sales team</a:t>
            </a:r>
          </a:p>
        </p:txBody>
      </p:sp>
      <p:sp>
        <p:nvSpPr>
          <p:cNvPr id="351" name="Text 30"/>
          <p:cNvSpPr txBox="1"/>
          <p:nvPr/>
        </p:nvSpPr>
        <p:spPr>
          <a:xfrm>
            <a:off x="4844951" y="3943201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AI：All agents unavailable. Please try again later.</a:t>
            </a:r>
          </a:p>
        </p:txBody>
      </p:sp>
      <p:sp>
        <p:nvSpPr>
          <p:cNvPr id="352" name="Text 31"/>
          <p:cNvSpPr txBox="1"/>
          <p:nvPr/>
        </p:nvSpPr>
        <p:spPr>
          <a:xfrm>
            <a:off x="4844951" y="4110782"/>
            <a:ext cx="382153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KB 缺失 + 转人工失败 + 客户等待 2 分钟</a:t>
            </a:r>
          </a:p>
        </p:txBody>
      </p:sp>
      <p:sp>
        <p:nvSpPr>
          <p:cNvPr id="353" name="Text 4"/>
          <p:cNvSpPr/>
          <p:nvPr/>
        </p:nvSpPr>
        <p:spPr>
          <a:xfrm>
            <a:off x="381000" y="885675"/>
            <a:ext cx="4089352" cy="1314155"/>
          </a:xfrm>
          <a:prstGeom prst="roundRect">
            <a:avLst>
              <a:gd name="adj" fmla="val 5798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4" name="Text 5"/>
          <p:cNvSpPr txBox="1"/>
          <p:nvPr/>
        </p:nvSpPr>
        <p:spPr>
          <a:xfrm>
            <a:off x="521358" y="1063375"/>
            <a:ext cx="380863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 次 / 样本</a:t>
            </a:r>
          </a:p>
        </p:txBody>
      </p:sp>
      <p:sp>
        <p:nvSpPr>
          <p:cNvPr id="355" name="Text 6"/>
          <p:cNvSpPr txBox="1"/>
          <p:nvPr/>
        </p:nvSpPr>
        <p:spPr>
          <a:xfrm>
            <a:off x="521358" y="1647525"/>
            <a:ext cx="380863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异常转人工 = 本可自动处理的工单</a:t>
            </a:r>
          </a:p>
        </p:txBody>
      </p:sp>
      <p:sp>
        <p:nvSpPr>
          <p:cNvPr id="356" name="Text 7"/>
          <p:cNvSpPr txBox="1"/>
          <p:nvPr/>
        </p:nvSpPr>
        <p:spPr>
          <a:xfrm>
            <a:off x="521358" y="1860200"/>
            <a:ext cx="380863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月均浪费 6+ 小时高级客服时间</a:t>
            </a:r>
          </a:p>
        </p:txBody>
      </p:sp>
      <p:sp>
        <p:nvSpPr>
          <p:cNvPr id="357" name="Text 8"/>
          <p:cNvSpPr/>
          <p:nvPr/>
        </p:nvSpPr>
        <p:spPr>
          <a:xfrm>
            <a:off x="381000" y="2301326"/>
            <a:ext cx="4089352" cy="2598674"/>
          </a:xfrm>
          <a:prstGeom prst="roundRect">
            <a:avLst>
              <a:gd name="adj" fmla="val 704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8" name="Shape 9"/>
          <p:cNvSpPr/>
          <p:nvPr/>
        </p:nvSpPr>
        <p:spPr>
          <a:xfrm flipH="1">
            <a:off x="404813" y="2301324"/>
            <a:ext cx="9" cy="2598680"/>
          </a:xfrm>
          <a:prstGeom prst="line">
            <a:avLst/>
          </a:prstGeom>
          <a:ln w="47625">
            <a:solidFill>
              <a:srgbClr val="7C3AED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9" name="Text 10"/>
          <p:cNvSpPr txBox="1"/>
          <p:nvPr/>
        </p:nvSpPr>
        <p:spPr>
          <a:xfrm>
            <a:off x="581018" y="2453580"/>
            <a:ext cx="3811678" cy="19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4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运营成本影响</a:t>
            </a:r>
          </a:p>
        </p:txBody>
      </p:sp>
      <p:sp>
        <p:nvSpPr>
          <p:cNvPr id="360" name="Text 11"/>
          <p:cNvSpPr txBox="1"/>
          <p:nvPr/>
        </p:nvSpPr>
        <p:spPr>
          <a:xfrm>
            <a:off x="581018" y="2699891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异常转人工将</a:t>
            </a:r>
            <a:r>
              <a:rPr b="1"/>
              <a:t>本可自动化的工单</a:t>
            </a:r>
            <a:r>
              <a:t>压到人工队列。</a:t>
            </a:r>
          </a:p>
        </p:txBody>
      </p:sp>
      <p:sp>
        <p:nvSpPr>
          <p:cNvPr id="361" name="Text 12"/>
          <p:cNvSpPr txBox="1"/>
          <p:nvPr/>
        </p:nvSpPr>
        <p:spPr>
          <a:xfrm>
            <a:off x="581018" y="2885182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高频接单人员工作负荷集中，覆盖多类话题。</a:t>
            </a:r>
          </a:p>
        </p:txBody>
      </p:sp>
      <p:sp>
        <p:nvSpPr>
          <p:cNvPr id="362" name="Text 13"/>
          <p:cNvSpPr txBox="1"/>
          <p:nvPr/>
        </p:nvSpPr>
        <p:spPr>
          <a:xfrm>
            <a:off x="581018" y="3070473"/>
            <a:ext cx="3811678" cy="160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2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随业务增长人工压力</a:t>
            </a:r>
            <a:r>
              <a:rPr b="1"/>
              <a:t>线性增加</a:t>
            </a:r>
            <a:r>
              <a:t>，AI 投资未释放效能。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5" name="Text 1"/>
          <p:cNvSpPr/>
          <p:nvPr/>
        </p:nvSpPr>
        <p:spPr>
          <a:xfrm>
            <a:off x="381000" y="276225"/>
            <a:ext cx="1473101" cy="244376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6" name="Text 2"/>
          <p:cNvSpPr txBox="1"/>
          <p:nvPr/>
        </p:nvSpPr>
        <p:spPr>
          <a:xfrm>
            <a:off x="533400" y="32697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367" name="Text 3"/>
          <p:cNvSpPr txBox="1"/>
          <p:nvPr/>
        </p:nvSpPr>
        <p:spPr>
          <a:xfrm>
            <a:off x="2057251" y="203145"/>
            <a:ext cx="296034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解决方案概述</a:t>
            </a:r>
          </a:p>
        </p:txBody>
      </p:sp>
      <p:sp>
        <p:nvSpPr>
          <p:cNvPr id="368" name="Text 4"/>
          <p:cNvSpPr/>
          <p:nvPr/>
        </p:nvSpPr>
        <p:spPr>
          <a:xfrm>
            <a:off x="381000" y="923775"/>
            <a:ext cx="8382000" cy="620002"/>
          </a:xfrm>
          <a:prstGeom prst="roundRect">
            <a:avLst>
              <a:gd name="adj" fmla="val 13410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9" name="Text 5"/>
          <p:cNvSpPr/>
          <p:nvPr/>
        </p:nvSpPr>
        <p:spPr>
          <a:xfrm>
            <a:off x="2094607" y="1020000"/>
            <a:ext cx="431611" cy="314334"/>
          </a:xfrm>
          <a:prstGeom prst="roundRect">
            <a:avLst>
              <a:gd name="adj" fmla="val 16162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0" name="Text 6"/>
          <p:cNvSpPr txBox="1"/>
          <p:nvPr/>
        </p:nvSpPr>
        <p:spPr>
          <a:xfrm>
            <a:off x="2193818" y="1084998"/>
            <a:ext cx="23317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</a:t>
            </a:r>
          </a:p>
        </p:txBody>
      </p:sp>
      <p:sp>
        <p:nvSpPr>
          <p:cNvPr id="371" name="Text 7"/>
          <p:cNvSpPr txBox="1"/>
          <p:nvPr/>
        </p:nvSpPr>
        <p:spPr>
          <a:xfrm>
            <a:off x="2576958" y="1122162"/>
            <a:ext cx="1425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372" name="Text 8"/>
          <p:cNvSpPr/>
          <p:nvPr/>
        </p:nvSpPr>
        <p:spPr>
          <a:xfrm>
            <a:off x="2767458" y="1065012"/>
            <a:ext cx="806354" cy="285759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3" name="Text 9"/>
          <p:cNvSpPr txBox="1"/>
          <p:nvPr/>
        </p:nvSpPr>
        <p:spPr>
          <a:xfrm>
            <a:off x="2862926" y="1141212"/>
            <a:ext cx="6154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IM</a:t>
            </a:r>
          </a:p>
        </p:txBody>
      </p:sp>
      <p:sp>
        <p:nvSpPr>
          <p:cNvPr id="374" name="Text 10"/>
          <p:cNvSpPr txBox="1"/>
          <p:nvPr/>
        </p:nvSpPr>
        <p:spPr>
          <a:xfrm>
            <a:off x="3624560" y="1122162"/>
            <a:ext cx="1425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375" name="Text 11"/>
          <p:cNvSpPr/>
          <p:nvPr/>
        </p:nvSpPr>
        <p:spPr>
          <a:xfrm>
            <a:off x="3815060" y="1065012"/>
            <a:ext cx="673010" cy="285759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6" name="Text 12"/>
          <p:cNvSpPr txBox="1"/>
          <p:nvPr/>
        </p:nvSpPr>
        <p:spPr>
          <a:xfrm>
            <a:off x="3911860" y="1141212"/>
            <a:ext cx="4793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</a:t>
            </a:r>
          </a:p>
        </p:txBody>
      </p:sp>
      <p:sp>
        <p:nvSpPr>
          <p:cNvPr id="377" name="Text 13"/>
          <p:cNvSpPr txBox="1"/>
          <p:nvPr/>
        </p:nvSpPr>
        <p:spPr>
          <a:xfrm>
            <a:off x="4538810" y="1122162"/>
            <a:ext cx="14255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-&gt;</a:t>
            </a:r>
          </a:p>
        </p:txBody>
      </p:sp>
      <p:sp>
        <p:nvSpPr>
          <p:cNvPr id="378" name="Text 14"/>
          <p:cNvSpPr/>
          <p:nvPr/>
        </p:nvSpPr>
        <p:spPr>
          <a:xfrm>
            <a:off x="4729310" y="1020000"/>
            <a:ext cx="831661" cy="314334"/>
          </a:xfrm>
          <a:prstGeom prst="roundRect">
            <a:avLst>
              <a:gd name="adj" fmla="val 16162"/>
            </a:avLst>
          </a:prstGeom>
          <a:solidFill>
            <a:srgbClr val="7C3AE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9" name="Text 15"/>
          <p:cNvSpPr txBox="1"/>
          <p:nvPr/>
        </p:nvSpPr>
        <p:spPr>
          <a:xfrm>
            <a:off x="4824526" y="1084998"/>
            <a:ext cx="64123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 RAG</a:t>
            </a:r>
          </a:p>
        </p:txBody>
      </p:sp>
      <p:sp>
        <p:nvSpPr>
          <p:cNvPr id="380" name="Text 16"/>
          <p:cNvSpPr txBox="1"/>
          <p:nvPr/>
        </p:nvSpPr>
        <p:spPr>
          <a:xfrm>
            <a:off x="5611712" y="1122162"/>
            <a:ext cx="4038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81" name="Text 17"/>
          <p:cNvSpPr/>
          <p:nvPr/>
        </p:nvSpPr>
        <p:spPr>
          <a:xfrm>
            <a:off x="5702051" y="1020000"/>
            <a:ext cx="545911" cy="314334"/>
          </a:xfrm>
          <a:prstGeom prst="roundRect">
            <a:avLst>
              <a:gd name="adj" fmla="val 16162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2" name="Text 18"/>
          <p:cNvSpPr txBox="1"/>
          <p:nvPr/>
        </p:nvSpPr>
        <p:spPr>
          <a:xfrm>
            <a:off x="5800123" y="1084998"/>
            <a:ext cx="34976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转人工</a:t>
            </a:r>
          </a:p>
        </p:txBody>
      </p:sp>
      <p:sp>
        <p:nvSpPr>
          <p:cNvPr id="383" name="Text 19"/>
          <p:cNvSpPr txBox="1"/>
          <p:nvPr/>
        </p:nvSpPr>
        <p:spPr>
          <a:xfrm>
            <a:off x="6298703" y="1122162"/>
            <a:ext cx="4038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384" name="Text 20"/>
          <p:cNvSpPr/>
          <p:nvPr/>
        </p:nvSpPr>
        <p:spPr>
          <a:xfrm>
            <a:off x="6389042" y="1020000"/>
            <a:ext cx="660211" cy="314334"/>
          </a:xfrm>
          <a:prstGeom prst="roundRect">
            <a:avLst>
              <a:gd name="adj" fmla="val 16162"/>
            </a:avLst>
          </a:prstGeom>
          <a:solidFill>
            <a:srgbClr val="EF44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5" name="Text 21"/>
          <p:cNvSpPr txBox="1"/>
          <p:nvPr/>
        </p:nvSpPr>
        <p:spPr>
          <a:xfrm>
            <a:off x="6485971" y="1084998"/>
            <a:ext cx="46635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386" name="Text 22"/>
          <p:cNvSpPr/>
          <p:nvPr/>
        </p:nvSpPr>
        <p:spPr>
          <a:xfrm>
            <a:off x="381000" y="1593503"/>
            <a:ext cx="2709267" cy="2918520"/>
          </a:xfrm>
          <a:prstGeom prst="roundRect">
            <a:avLst>
              <a:gd name="adj" fmla="val 2813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87" name="Shape 23"/>
          <p:cNvSpPr/>
          <p:nvPr/>
        </p:nvSpPr>
        <p:spPr>
          <a:xfrm>
            <a:off x="380995" y="1612553"/>
            <a:ext cx="2709276" cy="9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8" name="Text 24"/>
          <p:cNvSpPr txBox="1"/>
          <p:nvPr/>
        </p:nvSpPr>
        <p:spPr>
          <a:xfrm>
            <a:off x="533398" y="1946948"/>
            <a:ext cx="2452561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始终在线</a:t>
            </a:r>
          </a:p>
        </p:txBody>
      </p:sp>
      <p:sp>
        <p:nvSpPr>
          <p:cNvPr id="389" name="Text 25"/>
          <p:cNvSpPr txBox="1"/>
          <p:nvPr/>
        </p:nvSpPr>
        <p:spPr>
          <a:xfrm>
            <a:off x="533398" y="2705174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Agent 7x24 小时待命</a:t>
            </a:r>
          </a:p>
        </p:txBody>
      </p:sp>
      <p:sp>
        <p:nvSpPr>
          <p:cNvPr id="390" name="Text 26"/>
          <p:cNvSpPr txBox="1"/>
          <p:nvPr/>
        </p:nvSpPr>
        <p:spPr>
          <a:xfrm>
            <a:off x="533398" y="3035175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不受路由配置影响</a:t>
            </a:r>
          </a:p>
        </p:txBody>
      </p:sp>
      <p:sp>
        <p:nvSpPr>
          <p:cNvPr id="391" name="Text 27"/>
          <p:cNvSpPr txBox="1"/>
          <p:nvPr/>
        </p:nvSpPr>
        <p:spPr>
          <a:xfrm>
            <a:off x="533398" y="3365174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先收集线索再分流</a:t>
            </a:r>
          </a:p>
        </p:txBody>
      </p:sp>
      <p:sp>
        <p:nvSpPr>
          <p:cNvPr id="392" name="Text 28"/>
          <p:cNvSpPr txBox="1"/>
          <p:nvPr/>
        </p:nvSpPr>
        <p:spPr>
          <a:xfrm>
            <a:off x="533398" y="3695176"/>
            <a:ext cx="2452561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393" name="Text 29"/>
          <p:cNvSpPr/>
          <p:nvPr/>
        </p:nvSpPr>
        <p:spPr>
          <a:xfrm>
            <a:off x="3217216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4" name="Shape 30"/>
          <p:cNvSpPr/>
          <p:nvPr/>
        </p:nvSpPr>
        <p:spPr>
          <a:xfrm>
            <a:off x="3217214" y="1612553"/>
            <a:ext cx="2709427" cy="9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ext 31"/>
          <p:cNvSpPr txBox="1"/>
          <p:nvPr/>
        </p:nvSpPr>
        <p:spPr>
          <a:xfrm>
            <a:off x="3369617" y="1946948"/>
            <a:ext cx="2452717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精准回答</a:t>
            </a:r>
          </a:p>
        </p:txBody>
      </p:sp>
      <p:sp>
        <p:nvSpPr>
          <p:cNvPr id="396" name="Text 32"/>
          <p:cNvSpPr txBox="1"/>
          <p:nvPr/>
        </p:nvSpPr>
        <p:spPr>
          <a:xfrm>
            <a:off x="3369617" y="2705174"/>
            <a:ext cx="245271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知识库覆盖全产品线</a:t>
            </a:r>
          </a:p>
        </p:txBody>
      </p:sp>
      <p:sp>
        <p:nvSpPr>
          <p:cNvPr id="397" name="Text 33"/>
          <p:cNvSpPr txBox="1"/>
          <p:nvPr/>
        </p:nvSpPr>
        <p:spPr>
          <a:xfrm>
            <a:off x="3369617" y="3035175"/>
            <a:ext cx="245271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反幻觉：查不到不编造</a:t>
            </a:r>
          </a:p>
        </p:txBody>
      </p:sp>
      <p:sp>
        <p:nvSpPr>
          <p:cNvPr id="398" name="Text 34"/>
          <p:cNvSpPr txBox="1"/>
          <p:nvPr/>
        </p:nvSpPr>
        <p:spPr>
          <a:xfrm>
            <a:off x="3369617" y="3365174"/>
            <a:ext cx="245271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精准定价：不捏造价格</a:t>
            </a:r>
          </a:p>
        </p:txBody>
      </p:sp>
      <p:sp>
        <p:nvSpPr>
          <p:cNvPr id="399" name="Text 35"/>
          <p:cNvSpPr txBox="1"/>
          <p:nvPr/>
        </p:nvSpPr>
        <p:spPr>
          <a:xfrm>
            <a:off x="3369617" y="3695176"/>
            <a:ext cx="2452717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多轮对话上下文记忆</a:t>
            </a:r>
          </a:p>
        </p:txBody>
      </p:sp>
      <p:sp>
        <p:nvSpPr>
          <p:cNvPr id="400" name="Text 36"/>
          <p:cNvSpPr/>
          <p:nvPr/>
        </p:nvSpPr>
        <p:spPr>
          <a:xfrm>
            <a:off x="6053582" y="1593503"/>
            <a:ext cx="2709418" cy="2918520"/>
          </a:xfrm>
          <a:prstGeom prst="roundRect">
            <a:avLst>
              <a:gd name="adj" fmla="val 2812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1" name="Shape 37"/>
          <p:cNvSpPr/>
          <p:nvPr/>
        </p:nvSpPr>
        <p:spPr>
          <a:xfrm>
            <a:off x="6053580" y="1612553"/>
            <a:ext cx="2709427" cy="9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Text 38"/>
          <p:cNvSpPr txBox="1"/>
          <p:nvPr/>
        </p:nvSpPr>
        <p:spPr>
          <a:xfrm>
            <a:off x="6205982" y="1946948"/>
            <a:ext cx="2452712" cy="224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400"/>
              </a:spcBef>
              <a:defRPr b="1" sz="1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智能分流</a:t>
            </a:r>
          </a:p>
        </p:txBody>
      </p:sp>
      <p:sp>
        <p:nvSpPr>
          <p:cNvPr id="403" name="Text 39"/>
          <p:cNvSpPr txBox="1"/>
          <p:nvPr/>
        </p:nvSpPr>
        <p:spPr>
          <a:xfrm>
            <a:off x="6205982" y="2705174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自动识别客户类型</a:t>
            </a:r>
          </a:p>
        </p:txBody>
      </p:sp>
      <p:sp>
        <p:nvSpPr>
          <p:cNvPr id="404" name="Text 40"/>
          <p:cNvSpPr txBox="1"/>
          <p:nvPr/>
        </p:nvSpPr>
        <p:spPr>
          <a:xfrm>
            <a:off x="6205982" y="3035175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区分场景智能路由</a:t>
            </a:r>
          </a:p>
        </p:txBody>
      </p:sp>
      <p:sp>
        <p:nvSpPr>
          <p:cNvPr id="405" name="Text 41"/>
          <p:cNvSpPr txBox="1"/>
          <p:nvPr/>
        </p:nvSpPr>
        <p:spPr>
          <a:xfrm>
            <a:off x="6205982" y="3365174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即时响应转人工请求</a:t>
            </a:r>
          </a:p>
        </p:txBody>
      </p:sp>
      <p:sp>
        <p:nvSpPr>
          <p:cNvPr id="406" name="Text 42"/>
          <p:cNvSpPr txBox="1"/>
          <p:nvPr/>
        </p:nvSpPr>
        <p:spPr>
          <a:xfrm>
            <a:off x="6205982" y="3695176"/>
            <a:ext cx="2452712" cy="146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拼写错误自动理解</a:t>
            </a:r>
          </a:p>
        </p:txBody>
      </p:sp>
      <p:sp>
        <p:nvSpPr>
          <p:cNvPr id="407" name="Text 43"/>
          <p:cNvSpPr/>
          <p:nvPr/>
        </p:nvSpPr>
        <p:spPr>
          <a:xfrm>
            <a:off x="381000" y="4613523"/>
            <a:ext cx="8382000" cy="403036"/>
          </a:xfrm>
          <a:prstGeom prst="roundRect">
            <a:avLst>
              <a:gd name="adj" fmla="val 18907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8" name="Text 44"/>
          <p:cNvSpPr txBox="1"/>
          <p:nvPr/>
        </p:nvSpPr>
        <p:spPr>
          <a:xfrm>
            <a:off x="478435" y="4715023"/>
            <a:ext cx="818712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核心理念：AI 不只是"回答问题"，而是完整的客户旅程管理</a:t>
            </a:r>
          </a:p>
        </p:txBody>
      </p:sp>
      <p:grpSp>
        <p:nvGrpSpPr>
          <p:cNvPr id="411" name="QuoteBox_700"/>
          <p:cNvGrpSpPr/>
          <p:nvPr/>
        </p:nvGrpSpPr>
        <p:grpSpPr>
          <a:xfrm>
            <a:off x="533395" y="2206948"/>
            <a:ext cx="2452570" cy="290009"/>
            <a:chOff x="-1" y="0"/>
            <a:chExt cx="2452568" cy="290008"/>
          </a:xfrm>
        </p:grpSpPr>
        <p:sp>
          <p:nvSpPr>
            <p:cNvPr id="409" name="圆角矩形"/>
            <p:cNvSpPr/>
            <p:nvPr/>
          </p:nvSpPr>
          <p:spPr>
            <a:xfrm>
              <a:off x="-2" y="-1"/>
              <a:ext cx="2452570" cy="290010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0" name="全天候响应，不依赖坐席排班"/>
            <p:cNvSpPr txBox="1"/>
            <p:nvPr/>
          </p:nvSpPr>
          <p:spPr>
            <a:xfrm>
              <a:off x="37271" y="3648"/>
              <a:ext cx="2378023" cy="2827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0C111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全天候响应，不依赖坐席排班</a:t>
              </a:r>
            </a:p>
          </p:txBody>
        </p:sp>
      </p:grpSp>
      <p:grpSp>
        <p:nvGrpSpPr>
          <p:cNvPr id="414" name="QuoteBox_701"/>
          <p:cNvGrpSpPr/>
          <p:nvPr/>
        </p:nvGrpSpPr>
        <p:grpSpPr>
          <a:xfrm>
            <a:off x="3369617" y="2206948"/>
            <a:ext cx="2452722" cy="290009"/>
            <a:chOff x="0" y="0"/>
            <a:chExt cx="2452721" cy="290008"/>
          </a:xfrm>
        </p:grpSpPr>
        <p:sp>
          <p:nvSpPr>
            <p:cNvPr id="412" name="圆角矩形"/>
            <p:cNvSpPr/>
            <p:nvPr/>
          </p:nvSpPr>
          <p:spPr>
            <a:xfrm>
              <a:off x="0" y="-1"/>
              <a:ext cx="2452722" cy="290010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3" name="基于知识库检索，杜绝幻觉与错误信息"/>
            <p:cNvSpPr txBox="1"/>
            <p:nvPr/>
          </p:nvSpPr>
          <p:spPr>
            <a:xfrm>
              <a:off x="37275" y="3648"/>
              <a:ext cx="2378171" cy="2827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0C111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基于知识库检索，杜绝幻觉与错误信息</a:t>
              </a:r>
            </a:p>
          </p:txBody>
        </p:sp>
      </p:grpSp>
      <p:grpSp>
        <p:nvGrpSpPr>
          <p:cNvPr id="417" name="QuoteBox_702"/>
          <p:cNvGrpSpPr/>
          <p:nvPr/>
        </p:nvGrpSpPr>
        <p:grpSpPr>
          <a:xfrm>
            <a:off x="6205977" y="2206948"/>
            <a:ext cx="2452723" cy="290009"/>
            <a:chOff x="-1" y="0"/>
            <a:chExt cx="2452721" cy="290008"/>
          </a:xfrm>
        </p:grpSpPr>
        <p:sp>
          <p:nvSpPr>
            <p:cNvPr id="415" name="圆角矩形"/>
            <p:cNvSpPr/>
            <p:nvPr/>
          </p:nvSpPr>
          <p:spPr>
            <a:xfrm>
              <a:off x="-2" y="-1"/>
              <a:ext cx="2452723" cy="290010"/>
            </a:xfrm>
            <a:prstGeom prst="roundRect">
              <a:avLst>
                <a:gd name="adj" fmla="val 8000"/>
              </a:avLst>
            </a:prstGeom>
            <a:solidFill>
              <a:srgbClr val="DFF2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ts val="1200"/>
                </a:lnSpc>
                <a:defRPr i="1" sz="9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6" name="自动判断意图，无缝衔接人工服务"/>
            <p:cNvSpPr txBox="1"/>
            <p:nvPr/>
          </p:nvSpPr>
          <p:spPr>
            <a:xfrm>
              <a:off x="37274" y="3648"/>
              <a:ext cx="2378170" cy="2827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0960" tIns="60960" rIns="60960" bIns="60960" numCol="1" anchor="ctr">
              <a:spAutoFit/>
            </a:bodyPr>
            <a:lstStyle>
              <a:lvl1pPr>
                <a:lnSpc>
                  <a:spcPts val="1200"/>
                </a:lnSpc>
                <a:defRPr i="1" sz="900">
                  <a:solidFill>
                    <a:srgbClr val="0C111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自动判断意图，无缝衔接人工服务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/>
          <p:nvPr/>
        </p:nvSpPr>
        <p:spPr>
          <a:xfrm>
            <a:off x="0" y="-2"/>
            <a:ext cx="9144000" cy="7587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0" name="Text 1"/>
          <p:cNvSpPr/>
          <p:nvPr/>
        </p:nvSpPr>
        <p:spPr>
          <a:xfrm>
            <a:off x="381000" y="257175"/>
            <a:ext cx="1473101" cy="244376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1" name="Text 2"/>
          <p:cNvSpPr txBox="1"/>
          <p:nvPr/>
        </p:nvSpPr>
        <p:spPr>
          <a:xfrm>
            <a:off x="533400" y="307925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422" name="Text 3"/>
          <p:cNvSpPr txBox="1"/>
          <p:nvPr/>
        </p:nvSpPr>
        <p:spPr>
          <a:xfrm>
            <a:off x="2057249" y="203150"/>
            <a:ext cx="431247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UAT 已验证能力 - 3 轮 19 项全部通过</a:t>
            </a:r>
          </a:p>
        </p:txBody>
      </p:sp>
      <p:sp>
        <p:nvSpPr>
          <p:cNvPr id="423" name="Text 4"/>
          <p:cNvSpPr/>
          <p:nvPr/>
        </p:nvSpPr>
        <p:spPr>
          <a:xfrm>
            <a:off x="381000" y="885675"/>
            <a:ext cx="3281661" cy="869754"/>
          </a:xfrm>
          <a:prstGeom prst="roundRect">
            <a:avLst>
              <a:gd name="adj" fmla="val 8761"/>
            </a:avLst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4" name="Text 5"/>
          <p:cNvSpPr txBox="1"/>
          <p:nvPr/>
        </p:nvSpPr>
        <p:spPr>
          <a:xfrm>
            <a:off x="477673" y="1012627"/>
            <a:ext cx="3088316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 / 19</a:t>
            </a:r>
          </a:p>
        </p:txBody>
      </p:sp>
      <p:sp>
        <p:nvSpPr>
          <p:cNvPr id="425" name="Text 6"/>
          <p:cNvSpPr txBox="1"/>
          <p:nvPr/>
        </p:nvSpPr>
        <p:spPr>
          <a:xfrm>
            <a:off x="477673" y="1447500"/>
            <a:ext cx="308831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测试用例 100% 通过</a:t>
            </a:r>
          </a:p>
        </p:txBody>
      </p:sp>
      <p:sp>
        <p:nvSpPr>
          <p:cNvPr id="426" name="Text 7"/>
          <p:cNvSpPr/>
          <p:nvPr/>
        </p:nvSpPr>
        <p:spPr>
          <a:xfrm>
            <a:off x="381000" y="1831625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7" name="Shape 8"/>
          <p:cNvSpPr/>
          <p:nvPr/>
        </p:nvSpPr>
        <p:spPr>
          <a:xfrm flipH="1">
            <a:off x="404813" y="1831625"/>
            <a:ext cx="9" cy="886871"/>
          </a:xfrm>
          <a:prstGeom prst="line">
            <a:avLst/>
          </a:prstGeom>
          <a:ln w="47625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Text 9"/>
          <p:cNvSpPr txBox="1"/>
          <p:nvPr/>
        </p:nvSpPr>
        <p:spPr>
          <a:xfrm>
            <a:off x="555570" y="1958426"/>
            <a:ext cx="3039749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轮迭代优化</a:t>
            </a:r>
          </a:p>
        </p:txBody>
      </p:sp>
      <p:sp>
        <p:nvSpPr>
          <p:cNvPr id="429" name="Text 10"/>
          <p:cNvSpPr txBox="1"/>
          <p:nvPr/>
        </p:nvSpPr>
        <p:spPr>
          <a:xfrm>
            <a:off x="555570" y="2145058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R1</a:t>
            </a:r>
            <a:r>
              <a:rPr b="0"/>
              <a:t>：基础功能验证</a:t>
            </a:r>
          </a:p>
        </p:txBody>
      </p:sp>
      <p:sp>
        <p:nvSpPr>
          <p:cNvPr id="430" name="Text 11"/>
          <p:cNvSpPr txBox="1"/>
          <p:nvPr/>
        </p:nvSpPr>
        <p:spPr>
          <a:xfrm>
            <a:off x="555570" y="2302371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R2</a:t>
            </a:r>
            <a:r>
              <a:rPr b="0"/>
              <a:t>：修复路由、身份验证、来源引用</a:t>
            </a:r>
          </a:p>
        </p:txBody>
      </p:sp>
      <p:sp>
        <p:nvSpPr>
          <p:cNvPr id="431" name="Text 12"/>
          <p:cNvSpPr txBox="1"/>
          <p:nvPr/>
        </p:nvSpPr>
        <p:spPr>
          <a:xfrm>
            <a:off x="555570" y="2459682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000"/>
              </a:lnSpc>
              <a:spcBef>
                <a:spcPts val="200"/>
              </a:spcBef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R3</a:t>
            </a:r>
            <a:r>
              <a:rPr b="0"/>
              <a:t>：修复模糊请求、添加 Discovery Phase</a:t>
            </a:r>
          </a:p>
        </p:txBody>
      </p:sp>
      <p:sp>
        <p:nvSpPr>
          <p:cNvPr id="432" name="Text 13"/>
          <p:cNvSpPr/>
          <p:nvPr/>
        </p:nvSpPr>
        <p:spPr>
          <a:xfrm>
            <a:off x="381000" y="2794692"/>
            <a:ext cx="3281661" cy="886871"/>
          </a:xfrm>
          <a:prstGeom prst="roundRect">
            <a:avLst>
              <a:gd name="adj" fmla="val 8592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3" name="Shape 14"/>
          <p:cNvSpPr/>
          <p:nvPr/>
        </p:nvSpPr>
        <p:spPr>
          <a:xfrm flipH="1">
            <a:off x="404813" y="2794692"/>
            <a:ext cx="9" cy="886868"/>
          </a:xfrm>
          <a:prstGeom prst="line">
            <a:avLst/>
          </a:prstGeom>
          <a:ln w="47625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Text 15"/>
          <p:cNvSpPr txBox="1"/>
          <p:nvPr/>
        </p:nvSpPr>
        <p:spPr>
          <a:xfrm>
            <a:off x="555570" y="2921496"/>
            <a:ext cx="3039749" cy="150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关键回归验证</a:t>
            </a:r>
          </a:p>
        </p:txBody>
      </p:sp>
      <p:sp>
        <p:nvSpPr>
          <p:cNvPr id="435" name="Text 16"/>
          <p:cNvSpPr txBox="1"/>
          <p:nvPr/>
        </p:nvSpPr>
        <p:spPr>
          <a:xfrm>
            <a:off x="555570" y="3108125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TC-A2 现有客户识别 PASS</a:t>
            </a:r>
          </a:p>
        </p:txBody>
      </p:sp>
      <p:sp>
        <p:nvSpPr>
          <p:cNvPr id="436" name="Text 17"/>
          <p:cNvSpPr txBox="1"/>
          <p:nvPr/>
        </p:nvSpPr>
        <p:spPr>
          <a:xfrm>
            <a:off x="555570" y="3265437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TC-B1 WhatsApp 咨询 PASS</a:t>
            </a:r>
          </a:p>
        </p:txBody>
      </p:sp>
      <p:sp>
        <p:nvSpPr>
          <p:cNvPr id="437" name="Text 18"/>
          <p:cNvSpPr txBox="1"/>
          <p:nvPr/>
        </p:nvSpPr>
        <p:spPr>
          <a:xfrm>
            <a:off x="555570" y="3422748"/>
            <a:ext cx="3039749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TC-H2 模糊请求处理 PASS</a:t>
            </a:r>
          </a:p>
        </p:txBody>
      </p:sp>
      <p:sp>
        <p:nvSpPr>
          <p:cNvPr id="438" name="Text 19"/>
          <p:cNvSpPr/>
          <p:nvPr/>
        </p:nvSpPr>
        <p:spPr>
          <a:xfrm>
            <a:off x="3840360" y="885675"/>
            <a:ext cx="4922640" cy="2815234"/>
          </a:xfrm>
          <a:prstGeom prst="roundRect">
            <a:avLst>
              <a:gd name="adj" fmla="val 2707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9" name="Text 20"/>
          <p:cNvSpPr txBox="1"/>
          <p:nvPr/>
        </p:nvSpPr>
        <p:spPr>
          <a:xfrm>
            <a:off x="3992761" y="1012627"/>
            <a:ext cx="471019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能力验证矩阵</a:t>
            </a:r>
          </a:p>
        </p:txBody>
      </p:sp>
      <p:sp>
        <p:nvSpPr>
          <p:cNvPr id="440" name="Text 21"/>
          <p:cNvSpPr/>
          <p:nvPr/>
        </p:nvSpPr>
        <p:spPr>
          <a:xfrm>
            <a:off x="3992760" y="1288852"/>
            <a:ext cx="4617840" cy="253910"/>
          </a:xfrm>
          <a:prstGeom prst="roundRect">
            <a:avLst>
              <a:gd name="adj" fmla="val 15006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1" name="Shape 22"/>
          <p:cNvSpPr/>
          <p:nvPr/>
        </p:nvSpPr>
        <p:spPr>
          <a:xfrm>
            <a:off x="3992760" y="1537990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 23"/>
          <p:cNvSpPr txBox="1"/>
          <p:nvPr/>
        </p:nvSpPr>
        <p:spPr>
          <a:xfrm>
            <a:off x="3992760" y="1339600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能力</a:t>
            </a:r>
          </a:p>
        </p:txBody>
      </p:sp>
      <p:sp>
        <p:nvSpPr>
          <p:cNvPr id="443" name="Text 24"/>
          <p:cNvSpPr txBox="1"/>
          <p:nvPr/>
        </p:nvSpPr>
        <p:spPr>
          <a:xfrm>
            <a:off x="5450978" y="1339600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444" name="Text 25"/>
          <p:cNvSpPr txBox="1"/>
          <p:nvPr/>
        </p:nvSpPr>
        <p:spPr>
          <a:xfrm>
            <a:off x="7874199" y="1339600"/>
            <a:ext cx="7437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测试</a:t>
            </a:r>
          </a:p>
        </p:txBody>
      </p:sp>
      <p:sp>
        <p:nvSpPr>
          <p:cNvPr id="445" name="Shape 26"/>
          <p:cNvSpPr/>
          <p:nvPr/>
        </p:nvSpPr>
        <p:spPr>
          <a:xfrm>
            <a:off x="3992760" y="1791891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6" name="Text 27"/>
          <p:cNvSpPr txBox="1"/>
          <p:nvPr/>
        </p:nvSpPr>
        <p:spPr>
          <a:xfrm>
            <a:off x="3992760" y="1593503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客户识别</a:t>
            </a:r>
          </a:p>
        </p:txBody>
      </p:sp>
      <p:sp>
        <p:nvSpPr>
          <p:cNvPr id="447" name="Text 28"/>
          <p:cNvSpPr txBox="1"/>
          <p:nvPr/>
        </p:nvSpPr>
        <p:spPr>
          <a:xfrm>
            <a:off x="5450978" y="1593503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新客户/老客户/合作伙伴自动分流</a:t>
            </a:r>
          </a:p>
        </p:txBody>
      </p:sp>
      <p:sp>
        <p:nvSpPr>
          <p:cNvPr id="448" name="Text 29"/>
          <p:cNvSpPr txBox="1"/>
          <p:nvPr/>
        </p:nvSpPr>
        <p:spPr>
          <a:xfrm>
            <a:off x="7874199" y="1593503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TC-A</a:t>
            </a:r>
          </a:p>
        </p:txBody>
      </p:sp>
      <p:sp>
        <p:nvSpPr>
          <p:cNvPr id="449" name="Shape 30"/>
          <p:cNvSpPr/>
          <p:nvPr/>
        </p:nvSpPr>
        <p:spPr>
          <a:xfrm>
            <a:off x="3992760" y="2045791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" name="Text 31"/>
          <p:cNvSpPr txBox="1"/>
          <p:nvPr/>
        </p:nvSpPr>
        <p:spPr>
          <a:xfrm>
            <a:off x="3992760" y="1847400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产品问答</a:t>
            </a:r>
          </a:p>
        </p:txBody>
      </p:sp>
      <p:sp>
        <p:nvSpPr>
          <p:cNvPr id="451" name="Text 32"/>
          <p:cNvSpPr txBox="1"/>
          <p:nvPr/>
        </p:nvSpPr>
        <p:spPr>
          <a:xfrm>
            <a:off x="5450978" y="1847400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知识库检索 + 来源引用</a:t>
            </a:r>
          </a:p>
        </p:txBody>
      </p:sp>
      <p:sp>
        <p:nvSpPr>
          <p:cNvPr id="452" name="Text 33"/>
          <p:cNvSpPr txBox="1"/>
          <p:nvPr/>
        </p:nvSpPr>
        <p:spPr>
          <a:xfrm>
            <a:off x="7874199" y="1847400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</a:t>
            </a:r>
          </a:p>
        </p:txBody>
      </p:sp>
      <p:sp>
        <p:nvSpPr>
          <p:cNvPr id="453" name="Shape 34"/>
          <p:cNvSpPr/>
          <p:nvPr/>
        </p:nvSpPr>
        <p:spPr>
          <a:xfrm>
            <a:off x="3992760" y="2299691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Text 35"/>
          <p:cNvSpPr txBox="1"/>
          <p:nvPr/>
        </p:nvSpPr>
        <p:spPr>
          <a:xfrm>
            <a:off x="3992760" y="2101300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</a:t>
            </a:r>
          </a:p>
        </p:txBody>
      </p:sp>
      <p:sp>
        <p:nvSpPr>
          <p:cNvPr id="455" name="Text 36"/>
          <p:cNvSpPr txBox="1"/>
          <p:nvPr/>
        </p:nvSpPr>
        <p:spPr>
          <a:xfrm>
            <a:off x="5450978" y="2101300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不编造价格，未知价格主动说明</a:t>
            </a:r>
          </a:p>
        </p:txBody>
      </p:sp>
      <p:sp>
        <p:nvSpPr>
          <p:cNvPr id="456" name="Text 37"/>
          <p:cNvSpPr txBox="1"/>
          <p:nvPr/>
        </p:nvSpPr>
        <p:spPr>
          <a:xfrm>
            <a:off x="7874199" y="2101300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TC-C</a:t>
            </a:r>
          </a:p>
        </p:txBody>
      </p:sp>
      <p:sp>
        <p:nvSpPr>
          <p:cNvPr id="457" name="Shape 38"/>
          <p:cNvSpPr/>
          <p:nvPr/>
        </p:nvSpPr>
        <p:spPr>
          <a:xfrm>
            <a:off x="3992760" y="2553591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Text 39"/>
          <p:cNvSpPr txBox="1"/>
          <p:nvPr/>
        </p:nvSpPr>
        <p:spPr>
          <a:xfrm>
            <a:off x="3992760" y="2355205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</a:t>
            </a:r>
          </a:p>
        </p:txBody>
      </p:sp>
      <p:sp>
        <p:nvSpPr>
          <p:cNvPr id="459" name="Text 40"/>
          <p:cNvSpPr txBox="1"/>
          <p:nvPr/>
        </p:nvSpPr>
        <p:spPr>
          <a:xfrm>
            <a:off x="5450978" y="2355205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姓名/公司/邮箱/电话四要素</a:t>
            </a:r>
          </a:p>
        </p:txBody>
      </p:sp>
      <p:sp>
        <p:nvSpPr>
          <p:cNvPr id="460" name="Text 41"/>
          <p:cNvSpPr txBox="1"/>
          <p:nvPr/>
        </p:nvSpPr>
        <p:spPr>
          <a:xfrm>
            <a:off x="7874199" y="2355205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TC-D</a:t>
            </a:r>
          </a:p>
        </p:txBody>
      </p:sp>
      <p:sp>
        <p:nvSpPr>
          <p:cNvPr id="461" name="Shape 42"/>
          <p:cNvSpPr/>
          <p:nvPr/>
        </p:nvSpPr>
        <p:spPr>
          <a:xfrm>
            <a:off x="3992760" y="2807492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Text 43"/>
          <p:cNvSpPr txBox="1"/>
          <p:nvPr/>
        </p:nvSpPr>
        <p:spPr>
          <a:xfrm>
            <a:off x="3992760" y="2609106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463" name="Text 44"/>
          <p:cNvSpPr txBox="1"/>
          <p:nvPr/>
        </p:nvSpPr>
        <p:spPr>
          <a:xfrm>
            <a:off x="5450978" y="2609106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区分账务/技术/销售/合作场景</a:t>
            </a:r>
          </a:p>
        </p:txBody>
      </p:sp>
      <p:sp>
        <p:nvSpPr>
          <p:cNvPr id="464" name="Text 45"/>
          <p:cNvSpPr txBox="1"/>
          <p:nvPr/>
        </p:nvSpPr>
        <p:spPr>
          <a:xfrm>
            <a:off x="7874199" y="2609106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TC-E/F</a:t>
            </a:r>
          </a:p>
        </p:txBody>
      </p:sp>
      <p:sp>
        <p:nvSpPr>
          <p:cNvPr id="465" name="Shape 46"/>
          <p:cNvSpPr/>
          <p:nvPr/>
        </p:nvSpPr>
        <p:spPr>
          <a:xfrm>
            <a:off x="3992760" y="3061392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Text 47"/>
          <p:cNvSpPr txBox="1"/>
          <p:nvPr/>
        </p:nvSpPr>
        <p:spPr>
          <a:xfrm>
            <a:off x="3992760" y="2863007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上下文记忆</a:t>
            </a:r>
          </a:p>
        </p:txBody>
      </p:sp>
      <p:sp>
        <p:nvSpPr>
          <p:cNvPr id="467" name="Text 48"/>
          <p:cNvSpPr txBox="1"/>
          <p:nvPr/>
        </p:nvSpPr>
        <p:spPr>
          <a:xfrm>
            <a:off x="5450978" y="2863007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多轮对话价格查询连贯</a:t>
            </a:r>
          </a:p>
        </p:txBody>
      </p:sp>
      <p:sp>
        <p:nvSpPr>
          <p:cNvPr id="468" name="Text 49"/>
          <p:cNvSpPr txBox="1"/>
          <p:nvPr/>
        </p:nvSpPr>
        <p:spPr>
          <a:xfrm>
            <a:off x="7874199" y="2863007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TC-G</a:t>
            </a:r>
          </a:p>
        </p:txBody>
      </p:sp>
      <p:sp>
        <p:nvSpPr>
          <p:cNvPr id="469" name="Shape 50"/>
          <p:cNvSpPr/>
          <p:nvPr/>
        </p:nvSpPr>
        <p:spPr>
          <a:xfrm>
            <a:off x="3992760" y="3315294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Text 51"/>
          <p:cNvSpPr txBox="1"/>
          <p:nvPr/>
        </p:nvSpPr>
        <p:spPr>
          <a:xfrm>
            <a:off x="3992760" y="3116907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471" name="Text 52"/>
          <p:cNvSpPr txBox="1"/>
          <p:nvPr/>
        </p:nvSpPr>
        <p:spPr>
          <a:xfrm>
            <a:off x="5450978" y="3116907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拼写错误、模糊表述均可理解</a:t>
            </a:r>
          </a:p>
        </p:txBody>
      </p:sp>
      <p:sp>
        <p:nvSpPr>
          <p:cNvPr id="472" name="Text 53"/>
          <p:cNvSpPr txBox="1"/>
          <p:nvPr/>
        </p:nvSpPr>
        <p:spPr>
          <a:xfrm>
            <a:off x="7874199" y="3116907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TC-H</a:t>
            </a:r>
          </a:p>
        </p:txBody>
      </p:sp>
      <p:sp>
        <p:nvSpPr>
          <p:cNvPr id="473" name="Shape 54"/>
          <p:cNvSpPr/>
          <p:nvPr/>
        </p:nvSpPr>
        <p:spPr>
          <a:xfrm>
            <a:off x="3992760" y="3569196"/>
            <a:ext cx="4617847" cy="9"/>
          </a:xfrm>
          <a:prstGeom prst="line">
            <a:avLst/>
          </a:prstGeom>
          <a:ln>
            <a:solidFill>
              <a:srgbClr val="ECF0F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Text 55"/>
          <p:cNvSpPr txBox="1"/>
          <p:nvPr/>
        </p:nvSpPr>
        <p:spPr>
          <a:xfrm>
            <a:off x="3992760" y="3370807"/>
            <a:ext cx="14873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</a:t>
            </a:r>
          </a:p>
        </p:txBody>
      </p:sp>
      <p:sp>
        <p:nvSpPr>
          <p:cNvPr id="475" name="Text 56"/>
          <p:cNvSpPr txBox="1"/>
          <p:nvPr/>
        </p:nvSpPr>
        <p:spPr>
          <a:xfrm>
            <a:off x="5450978" y="3370807"/>
            <a:ext cx="24791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不存在功能坚定否认，零编造</a:t>
            </a:r>
          </a:p>
        </p:txBody>
      </p:sp>
      <p:sp>
        <p:nvSpPr>
          <p:cNvPr id="476" name="Text 57"/>
          <p:cNvSpPr txBox="1"/>
          <p:nvPr/>
        </p:nvSpPr>
        <p:spPr>
          <a:xfrm>
            <a:off x="7874199" y="3370807"/>
            <a:ext cx="7437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TC-B3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9" name="Text 1"/>
          <p:cNvSpPr/>
          <p:nvPr/>
        </p:nvSpPr>
        <p:spPr>
          <a:xfrm>
            <a:off x="381000" y="301674"/>
            <a:ext cx="1473101" cy="244377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0" name="Text 2"/>
          <p:cNvSpPr txBox="1"/>
          <p:nvPr/>
        </p:nvSpPr>
        <p:spPr>
          <a:xfrm>
            <a:off x="533400" y="352424"/>
            <a:ext cx="119166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NEED-PAYOFF</a:t>
            </a:r>
          </a:p>
        </p:txBody>
      </p:sp>
      <p:sp>
        <p:nvSpPr>
          <p:cNvPr id="481" name="Text 3"/>
          <p:cNvSpPr txBox="1"/>
          <p:nvPr/>
        </p:nvSpPr>
        <p:spPr>
          <a:xfrm>
            <a:off x="2057250" y="228600"/>
            <a:ext cx="2279652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问题对照解决方案</a:t>
            </a:r>
          </a:p>
        </p:txBody>
      </p:sp>
      <p:sp>
        <p:nvSpPr>
          <p:cNvPr id="482" name="Text 4"/>
          <p:cNvSpPr/>
          <p:nvPr/>
        </p:nvSpPr>
        <p:spPr>
          <a:xfrm>
            <a:off x="381000" y="1050875"/>
            <a:ext cx="3511897" cy="1257301"/>
          </a:xfrm>
          <a:prstGeom prst="roundRect">
            <a:avLst>
              <a:gd name="adj" fmla="val 606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3" name="Shape 5"/>
          <p:cNvSpPr/>
          <p:nvPr/>
        </p:nvSpPr>
        <p:spPr>
          <a:xfrm flipH="1">
            <a:off x="404813" y="1050874"/>
            <a:ext cx="9" cy="1257309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Text 6"/>
          <p:cNvSpPr txBox="1"/>
          <p:nvPr/>
        </p:nvSpPr>
        <p:spPr>
          <a:xfrm>
            <a:off x="606323" y="124137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A：AI 从未介入</a:t>
            </a:r>
          </a:p>
        </p:txBody>
      </p:sp>
      <p:sp>
        <p:nvSpPr>
          <p:cNvPr id="485" name="Text 7"/>
          <p:cNvSpPr txBox="1"/>
          <p:nvPr/>
        </p:nvSpPr>
        <p:spPr>
          <a:xfrm>
            <a:off x="606323" y="15271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路由配置导致有人工在线时 AI 被跳过</a:t>
            </a:r>
          </a:p>
        </p:txBody>
      </p:sp>
      <p:sp>
        <p:nvSpPr>
          <p:cNvPr id="486" name="Text 8"/>
          <p:cNvSpPr txBox="1"/>
          <p:nvPr/>
        </p:nvSpPr>
        <p:spPr>
          <a:xfrm>
            <a:off x="606323" y="17366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销售咨询 70% 未经 AI 处理</a:t>
            </a:r>
          </a:p>
        </p:txBody>
      </p:sp>
      <p:sp>
        <p:nvSpPr>
          <p:cNvPr id="487" name="Text 9"/>
          <p:cNvSpPr txBox="1"/>
          <p:nvPr/>
        </p:nvSpPr>
        <p:spPr>
          <a:xfrm>
            <a:off x="606323" y="19462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无线索收集，商机直接流失</a:t>
            </a:r>
          </a:p>
        </p:txBody>
      </p:sp>
      <p:sp>
        <p:nvSpPr>
          <p:cNvPr id="488" name="Text 10"/>
          <p:cNvSpPr txBox="1"/>
          <p:nvPr/>
        </p:nvSpPr>
        <p:spPr>
          <a:xfrm>
            <a:off x="4102298" y="1531887"/>
            <a:ext cx="32380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489" name="Text 11"/>
          <p:cNvSpPr/>
          <p:nvPr/>
        </p:nvSpPr>
        <p:spPr>
          <a:xfrm>
            <a:off x="4629298" y="1050875"/>
            <a:ext cx="4133702" cy="1257301"/>
          </a:xfrm>
          <a:prstGeom prst="roundRect">
            <a:avLst>
              <a:gd name="adj" fmla="val 606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0" name="Shape 12"/>
          <p:cNvSpPr/>
          <p:nvPr/>
        </p:nvSpPr>
        <p:spPr>
          <a:xfrm>
            <a:off x="4653110" y="1050874"/>
            <a:ext cx="9" cy="1257309"/>
          </a:xfrm>
          <a:prstGeom prst="line">
            <a:avLst/>
          </a:prstGeom>
          <a:ln w="47625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Text 13"/>
          <p:cNvSpPr txBox="1"/>
          <p:nvPr/>
        </p:nvSpPr>
        <p:spPr>
          <a:xfrm>
            <a:off x="4854625" y="124137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始终在线</a:t>
            </a:r>
          </a:p>
        </p:txBody>
      </p:sp>
      <p:sp>
        <p:nvSpPr>
          <p:cNvPr id="492" name="Text 14"/>
          <p:cNvSpPr txBox="1"/>
          <p:nvPr/>
        </p:nvSpPr>
        <p:spPr>
          <a:xfrm>
            <a:off x="4854625" y="15271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Agent 独立运行，</a:t>
            </a:r>
            <a:r>
              <a:rPr b="1"/>
              <a:t>不受路由配置影响</a:t>
            </a:r>
          </a:p>
        </p:txBody>
      </p:sp>
      <p:sp>
        <p:nvSpPr>
          <p:cNvPr id="493" name="Text 15"/>
          <p:cNvSpPr txBox="1"/>
          <p:nvPr/>
        </p:nvSpPr>
        <p:spPr>
          <a:xfrm>
            <a:off x="4854625" y="17366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每个访客先经过 AI 收集线索再分流</a:t>
            </a:r>
          </a:p>
        </p:txBody>
      </p:sp>
      <p:sp>
        <p:nvSpPr>
          <p:cNvPr id="494" name="Text 16"/>
          <p:cNvSpPr txBox="1"/>
          <p:nvPr/>
        </p:nvSpPr>
        <p:spPr>
          <a:xfrm>
            <a:off x="4854625" y="19462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即使转人工，客户信息已完整记录</a:t>
            </a:r>
          </a:p>
        </p:txBody>
      </p:sp>
      <p:sp>
        <p:nvSpPr>
          <p:cNvPr id="495" name="Text 17"/>
          <p:cNvSpPr/>
          <p:nvPr/>
        </p:nvSpPr>
        <p:spPr>
          <a:xfrm>
            <a:off x="381000" y="2435125"/>
            <a:ext cx="3511897" cy="1120975"/>
          </a:xfrm>
          <a:prstGeom prst="roundRect">
            <a:avLst>
              <a:gd name="adj" fmla="val 6798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6" name="Shape 18"/>
          <p:cNvSpPr/>
          <p:nvPr/>
        </p:nvSpPr>
        <p:spPr>
          <a:xfrm flipH="1">
            <a:off x="404813" y="2435124"/>
            <a:ext cx="9" cy="1120976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" name="Text 19"/>
          <p:cNvSpPr txBox="1"/>
          <p:nvPr/>
        </p:nvSpPr>
        <p:spPr>
          <a:xfrm>
            <a:off x="606323" y="2625625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B：AI 过早退出</a:t>
            </a:r>
          </a:p>
        </p:txBody>
      </p:sp>
      <p:sp>
        <p:nvSpPr>
          <p:cNvPr id="498" name="Text 20"/>
          <p:cNvSpPr txBox="1"/>
          <p:nvPr/>
        </p:nvSpPr>
        <p:spPr>
          <a:xfrm>
            <a:off x="606323" y="291137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提问后等待超时过短就离开</a:t>
            </a:r>
          </a:p>
        </p:txBody>
      </p:sp>
      <p:sp>
        <p:nvSpPr>
          <p:cNvPr id="499" name="Text 21"/>
          <p:cNvSpPr txBox="1"/>
          <p:nvPr/>
        </p:nvSpPr>
        <p:spPr>
          <a:xfrm>
            <a:off x="606323" y="3120925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一次模板回复后即结束对话</a:t>
            </a:r>
          </a:p>
        </p:txBody>
      </p:sp>
      <p:sp>
        <p:nvSpPr>
          <p:cNvPr id="500" name="Text 22"/>
          <p:cNvSpPr txBox="1"/>
          <p:nvPr/>
        </p:nvSpPr>
        <p:spPr>
          <a:xfrm>
            <a:off x="4102298" y="2847974"/>
            <a:ext cx="32380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501" name="Text 23"/>
          <p:cNvSpPr/>
          <p:nvPr/>
        </p:nvSpPr>
        <p:spPr>
          <a:xfrm>
            <a:off x="4629298" y="2435125"/>
            <a:ext cx="4133702" cy="1120975"/>
          </a:xfrm>
          <a:prstGeom prst="roundRect">
            <a:avLst>
              <a:gd name="adj" fmla="val 6798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2" name="Shape 24"/>
          <p:cNvSpPr/>
          <p:nvPr/>
        </p:nvSpPr>
        <p:spPr>
          <a:xfrm>
            <a:off x="4653110" y="2435124"/>
            <a:ext cx="9" cy="1120976"/>
          </a:xfrm>
          <a:prstGeom prst="line">
            <a:avLst/>
          </a:prstGeom>
          <a:ln w="47625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" name="Text 25"/>
          <p:cNvSpPr txBox="1"/>
          <p:nvPr/>
        </p:nvSpPr>
        <p:spPr>
          <a:xfrm>
            <a:off x="4854625" y="2625625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合理等待机制</a:t>
            </a:r>
          </a:p>
        </p:txBody>
      </p:sp>
      <p:sp>
        <p:nvSpPr>
          <p:cNvPr id="504" name="Text 26"/>
          <p:cNvSpPr txBox="1"/>
          <p:nvPr/>
        </p:nvSpPr>
        <p:spPr>
          <a:xfrm>
            <a:off x="4854625" y="291137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不因客户未即时回复就退出</a:t>
            </a:r>
          </a:p>
        </p:txBody>
      </p:sp>
      <p:sp>
        <p:nvSpPr>
          <p:cNvPr id="505" name="Text 27"/>
          <p:cNvSpPr txBox="1"/>
          <p:nvPr/>
        </p:nvSpPr>
        <p:spPr>
          <a:xfrm>
            <a:off x="4854625" y="3120925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多轮对话持续跟进，直到客户满意或主动要求转人工</a:t>
            </a:r>
          </a:p>
        </p:txBody>
      </p:sp>
      <p:sp>
        <p:nvSpPr>
          <p:cNvPr id="506" name="Text 28"/>
          <p:cNvSpPr/>
          <p:nvPr/>
        </p:nvSpPr>
        <p:spPr>
          <a:xfrm>
            <a:off x="381000" y="3683048"/>
            <a:ext cx="3511897" cy="1257309"/>
          </a:xfrm>
          <a:prstGeom prst="roundRect">
            <a:avLst>
              <a:gd name="adj" fmla="val 606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7" name="Shape 29"/>
          <p:cNvSpPr/>
          <p:nvPr/>
        </p:nvSpPr>
        <p:spPr>
          <a:xfrm flipH="1">
            <a:off x="404813" y="3683048"/>
            <a:ext cx="9" cy="1257310"/>
          </a:xfrm>
          <a:prstGeom prst="line">
            <a:avLst/>
          </a:prstGeom>
          <a:ln w="47625">
            <a:solidFill>
              <a:srgbClr val="E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Text 30"/>
          <p:cNvSpPr txBox="1"/>
          <p:nvPr/>
        </p:nvSpPr>
        <p:spPr>
          <a:xfrm>
            <a:off x="606323" y="3873548"/>
            <a:ext cx="3171053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 C：知识盲区</a:t>
            </a:r>
          </a:p>
        </p:txBody>
      </p:sp>
      <p:sp>
        <p:nvSpPr>
          <p:cNvPr id="509" name="Text 31"/>
          <p:cNvSpPr txBox="1"/>
          <p:nvPr/>
        </p:nvSpPr>
        <p:spPr>
          <a:xfrm>
            <a:off x="606323" y="415929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对自家核心产品说"不知道"</a:t>
            </a:r>
          </a:p>
        </p:txBody>
      </p:sp>
      <p:sp>
        <p:nvSpPr>
          <p:cNvPr id="510" name="Text 32"/>
          <p:cNvSpPr txBox="1"/>
          <p:nvPr/>
        </p:nvSpPr>
        <p:spPr>
          <a:xfrm>
            <a:off x="606323" y="4368848"/>
            <a:ext cx="3171053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toll-free、VoIP、API 等基础问题无法回答</a:t>
            </a:r>
          </a:p>
        </p:txBody>
      </p:sp>
      <p:sp>
        <p:nvSpPr>
          <p:cNvPr id="511" name="Text 33"/>
          <p:cNvSpPr txBox="1"/>
          <p:nvPr/>
        </p:nvSpPr>
        <p:spPr>
          <a:xfrm>
            <a:off x="4102298" y="4164062"/>
            <a:ext cx="323808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--&gt;</a:t>
            </a:r>
          </a:p>
        </p:txBody>
      </p:sp>
      <p:sp>
        <p:nvSpPr>
          <p:cNvPr id="512" name="Text 34"/>
          <p:cNvSpPr/>
          <p:nvPr/>
        </p:nvSpPr>
        <p:spPr>
          <a:xfrm>
            <a:off x="4629298" y="3683048"/>
            <a:ext cx="4133702" cy="1257309"/>
          </a:xfrm>
          <a:prstGeom prst="roundRect">
            <a:avLst>
              <a:gd name="adj" fmla="val 6061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13" name="Shape 35"/>
          <p:cNvSpPr/>
          <p:nvPr/>
        </p:nvSpPr>
        <p:spPr>
          <a:xfrm>
            <a:off x="4653110" y="3683048"/>
            <a:ext cx="9" cy="1257310"/>
          </a:xfrm>
          <a:prstGeom prst="line">
            <a:avLst/>
          </a:prstGeom>
          <a:ln w="47625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Text 36"/>
          <p:cNvSpPr txBox="1"/>
          <p:nvPr/>
        </p:nvSpPr>
        <p:spPr>
          <a:xfrm>
            <a:off x="4854625" y="3873548"/>
            <a:ext cx="3805288" cy="21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600"/>
              </a:spcBef>
              <a:defRPr b="1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 知识库 + 反幻觉</a:t>
            </a:r>
          </a:p>
        </p:txBody>
      </p:sp>
      <p:sp>
        <p:nvSpPr>
          <p:cNvPr id="515" name="Text 37"/>
          <p:cNvSpPr txBox="1"/>
          <p:nvPr/>
        </p:nvSpPr>
        <p:spPr>
          <a:xfrm>
            <a:off x="4854625" y="41592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知识库覆盖全产品线（已验证 TC-B/C）</a:t>
            </a:r>
          </a:p>
        </p:txBody>
      </p:sp>
      <p:sp>
        <p:nvSpPr>
          <p:cNvPr id="516" name="Text 38"/>
          <p:cNvSpPr txBox="1"/>
          <p:nvPr/>
        </p:nvSpPr>
        <p:spPr>
          <a:xfrm>
            <a:off x="4854625" y="436884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查不到不编造，</a:t>
            </a:r>
            <a:r>
              <a:rPr b="1"/>
              <a:t>优雅引导转人工</a:t>
            </a:r>
          </a:p>
        </p:txBody>
      </p:sp>
      <p:sp>
        <p:nvSpPr>
          <p:cNvPr id="517" name="Text 39"/>
          <p:cNvSpPr txBox="1"/>
          <p:nvPr/>
        </p:nvSpPr>
        <p:spPr>
          <a:xfrm>
            <a:off x="4854625" y="4578398"/>
            <a:ext cx="3805288" cy="170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价格信息精准，不捏造不存在的数据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1" name="Rectangle 2"/>
          <p:cNvSpPr/>
          <p:nvPr/>
        </p:nvSpPr>
        <p:spPr>
          <a:xfrm>
            <a:off x="0" y="54864"/>
            <a:ext cx="5029200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2" name="Oval 3"/>
          <p:cNvSpPr/>
          <p:nvPr/>
        </p:nvSpPr>
        <p:spPr>
          <a:xfrm>
            <a:off x="5943600" y="-914401"/>
            <a:ext cx="4114800" cy="4114804"/>
          </a:xfrm>
          <a:prstGeom prst="ellipse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3" name="Oval 4"/>
          <p:cNvSpPr/>
          <p:nvPr/>
        </p:nvSpPr>
        <p:spPr>
          <a:xfrm>
            <a:off x="6857999" y="457197"/>
            <a:ext cx="2926087" cy="2926088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4" name="TextBox 5"/>
          <p:cNvSpPr txBox="1"/>
          <p:nvPr/>
        </p:nvSpPr>
        <p:spPr>
          <a:xfrm>
            <a:off x="777236" y="1097280"/>
            <a:ext cx="5394966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AI Bot v1.2</a:t>
            </a:r>
          </a:p>
        </p:txBody>
      </p:sp>
      <p:sp>
        <p:nvSpPr>
          <p:cNvPr id="525" name="TextBox 6"/>
          <p:cNvSpPr txBox="1"/>
          <p:nvPr/>
        </p:nvSpPr>
        <p:spPr>
          <a:xfrm>
            <a:off x="777236" y="1920238"/>
            <a:ext cx="5394966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术语能力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升级</a:t>
            </a:r>
          </a:p>
        </p:txBody>
      </p:sp>
      <p:sp>
        <p:nvSpPr>
          <p:cNvPr id="526" name="Rectangle 7"/>
          <p:cNvSpPr/>
          <p:nvPr/>
        </p:nvSpPr>
        <p:spPr>
          <a:xfrm>
            <a:off x="731519" y="2606038"/>
            <a:ext cx="2286001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27" name="TextBox 8"/>
          <p:cNvSpPr txBox="1"/>
          <p:nvPr/>
        </p:nvSpPr>
        <p:spPr>
          <a:xfrm>
            <a:off x="777236" y="2834638"/>
            <a:ext cx="5394966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术语表集成  </a:t>
            </a:r>
            <a:r>
              <a:rPr>
                <a:latin typeface="Arial"/>
                <a:ea typeface="Arial"/>
                <a:cs typeface="Arial"/>
                <a:sym typeface="Arial"/>
              </a:rPr>
              <a:t>×  Subagent </a:t>
            </a:r>
            <a:r>
              <a:t>协作  </a:t>
            </a:r>
            <a:r>
              <a:rPr>
                <a:latin typeface="Arial"/>
                <a:ea typeface="Arial"/>
                <a:cs typeface="Arial"/>
                <a:sym typeface="Arial"/>
              </a:rPr>
              <a:t>×  </a:t>
            </a:r>
            <a:r>
              <a:t>质量保障</a:t>
            </a:r>
          </a:p>
        </p:txBody>
      </p:sp>
      <p:sp>
        <p:nvSpPr>
          <p:cNvPr id="528" name="TextBox 9"/>
          <p:cNvSpPr txBox="1"/>
          <p:nvPr/>
        </p:nvSpPr>
        <p:spPr>
          <a:xfrm>
            <a:off x="777236" y="3474720"/>
            <a:ext cx="3566166" cy="27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2026-03-13</a:t>
            </a:r>
          </a:p>
        </p:txBody>
      </p:sp>
      <p:sp>
        <p:nvSpPr>
          <p:cNvPr id="529" name="TextBox 10"/>
          <p:cNvSpPr txBox="1"/>
          <p:nvPr/>
        </p:nvSpPr>
        <p:spPr>
          <a:xfrm>
            <a:off x="777236" y="3794759"/>
            <a:ext cx="3566166" cy="29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M800 / CINNOX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合作伙伴专属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2" name="TextBox 2"/>
          <p:cNvSpPr txBox="1"/>
          <p:nvPr/>
        </p:nvSpPr>
        <p:spPr>
          <a:xfrm>
            <a:off x="594360" y="182879"/>
            <a:ext cx="7223760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533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项目进度总览</a:t>
            </a:r>
          </a:p>
        </p:txBody>
      </p:sp>
      <p:sp>
        <p:nvSpPr>
          <p:cNvPr id="534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已解决的核心问题和当前状态</a:t>
            </a:r>
          </a:p>
        </p:txBody>
      </p:sp>
      <p:sp>
        <p:nvSpPr>
          <p:cNvPr id="535" name="Rectangle 5"/>
          <p:cNvSpPr/>
          <p:nvPr/>
        </p:nvSpPr>
        <p:spPr>
          <a:xfrm>
            <a:off x="365760" y="1234438"/>
            <a:ext cx="8046719" cy="3657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36" name="TextBox 6"/>
          <p:cNvSpPr txBox="1"/>
          <p:nvPr/>
        </p:nvSpPr>
        <p:spPr>
          <a:xfrm>
            <a:off x="548638" y="1280161"/>
            <a:ext cx="274324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状态</a:t>
            </a:r>
          </a:p>
        </p:txBody>
      </p:sp>
      <p:sp>
        <p:nvSpPr>
          <p:cNvPr id="537" name="TextBox 7"/>
          <p:cNvSpPr txBox="1"/>
          <p:nvPr/>
        </p:nvSpPr>
        <p:spPr>
          <a:xfrm>
            <a:off x="960118" y="1280161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问题</a:t>
            </a:r>
          </a:p>
        </p:txBody>
      </p:sp>
      <p:sp>
        <p:nvSpPr>
          <p:cNvPr id="538" name="TextBox 8"/>
          <p:cNvSpPr txBox="1"/>
          <p:nvPr/>
        </p:nvSpPr>
        <p:spPr>
          <a:xfrm>
            <a:off x="4069079" y="1280161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解决方案</a:t>
            </a:r>
          </a:p>
        </p:txBody>
      </p:sp>
      <p:sp>
        <p:nvSpPr>
          <p:cNvPr id="539" name="Rectangle 9"/>
          <p:cNvSpPr/>
          <p:nvPr/>
        </p:nvSpPr>
        <p:spPr>
          <a:xfrm>
            <a:off x="365760" y="1600199"/>
            <a:ext cx="8046719" cy="365765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0" name="TextBox 10"/>
          <p:cNvSpPr txBox="1"/>
          <p:nvPr/>
        </p:nvSpPr>
        <p:spPr>
          <a:xfrm>
            <a:off x="548638" y="1645921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✅</a:t>
            </a:r>
          </a:p>
        </p:txBody>
      </p:sp>
      <p:sp>
        <p:nvSpPr>
          <p:cNvPr id="541" name="TextBox 11"/>
          <p:cNvSpPr txBox="1"/>
          <p:nvPr/>
        </p:nvSpPr>
        <p:spPr>
          <a:xfrm>
            <a:off x="960118" y="1645921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知识库搜索不精准</a:t>
            </a:r>
          </a:p>
        </p:txBody>
      </p:sp>
      <p:sp>
        <p:nvSpPr>
          <p:cNvPr id="542" name="TextBox 12"/>
          <p:cNvSpPr txBox="1"/>
          <p:nvPr/>
        </p:nvSpPr>
        <p:spPr>
          <a:xfrm>
            <a:off x="4069079" y="1645921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分域切片 </a:t>
            </a:r>
            <a:r>
              <a:t>—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按产品线和地区索引</a:t>
            </a:r>
          </a:p>
        </p:txBody>
      </p:sp>
      <p:sp>
        <p:nvSpPr>
          <p:cNvPr id="543" name="TextBox 13"/>
          <p:cNvSpPr txBox="1"/>
          <p:nvPr/>
        </p:nvSpPr>
        <p:spPr>
          <a:xfrm>
            <a:off x="548638" y="2011677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✅</a:t>
            </a:r>
          </a:p>
        </p:txBody>
      </p:sp>
      <p:sp>
        <p:nvSpPr>
          <p:cNvPr id="544" name="TextBox 14"/>
          <p:cNvSpPr txBox="1"/>
          <p:nvPr/>
        </p:nvSpPr>
        <p:spPr>
          <a:xfrm>
            <a:off x="960118" y="2011677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PDF/Excel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表格被拆散</a:t>
            </a:r>
          </a:p>
        </p:txBody>
      </p:sp>
      <p:sp>
        <p:nvSpPr>
          <p:cNvPr id="545" name="TextBox 15"/>
          <p:cNvSpPr txBox="1"/>
          <p:nvPr/>
        </p:nvSpPr>
        <p:spPr>
          <a:xfrm>
            <a:off x="4069079" y="2011677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语义分段 </a:t>
            </a:r>
            <a:r>
              <a:rPr>
                <a:latin typeface="Arial"/>
                <a:ea typeface="Arial"/>
                <a:cs typeface="Arial"/>
                <a:sym typeface="Arial"/>
              </a:rPr>
              <a:t>+ </a:t>
            </a:r>
            <a:r>
              <a:t>表格结构保持</a:t>
            </a:r>
          </a:p>
        </p:txBody>
      </p:sp>
      <p:sp>
        <p:nvSpPr>
          <p:cNvPr id="546" name="Rectangle 16"/>
          <p:cNvSpPr/>
          <p:nvPr/>
        </p:nvSpPr>
        <p:spPr>
          <a:xfrm>
            <a:off x="365760" y="2331720"/>
            <a:ext cx="8046719" cy="36576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47" name="TextBox 17"/>
          <p:cNvSpPr txBox="1"/>
          <p:nvPr/>
        </p:nvSpPr>
        <p:spPr>
          <a:xfrm>
            <a:off x="548638" y="2377438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✅</a:t>
            </a:r>
          </a:p>
        </p:txBody>
      </p:sp>
      <p:sp>
        <p:nvSpPr>
          <p:cNvPr id="548" name="TextBox 18"/>
          <p:cNvSpPr txBox="1"/>
          <p:nvPr/>
        </p:nvSpPr>
        <p:spPr>
          <a:xfrm>
            <a:off x="960118" y="2377438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转人工不等客户确认</a:t>
            </a:r>
          </a:p>
        </p:txBody>
      </p:sp>
      <p:sp>
        <p:nvSpPr>
          <p:cNvPr id="549" name="TextBox 19"/>
          <p:cNvSpPr txBox="1"/>
          <p:nvPr/>
        </p:nvSpPr>
        <p:spPr>
          <a:xfrm>
            <a:off x="4069079" y="2377438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两步 </a:t>
            </a:r>
            <a:r>
              <a:rPr>
                <a:latin typeface="Arial"/>
                <a:ea typeface="Arial"/>
                <a:cs typeface="Arial"/>
                <a:sym typeface="Arial"/>
              </a:rPr>
              <a:t>escalation + </a:t>
            </a:r>
            <a:r>
              <a:t>代码级句子过滤</a:t>
            </a:r>
          </a:p>
        </p:txBody>
      </p:sp>
      <p:sp>
        <p:nvSpPr>
          <p:cNvPr id="550" name="TextBox 20"/>
          <p:cNvSpPr txBox="1"/>
          <p:nvPr/>
        </p:nvSpPr>
        <p:spPr>
          <a:xfrm>
            <a:off x="548638" y="2743199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⚠️</a:t>
            </a:r>
          </a:p>
        </p:txBody>
      </p:sp>
      <p:sp>
        <p:nvSpPr>
          <p:cNvPr id="551" name="TextBox 21"/>
          <p:cNvSpPr txBox="1"/>
          <p:nvPr/>
        </p:nvSpPr>
        <p:spPr>
          <a:xfrm>
            <a:off x="960118" y="2743199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</a:defRPr>
            </a:pPr>
            <a:r>
              <a:t>单 </a:t>
            </a:r>
            <a:r>
              <a:rPr>
                <a:latin typeface="Arial"/>
                <a:ea typeface="Arial"/>
                <a:cs typeface="Arial"/>
                <a:sym typeface="Arial"/>
              </a:rPr>
              <a:t>agent </a:t>
            </a:r>
            <a:r>
              <a:t>能力瓶颈</a:t>
            </a:r>
          </a:p>
        </p:txBody>
      </p:sp>
      <p:sp>
        <p:nvSpPr>
          <p:cNvPr id="552" name="TextBox 22"/>
          <p:cNvSpPr txBox="1"/>
          <p:nvPr/>
        </p:nvSpPr>
        <p:spPr>
          <a:xfrm>
            <a:off x="4069079" y="2743199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个专职 </a:t>
            </a:r>
            <a:r>
              <a:t>subagent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动态协作</a:t>
            </a:r>
          </a:p>
        </p:txBody>
      </p:sp>
      <p:sp>
        <p:nvSpPr>
          <p:cNvPr id="553" name="Rectangle 23"/>
          <p:cNvSpPr/>
          <p:nvPr/>
        </p:nvSpPr>
        <p:spPr>
          <a:xfrm>
            <a:off x="365760" y="3063238"/>
            <a:ext cx="8046719" cy="36576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4" name="TextBox 24"/>
          <p:cNvSpPr txBox="1"/>
          <p:nvPr/>
        </p:nvSpPr>
        <p:spPr>
          <a:xfrm>
            <a:off x="548638" y="3108960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⚠️</a:t>
            </a:r>
          </a:p>
        </p:txBody>
      </p:sp>
      <p:sp>
        <p:nvSpPr>
          <p:cNvPr id="555" name="TextBox 25"/>
          <p:cNvSpPr txBox="1"/>
          <p:nvPr/>
        </p:nvSpPr>
        <p:spPr>
          <a:xfrm>
            <a:off x="960118" y="3108961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</a:defRPr>
            </a:pPr>
            <a:r>
              <a:t>口语词搜不到 </a:t>
            </a:r>
            <a:r>
              <a:rPr>
                <a:latin typeface="Arial"/>
                <a:ea typeface="Arial"/>
                <a:cs typeface="Arial"/>
                <a:sym typeface="Arial"/>
              </a:rPr>
              <a:t>KB </a:t>
            </a:r>
            <a:r>
              <a:t>内容</a:t>
            </a:r>
          </a:p>
        </p:txBody>
      </p:sp>
      <p:sp>
        <p:nvSpPr>
          <p:cNvPr id="556" name="TextBox 26"/>
          <p:cNvSpPr txBox="1"/>
          <p:nvPr/>
        </p:nvSpPr>
        <p:spPr>
          <a:xfrm>
            <a:off x="4069079" y="3108961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Glossary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术语表集成（详见后页）</a:t>
            </a:r>
          </a:p>
        </p:txBody>
      </p:sp>
      <p:sp>
        <p:nvSpPr>
          <p:cNvPr id="557" name="TextBox 27"/>
          <p:cNvSpPr txBox="1"/>
          <p:nvPr/>
        </p:nvSpPr>
        <p:spPr>
          <a:xfrm>
            <a:off x="548638" y="3474720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⚠️</a:t>
            </a:r>
          </a:p>
        </p:txBody>
      </p:sp>
      <p:sp>
        <p:nvSpPr>
          <p:cNvPr id="558" name="TextBox 28"/>
          <p:cNvSpPr txBox="1"/>
          <p:nvPr/>
        </p:nvSpPr>
        <p:spPr>
          <a:xfrm>
            <a:off x="960118" y="3474720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术语定义走完整搜索流程</a:t>
            </a:r>
          </a:p>
        </p:txBody>
      </p:sp>
      <p:sp>
        <p:nvSpPr>
          <p:cNvPr id="559" name="TextBox 29"/>
          <p:cNvSpPr txBox="1"/>
          <p:nvPr/>
        </p:nvSpPr>
        <p:spPr>
          <a:xfrm>
            <a:off x="4069079" y="3474720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术语快速通道，跳过搜索，</a:t>
            </a:r>
            <a:r>
              <a:rPr>
                <a:latin typeface="Arial"/>
                <a:ea typeface="Arial"/>
                <a:cs typeface="Arial"/>
                <a:sym typeface="Arial"/>
              </a:rPr>
              <a:t>100% </a:t>
            </a:r>
            <a:r>
              <a:t>准确</a:t>
            </a:r>
          </a:p>
        </p:txBody>
      </p:sp>
      <p:sp>
        <p:nvSpPr>
          <p:cNvPr id="560" name="Rectangle 30"/>
          <p:cNvSpPr/>
          <p:nvPr/>
        </p:nvSpPr>
        <p:spPr>
          <a:xfrm>
            <a:off x="365760" y="3794759"/>
            <a:ext cx="8046719" cy="36576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1" name="TextBox 31"/>
          <p:cNvSpPr txBox="1"/>
          <p:nvPr/>
        </p:nvSpPr>
        <p:spPr>
          <a:xfrm>
            <a:off x="548638" y="3840479"/>
            <a:ext cx="274324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🔲</a:t>
            </a:r>
          </a:p>
        </p:txBody>
      </p:sp>
      <p:sp>
        <p:nvSpPr>
          <p:cNvPr id="562" name="TextBox 32"/>
          <p:cNvSpPr txBox="1"/>
          <p:nvPr/>
        </p:nvSpPr>
        <p:spPr>
          <a:xfrm>
            <a:off x="960118" y="3840479"/>
            <a:ext cx="292608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回复中术语不统一</a:t>
            </a:r>
          </a:p>
        </p:txBody>
      </p:sp>
      <p:sp>
        <p:nvSpPr>
          <p:cNvPr id="563" name="TextBox 33"/>
          <p:cNvSpPr txBox="1"/>
          <p:nvPr/>
        </p:nvSpPr>
        <p:spPr>
          <a:xfrm>
            <a:off x="4069079" y="3840479"/>
            <a:ext cx="42976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Copywriting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术语纠正（待实施）</a:t>
            </a:r>
          </a:p>
        </p:txBody>
      </p:sp>
      <p:sp>
        <p:nvSpPr>
          <p:cNvPr id="564" name="TextBox 34"/>
          <p:cNvSpPr txBox="1"/>
          <p:nvPr/>
        </p:nvSpPr>
        <p:spPr>
          <a:xfrm>
            <a:off x="594360" y="4297679"/>
            <a:ext cx="7223760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✅ 已测试通过    ⚠️ 已实现待验证    🔲 待实施</a:t>
            </a:r>
          </a:p>
        </p:txBody>
      </p:sp>
      <p:sp>
        <p:nvSpPr>
          <p:cNvPr id="565" name="TextBox 35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8" name="TextBox 2"/>
          <p:cNvSpPr txBox="1"/>
          <p:nvPr/>
        </p:nvSpPr>
        <p:spPr>
          <a:xfrm>
            <a:off x="594360" y="182879"/>
            <a:ext cx="7223760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核心问题：术语不匹配</a:t>
            </a:r>
          </a:p>
        </p:txBody>
      </p:sp>
      <p:sp>
        <p:nvSpPr>
          <p:cNvPr id="570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客户用口语词提问，知识库用官方术语，</a:t>
            </a:r>
            <a:r>
              <a:rPr>
                <a:latin typeface="Arial"/>
                <a:ea typeface="Arial"/>
                <a:cs typeface="Arial"/>
                <a:sym typeface="Arial"/>
              </a:rPr>
              <a:t>BM25 </a:t>
            </a:r>
            <a:r>
              <a:t>全文搜索因此失败</a:t>
            </a:r>
          </a:p>
        </p:txBody>
      </p:sp>
      <p:sp>
        <p:nvSpPr>
          <p:cNvPr id="571" name="Rectangle 5"/>
          <p:cNvSpPr/>
          <p:nvPr/>
        </p:nvSpPr>
        <p:spPr>
          <a:xfrm>
            <a:off x="365760" y="1234438"/>
            <a:ext cx="8046719" cy="301756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72" name="TextBox 6"/>
          <p:cNvSpPr txBox="1"/>
          <p:nvPr/>
        </p:nvSpPr>
        <p:spPr>
          <a:xfrm>
            <a:off x="548638" y="1261872"/>
            <a:ext cx="2194563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客户说的</a:t>
            </a:r>
          </a:p>
        </p:txBody>
      </p:sp>
      <p:sp>
        <p:nvSpPr>
          <p:cNvPr id="573" name="TextBox 7"/>
          <p:cNvSpPr txBox="1"/>
          <p:nvPr/>
        </p:nvSpPr>
        <p:spPr>
          <a:xfrm>
            <a:off x="2971798" y="1261872"/>
            <a:ext cx="283464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CINNOX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官方术语</a:t>
            </a:r>
          </a:p>
        </p:txBody>
      </p:sp>
      <p:sp>
        <p:nvSpPr>
          <p:cNvPr id="574" name="TextBox 8"/>
          <p:cNvSpPr txBox="1"/>
          <p:nvPr/>
        </p:nvSpPr>
        <p:spPr>
          <a:xfrm>
            <a:off x="6263640" y="1261872"/>
            <a:ext cx="12801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能匹配</a:t>
            </a:r>
            <a:r>
              <a:rPr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575" name="Rectangle 9"/>
          <p:cNvSpPr/>
          <p:nvPr/>
        </p:nvSpPr>
        <p:spPr>
          <a:xfrm>
            <a:off x="365760" y="1536191"/>
            <a:ext cx="8046719" cy="30175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76" name="TextBox 10"/>
          <p:cNvSpPr txBox="1"/>
          <p:nvPr/>
        </p:nvSpPr>
        <p:spPr>
          <a:xfrm>
            <a:off x="548638" y="1554480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"group call"</a:t>
            </a:r>
          </a:p>
        </p:txBody>
      </p:sp>
      <p:sp>
        <p:nvSpPr>
          <p:cNvPr id="577" name="TextBox 11"/>
          <p:cNvSpPr txBox="1"/>
          <p:nvPr/>
        </p:nvSpPr>
        <p:spPr>
          <a:xfrm>
            <a:off x="2971798" y="1554480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Broadcast Call Enquiry</a:t>
            </a:r>
          </a:p>
        </p:txBody>
      </p:sp>
      <p:sp>
        <p:nvSpPr>
          <p:cNvPr id="578" name="TextBox 12"/>
          <p:cNvSpPr txBox="1"/>
          <p:nvPr/>
        </p:nvSpPr>
        <p:spPr>
          <a:xfrm>
            <a:off x="6263640" y="1554480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59E0B"/>
                </a:solidFill>
              </a:defRPr>
            </a:lvl1pPr>
          </a:lstStyle>
          <a:p>
            <a:pPr/>
            <a:r>
              <a:t>❌ 完全不同</a:t>
            </a:r>
          </a:p>
        </p:txBody>
      </p:sp>
      <p:sp>
        <p:nvSpPr>
          <p:cNvPr id="579" name="TextBox 13"/>
          <p:cNvSpPr txBox="1"/>
          <p:nvPr/>
        </p:nvSpPr>
        <p:spPr>
          <a:xfrm>
            <a:off x="548638" y="1856233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"AI chatbot"</a:t>
            </a:r>
          </a:p>
        </p:txBody>
      </p:sp>
      <p:sp>
        <p:nvSpPr>
          <p:cNvPr id="580" name="TextBox 14"/>
          <p:cNvSpPr txBox="1"/>
          <p:nvPr/>
        </p:nvSpPr>
        <p:spPr>
          <a:xfrm>
            <a:off x="2971798" y="1856233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Bot / Claire.AI</a:t>
            </a:r>
          </a:p>
        </p:txBody>
      </p:sp>
      <p:sp>
        <p:nvSpPr>
          <p:cNvPr id="581" name="TextBox 15"/>
          <p:cNvSpPr txBox="1"/>
          <p:nvPr/>
        </p:nvSpPr>
        <p:spPr>
          <a:xfrm>
            <a:off x="6263640" y="1856233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59E0B"/>
                </a:solidFill>
              </a:defRPr>
            </a:lvl1pPr>
          </a:lstStyle>
          <a:p>
            <a:pPr/>
            <a:r>
              <a:t>❌ 不同名称</a:t>
            </a:r>
          </a:p>
        </p:txBody>
      </p:sp>
      <p:sp>
        <p:nvSpPr>
          <p:cNvPr id="582" name="Rectangle 16"/>
          <p:cNvSpPr/>
          <p:nvPr/>
        </p:nvSpPr>
        <p:spPr>
          <a:xfrm>
            <a:off x="365760" y="2139694"/>
            <a:ext cx="8046719" cy="30175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83" name="TextBox 17"/>
          <p:cNvSpPr txBox="1"/>
          <p:nvPr/>
        </p:nvSpPr>
        <p:spPr>
          <a:xfrm>
            <a:off x="548638" y="2157983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"CRM integration"</a:t>
            </a:r>
          </a:p>
        </p:txBody>
      </p:sp>
      <p:sp>
        <p:nvSpPr>
          <p:cNvPr id="584" name="TextBox 18"/>
          <p:cNvSpPr txBox="1"/>
          <p:nvPr/>
        </p:nvSpPr>
        <p:spPr>
          <a:xfrm>
            <a:off x="2971798" y="2157983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Zapier / Zaps</a:t>
            </a:r>
          </a:p>
        </p:txBody>
      </p:sp>
      <p:sp>
        <p:nvSpPr>
          <p:cNvPr id="585" name="TextBox 19"/>
          <p:cNvSpPr txBox="1"/>
          <p:nvPr/>
        </p:nvSpPr>
        <p:spPr>
          <a:xfrm>
            <a:off x="6263640" y="2157983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59E0B"/>
                </a:solidFill>
              </a:defRPr>
            </a:lvl1pPr>
          </a:lstStyle>
          <a:p>
            <a:pPr/>
            <a:r>
              <a:t>❌ 完全不同</a:t>
            </a:r>
          </a:p>
        </p:txBody>
      </p:sp>
      <p:sp>
        <p:nvSpPr>
          <p:cNvPr id="586" name="TextBox 20"/>
          <p:cNvSpPr txBox="1"/>
          <p:nvPr/>
        </p:nvSpPr>
        <p:spPr>
          <a:xfrm>
            <a:off x="548638" y="2459733"/>
            <a:ext cx="2194563" cy="226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"ticket system"</a:t>
            </a:r>
          </a:p>
        </p:txBody>
      </p:sp>
      <p:sp>
        <p:nvSpPr>
          <p:cNvPr id="587" name="TextBox 21"/>
          <p:cNvSpPr txBox="1"/>
          <p:nvPr/>
        </p:nvSpPr>
        <p:spPr>
          <a:xfrm>
            <a:off x="2971798" y="2459733"/>
            <a:ext cx="2834645" cy="226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Enquiry Centre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6263640" y="2459733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59E0B"/>
                </a:solidFill>
              </a:defRPr>
            </a:lvl1pPr>
          </a:lstStyle>
          <a:p>
            <a:pPr/>
            <a:r>
              <a:t>❌ 完全不同</a:t>
            </a:r>
          </a:p>
        </p:txBody>
      </p:sp>
      <p:sp>
        <p:nvSpPr>
          <p:cNvPr id="589" name="Rectangle 23"/>
          <p:cNvSpPr/>
          <p:nvPr/>
        </p:nvSpPr>
        <p:spPr>
          <a:xfrm>
            <a:off x="365760" y="2743199"/>
            <a:ext cx="8046719" cy="301757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0" name="TextBox 24"/>
          <p:cNvSpPr txBox="1"/>
          <p:nvPr/>
        </p:nvSpPr>
        <p:spPr>
          <a:xfrm>
            <a:off x="548638" y="2761488"/>
            <a:ext cx="2194563" cy="226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"smart routing"</a:t>
            </a:r>
          </a:p>
        </p:txBody>
      </p:sp>
      <p:sp>
        <p:nvSpPr>
          <p:cNvPr id="591" name="TextBox 25"/>
          <p:cNvSpPr txBox="1"/>
          <p:nvPr/>
        </p:nvSpPr>
        <p:spPr>
          <a:xfrm>
            <a:off x="2971798" y="2761488"/>
            <a:ext cx="2834645" cy="226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Automatic Enquiry Distribution</a:t>
            </a:r>
          </a:p>
        </p:txBody>
      </p:sp>
      <p:sp>
        <p:nvSpPr>
          <p:cNvPr id="592" name="TextBox 26"/>
          <p:cNvSpPr txBox="1"/>
          <p:nvPr/>
        </p:nvSpPr>
        <p:spPr>
          <a:xfrm>
            <a:off x="6263640" y="2761488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59E0B"/>
                </a:solidFill>
              </a:defRPr>
            </a:lvl1pPr>
          </a:lstStyle>
          <a:p>
            <a:pPr/>
            <a:r>
              <a:t>❌ 不同概念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548638" y="3063238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"free number"</a:t>
            </a:r>
          </a:p>
        </p:txBody>
      </p:sp>
      <p:sp>
        <p:nvSpPr>
          <p:cNvPr id="594" name="TextBox 28"/>
          <p:cNvSpPr txBox="1"/>
          <p:nvPr/>
        </p:nvSpPr>
        <p:spPr>
          <a:xfrm>
            <a:off x="2971798" y="3063238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Toll-free Number</a:t>
            </a:r>
          </a:p>
        </p:txBody>
      </p:sp>
      <p:sp>
        <p:nvSpPr>
          <p:cNvPr id="595" name="TextBox 29"/>
          <p:cNvSpPr txBox="1"/>
          <p:nvPr/>
        </p:nvSpPr>
        <p:spPr>
          <a:xfrm>
            <a:off x="6263640" y="3063238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BBF24"/>
                </a:solidFill>
              </a:defRPr>
            </a:lvl1pPr>
          </a:lstStyle>
          <a:p>
            <a:pPr/>
            <a:r>
              <a:t>⚠️ 模糊</a:t>
            </a:r>
          </a:p>
        </p:txBody>
      </p:sp>
      <p:sp>
        <p:nvSpPr>
          <p:cNvPr id="596" name="Rectangle 30"/>
          <p:cNvSpPr/>
          <p:nvPr/>
        </p:nvSpPr>
        <p:spPr>
          <a:xfrm>
            <a:off x="365760" y="3346703"/>
            <a:ext cx="8046719" cy="30175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97" name="TextBox 31"/>
          <p:cNvSpPr txBox="1"/>
          <p:nvPr/>
        </p:nvSpPr>
        <p:spPr>
          <a:xfrm>
            <a:off x="548638" y="3364991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"auto reply"</a:t>
            </a:r>
          </a:p>
        </p:txBody>
      </p:sp>
      <p:sp>
        <p:nvSpPr>
          <p:cNvPr id="598" name="TextBox 32"/>
          <p:cNvSpPr txBox="1"/>
          <p:nvPr/>
        </p:nvSpPr>
        <p:spPr>
          <a:xfrm>
            <a:off x="2971798" y="3364991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Auto-reply messages</a:t>
            </a:r>
          </a:p>
        </p:txBody>
      </p:sp>
      <p:sp>
        <p:nvSpPr>
          <p:cNvPr id="599" name="TextBox 33"/>
          <p:cNvSpPr txBox="1"/>
          <p:nvPr/>
        </p:nvSpPr>
        <p:spPr>
          <a:xfrm>
            <a:off x="6263640" y="3364991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BBF24"/>
                </a:solidFill>
              </a:defRPr>
            </a:lvl1pPr>
          </a:lstStyle>
          <a:p>
            <a:pPr/>
            <a:r>
              <a:t>⚠️ 部分匹配</a:t>
            </a:r>
          </a:p>
        </p:txBody>
      </p:sp>
      <p:sp>
        <p:nvSpPr>
          <p:cNvPr id="600" name="TextBox 34"/>
          <p:cNvSpPr txBox="1"/>
          <p:nvPr/>
        </p:nvSpPr>
        <p:spPr>
          <a:xfrm>
            <a:off x="548638" y="3666745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"forward a call"</a:t>
            </a:r>
          </a:p>
        </p:txBody>
      </p:sp>
      <p:sp>
        <p:nvSpPr>
          <p:cNvPr id="601" name="TextBox 35"/>
          <p:cNvSpPr txBox="1"/>
          <p:nvPr/>
        </p:nvSpPr>
        <p:spPr>
          <a:xfrm>
            <a:off x="2971798" y="3666745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Call Transfer / Forwarding</a:t>
            </a:r>
          </a:p>
        </p:txBody>
      </p:sp>
      <p:sp>
        <p:nvSpPr>
          <p:cNvPr id="602" name="TextBox 36"/>
          <p:cNvSpPr txBox="1"/>
          <p:nvPr/>
        </p:nvSpPr>
        <p:spPr>
          <a:xfrm>
            <a:off x="6263640" y="3666745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BBF24"/>
                </a:solidFill>
              </a:defRPr>
            </a:lvl1pPr>
          </a:lstStyle>
          <a:p>
            <a:pPr/>
            <a:r>
              <a:t>⚠️ 部分匹配</a:t>
            </a:r>
          </a:p>
        </p:txBody>
      </p:sp>
      <p:sp>
        <p:nvSpPr>
          <p:cNvPr id="603" name="Rectangle 37"/>
          <p:cNvSpPr/>
          <p:nvPr/>
        </p:nvSpPr>
        <p:spPr>
          <a:xfrm>
            <a:off x="365760" y="3950208"/>
            <a:ext cx="8046719" cy="30175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04" name="TextBox 38"/>
          <p:cNvSpPr txBox="1"/>
          <p:nvPr/>
        </p:nvSpPr>
        <p:spPr>
          <a:xfrm>
            <a:off x="548638" y="3968496"/>
            <a:ext cx="2194563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"noise cancel"</a:t>
            </a:r>
          </a:p>
        </p:txBody>
      </p:sp>
      <p:sp>
        <p:nvSpPr>
          <p:cNvPr id="605" name="TextBox 39"/>
          <p:cNvSpPr txBox="1"/>
          <p:nvPr/>
        </p:nvSpPr>
        <p:spPr>
          <a:xfrm>
            <a:off x="2971798" y="3968496"/>
            <a:ext cx="2834645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Noise Reduction</a:t>
            </a:r>
          </a:p>
        </p:txBody>
      </p:sp>
      <p:sp>
        <p:nvSpPr>
          <p:cNvPr id="606" name="TextBox 40"/>
          <p:cNvSpPr txBox="1"/>
          <p:nvPr/>
        </p:nvSpPr>
        <p:spPr>
          <a:xfrm>
            <a:off x="6263640" y="3968496"/>
            <a:ext cx="128016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900">
                <a:solidFill>
                  <a:srgbClr val="FBBF24"/>
                </a:solidFill>
              </a:defRPr>
            </a:lvl1pPr>
          </a:lstStyle>
          <a:p>
            <a:pPr/>
            <a:r>
              <a:t>⚠️ 部分匹配</a:t>
            </a:r>
          </a:p>
        </p:txBody>
      </p:sp>
      <p:grpSp>
        <p:nvGrpSpPr>
          <p:cNvPr id="609" name="Rounded Rectangle 41"/>
          <p:cNvGrpSpPr/>
          <p:nvPr/>
        </p:nvGrpSpPr>
        <p:grpSpPr>
          <a:xfrm>
            <a:off x="365758" y="4389120"/>
            <a:ext cx="8046727" cy="365767"/>
            <a:chOff x="0" y="0"/>
            <a:chExt cx="8046725" cy="365765"/>
          </a:xfrm>
        </p:grpSpPr>
        <p:sp>
          <p:nvSpPr>
            <p:cNvPr id="607" name="圆角矩形"/>
            <p:cNvSpPr/>
            <p:nvPr/>
          </p:nvSpPr>
          <p:spPr>
            <a:xfrm>
              <a:off x="-1" y="0"/>
              <a:ext cx="8046727" cy="365767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0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08" name="13 个案例中，5 个完全无法匹配，4 个仅部分匹配 — 超过 2/3 的口语词无法正确检索"/>
            <p:cNvSpPr txBox="1"/>
            <p:nvPr/>
          </p:nvSpPr>
          <p:spPr>
            <a:xfrm>
              <a:off x="63572" y="48260"/>
              <a:ext cx="7919579" cy="269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0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13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个案例中，</a:t>
              </a:r>
              <a:r>
                <a:t>5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个完全无法匹配，</a:t>
              </a:r>
              <a:r>
                <a:t>4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个仅部分匹配 </a:t>
              </a:r>
              <a:r>
                <a:t>—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超过 </a:t>
              </a:r>
              <a:r>
                <a:t>2/3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的口语词无法正确检索</a:t>
              </a:r>
            </a:p>
          </p:txBody>
        </p:sp>
      </p:grpSp>
      <p:sp>
        <p:nvSpPr>
          <p:cNvPr id="610" name="TextBox 42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3" name="TextBox 2"/>
          <p:cNvSpPr txBox="1"/>
          <p:nvPr/>
        </p:nvSpPr>
        <p:spPr>
          <a:xfrm>
            <a:off x="594360" y="182879"/>
            <a:ext cx="7223760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SOLUTION</a:t>
            </a:r>
          </a:p>
        </p:txBody>
      </p:sp>
      <p:sp>
        <p:nvSpPr>
          <p:cNvPr id="614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解决方案：</a:t>
            </a:r>
            <a:r>
              <a:rPr>
                <a:latin typeface="Arial"/>
                <a:ea typeface="Arial"/>
                <a:cs typeface="Arial"/>
                <a:sym typeface="Arial"/>
              </a:rPr>
              <a:t>Glossary </a:t>
            </a:r>
            <a:r>
              <a:t>术语表集成</a:t>
            </a:r>
          </a:p>
        </p:txBody>
      </p:sp>
      <p:sp>
        <p:nvSpPr>
          <p:cNvPr id="615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提供的 </a:t>
            </a:r>
            <a:r>
              <a:t>355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条术语表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自动处理 </a:t>
            </a:r>
            <a:r>
              <a:t>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查询扩展 </a:t>
            </a:r>
            <a:r>
              <a:t>+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术语快速通道</a:t>
            </a:r>
          </a:p>
        </p:txBody>
      </p:sp>
      <p:grpSp>
        <p:nvGrpSpPr>
          <p:cNvPr id="618" name="Rounded Rectangle 5"/>
          <p:cNvGrpSpPr/>
          <p:nvPr/>
        </p:nvGrpSpPr>
        <p:grpSpPr>
          <a:xfrm>
            <a:off x="274320" y="1188719"/>
            <a:ext cx="2286003" cy="865326"/>
            <a:chOff x="0" y="0"/>
            <a:chExt cx="2286002" cy="865325"/>
          </a:xfrm>
        </p:grpSpPr>
        <p:sp>
          <p:nvSpPr>
            <p:cNvPr id="616" name="圆角矩形"/>
            <p:cNvSpPr/>
            <p:nvPr/>
          </p:nvSpPr>
          <p:spPr>
            <a:xfrm>
              <a:off x="0" y="0"/>
              <a:ext cx="2286003" cy="865326"/>
            </a:xfrm>
            <a:prstGeom prst="roundRect">
              <a:avLst>
                <a:gd name="adj" fmla="val 16667"/>
              </a:avLst>
            </a:prstGeom>
            <a:solidFill>
              <a:srgbClr val="131C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7" name="CINNOX Glossary…"/>
            <p:cNvSpPr txBox="1"/>
            <p:nvPr/>
          </p:nvSpPr>
          <p:spPr>
            <a:xfrm>
              <a:off x="87961" y="240889"/>
              <a:ext cx="2110081" cy="383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CINNOX Glossary</a:t>
              </a:r>
            </a:p>
            <a:p>
              <a:pPr algn="ctr">
                <a:defRPr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355 </a:t>
              </a:r>
              <a:r>
                <a:rPr>
                  <a:latin typeface="+mj-lt"/>
                  <a:ea typeface="+mj-ea"/>
                  <a:cs typeface="+mj-cs"/>
                  <a:sym typeface="Helvetica"/>
                </a:rPr>
                <a:t>条术语 </a:t>
              </a:r>
              <a:r>
                <a:t>CSV</a:t>
              </a:r>
            </a:p>
          </p:txBody>
        </p:sp>
      </p:grpSp>
      <p:grpSp>
        <p:nvGrpSpPr>
          <p:cNvPr id="621" name="Rounded Rectangle 6"/>
          <p:cNvGrpSpPr/>
          <p:nvPr/>
        </p:nvGrpSpPr>
        <p:grpSpPr>
          <a:xfrm>
            <a:off x="2971800" y="1188719"/>
            <a:ext cx="2286000" cy="865326"/>
            <a:chOff x="0" y="0"/>
            <a:chExt cx="2286000" cy="865325"/>
          </a:xfrm>
        </p:grpSpPr>
        <p:sp>
          <p:nvSpPr>
            <p:cNvPr id="619" name="圆角矩形"/>
            <p:cNvSpPr/>
            <p:nvPr/>
          </p:nvSpPr>
          <p:spPr>
            <a:xfrm>
              <a:off x="0" y="0"/>
              <a:ext cx="2286000" cy="865326"/>
            </a:xfrm>
            <a:prstGeom prst="roundRect">
              <a:avLst>
                <a:gd name="adj" fmla="val 16667"/>
              </a:avLst>
            </a:prstGeom>
            <a:solidFill>
              <a:srgbClr val="131C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0" name="build_glossary.py…"/>
            <p:cNvSpPr txBox="1"/>
            <p:nvPr/>
          </p:nvSpPr>
          <p:spPr>
            <a:xfrm>
              <a:off x="87961" y="261809"/>
              <a:ext cx="2110078" cy="341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build_glossary.py</a:t>
              </a:r>
            </a:p>
            <a:p>
              <a:pPr algn="ctr">
                <a:defRPr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glossary.json + synonym-map.json</a:t>
              </a:r>
            </a:p>
          </p:txBody>
        </p:sp>
      </p:grpSp>
      <p:grpSp>
        <p:nvGrpSpPr>
          <p:cNvPr id="624" name="Rounded Rectangle 7"/>
          <p:cNvGrpSpPr/>
          <p:nvPr/>
        </p:nvGrpSpPr>
        <p:grpSpPr>
          <a:xfrm>
            <a:off x="5669279" y="1188719"/>
            <a:ext cx="2286006" cy="865326"/>
            <a:chOff x="0" y="0"/>
            <a:chExt cx="2286005" cy="865325"/>
          </a:xfrm>
        </p:grpSpPr>
        <p:sp>
          <p:nvSpPr>
            <p:cNvPr id="622" name="圆角矩形"/>
            <p:cNvSpPr/>
            <p:nvPr/>
          </p:nvSpPr>
          <p:spPr>
            <a:xfrm>
              <a:off x="-1" y="0"/>
              <a:ext cx="2286007" cy="865326"/>
            </a:xfrm>
            <a:prstGeom prst="roundRect">
              <a:avLst>
                <a:gd name="adj" fmla="val 16667"/>
              </a:avLst>
            </a:prstGeom>
            <a:solidFill>
              <a:srgbClr val="131C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3" name="查询扩展 + 快速通道…"/>
            <p:cNvSpPr txBox="1"/>
            <p:nvPr/>
          </p:nvSpPr>
          <p:spPr>
            <a:xfrm>
              <a:off x="87961" y="219969"/>
              <a:ext cx="2110084" cy="425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900">
                  <a:solidFill>
                    <a:srgbClr val="34D399"/>
                  </a:solidFill>
                </a:defRPr>
              </a:pPr>
              <a:r>
                <a:t>查询扩展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+ </a:t>
              </a:r>
              <a:r>
                <a:t>快速通道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defRPr sz="900">
                  <a:solidFill>
                    <a:srgbClr val="CBD5E1"/>
                  </a:solidFill>
                </a:defRPr>
              </a:pPr>
              <a:r>
                <a:t>口语词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t>官方术语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t>精准搜索</a:t>
              </a:r>
            </a:p>
          </p:txBody>
        </p:sp>
      </p:grpSp>
      <p:sp>
        <p:nvSpPr>
          <p:cNvPr id="625" name="TextBox 8"/>
          <p:cNvSpPr txBox="1"/>
          <p:nvPr/>
        </p:nvSpPr>
        <p:spPr>
          <a:xfrm>
            <a:off x="2651759" y="1350965"/>
            <a:ext cx="228604" cy="37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26" name="TextBox 9"/>
          <p:cNvSpPr txBox="1"/>
          <p:nvPr/>
        </p:nvSpPr>
        <p:spPr>
          <a:xfrm>
            <a:off x="5349240" y="1350965"/>
            <a:ext cx="228604" cy="37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27" name="Rectangle 10"/>
          <p:cNvSpPr/>
          <p:nvPr/>
        </p:nvSpPr>
        <p:spPr>
          <a:xfrm>
            <a:off x="274320" y="2378535"/>
            <a:ext cx="8229601" cy="378581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28" name="TextBox 11"/>
          <p:cNvSpPr txBox="1"/>
          <p:nvPr/>
        </p:nvSpPr>
        <p:spPr>
          <a:xfrm>
            <a:off x="457198" y="2410985"/>
            <a:ext cx="82296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阶段</a:t>
            </a:r>
          </a:p>
        </p:txBody>
      </p:sp>
      <p:sp>
        <p:nvSpPr>
          <p:cNvPr id="629" name="TextBox 12"/>
          <p:cNvSpPr txBox="1"/>
          <p:nvPr/>
        </p:nvSpPr>
        <p:spPr>
          <a:xfrm>
            <a:off x="1417319" y="2410985"/>
            <a:ext cx="12801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功能</a:t>
            </a:r>
          </a:p>
        </p:txBody>
      </p:sp>
      <p:sp>
        <p:nvSpPr>
          <p:cNvPr id="630" name="TextBox 13"/>
          <p:cNvSpPr txBox="1"/>
          <p:nvPr/>
        </p:nvSpPr>
        <p:spPr>
          <a:xfrm>
            <a:off x="2880359" y="2410985"/>
            <a:ext cx="338328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用户价值</a:t>
            </a:r>
          </a:p>
        </p:txBody>
      </p:sp>
      <p:sp>
        <p:nvSpPr>
          <p:cNvPr id="631" name="TextBox 14"/>
          <p:cNvSpPr txBox="1"/>
          <p:nvPr/>
        </p:nvSpPr>
        <p:spPr>
          <a:xfrm>
            <a:off x="6537959" y="2410985"/>
            <a:ext cx="15544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状态</a:t>
            </a:r>
          </a:p>
        </p:txBody>
      </p:sp>
      <p:sp>
        <p:nvSpPr>
          <p:cNvPr id="632" name="Rectangle 15"/>
          <p:cNvSpPr/>
          <p:nvPr/>
        </p:nvSpPr>
        <p:spPr>
          <a:xfrm>
            <a:off x="274320" y="2757109"/>
            <a:ext cx="8229601" cy="378582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33" name="TextBox 16"/>
          <p:cNvSpPr txBox="1"/>
          <p:nvPr/>
        </p:nvSpPr>
        <p:spPr>
          <a:xfrm>
            <a:off x="457198" y="2789563"/>
            <a:ext cx="822966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634" name="TextBox 17"/>
          <p:cNvSpPr txBox="1"/>
          <p:nvPr/>
        </p:nvSpPr>
        <p:spPr>
          <a:xfrm>
            <a:off x="1417319" y="2789563"/>
            <a:ext cx="128016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术语表预处理</a:t>
            </a:r>
          </a:p>
        </p:txBody>
      </p:sp>
      <p:sp>
        <p:nvSpPr>
          <p:cNvPr id="635" name="TextBox 18"/>
          <p:cNvSpPr txBox="1"/>
          <p:nvPr/>
        </p:nvSpPr>
        <p:spPr>
          <a:xfrm>
            <a:off x="2880359" y="2789563"/>
            <a:ext cx="338328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355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条 </a:t>
            </a:r>
            <a:r>
              <a:t>CSV →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结构化数据</a:t>
            </a:r>
          </a:p>
        </p:txBody>
      </p:sp>
      <p:sp>
        <p:nvSpPr>
          <p:cNvPr id="636" name="TextBox 19"/>
          <p:cNvSpPr txBox="1"/>
          <p:nvPr/>
        </p:nvSpPr>
        <p:spPr>
          <a:xfrm>
            <a:off x="6537959" y="2789563"/>
            <a:ext cx="155448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34D399"/>
                </a:solidFill>
              </a:defRPr>
            </a:lvl1pPr>
          </a:lstStyle>
          <a:p>
            <a:pPr/>
            <a:r>
              <a:t>✅ 已完成</a:t>
            </a:r>
          </a:p>
        </p:txBody>
      </p:sp>
      <p:sp>
        <p:nvSpPr>
          <p:cNvPr id="637" name="TextBox 20"/>
          <p:cNvSpPr txBox="1"/>
          <p:nvPr/>
        </p:nvSpPr>
        <p:spPr>
          <a:xfrm>
            <a:off x="457198" y="3168138"/>
            <a:ext cx="822966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638" name="TextBox 21"/>
          <p:cNvSpPr txBox="1"/>
          <p:nvPr/>
        </p:nvSpPr>
        <p:spPr>
          <a:xfrm>
            <a:off x="1417319" y="3168138"/>
            <a:ext cx="128016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查询扩展</a:t>
            </a:r>
          </a:p>
        </p:txBody>
      </p:sp>
      <p:sp>
        <p:nvSpPr>
          <p:cNvPr id="639" name="TextBox 22"/>
          <p:cNvSpPr txBox="1"/>
          <p:nvPr/>
        </p:nvSpPr>
        <p:spPr>
          <a:xfrm>
            <a:off x="2880359" y="3168138"/>
            <a:ext cx="338328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口语词自动替换为官方术语再搜索</a:t>
            </a:r>
          </a:p>
        </p:txBody>
      </p:sp>
      <p:sp>
        <p:nvSpPr>
          <p:cNvPr id="640" name="TextBox 23"/>
          <p:cNvSpPr txBox="1"/>
          <p:nvPr/>
        </p:nvSpPr>
        <p:spPr>
          <a:xfrm>
            <a:off x="6537959" y="3168138"/>
            <a:ext cx="155448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34D399"/>
                </a:solidFill>
              </a:defRPr>
            </a:lvl1pPr>
          </a:lstStyle>
          <a:p>
            <a:pPr/>
            <a:r>
              <a:t>✅ 已完成</a:t>
            </a:r>
          </a:p>
        </p:txBody>
      </p:sp>
      <p:sp>
        <p:nvSpPr>
          <p:cNvPr id="641" name="Rectangle 24"/>
          <p:cNvSpPr/>
          <p:nvPr/>
        </p:nvSpPr>
        <p:spPr>
          <a:xfrm>
            <a:off x="274320" y="3514266"/>
            <a:ext cx="8229601" cy="378581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42" name="TextBox 25"/>
          <p:cNvSpPr txBox="1"/>
          <p:nvPr/>
        </p:nvSpPr>
        <p:spPr>
          <a:xfrm>
            <a:off x="457198" y="3546716"/>
            <a:ext cx="822966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643" name="TextBox 26"/>
          <p:cNvSpPr txBox="1"/>
          <p:nvPr/>
        </p:nvSpPr>
        <p:spPr>
          <a:xfrm>
            <a:off x="1417319" y="3546716"/>
            <a:ext cx="128016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术语快速通道</a:t>
            </a:r>
          </a:p>
        </p:txBody>
      </p:sp>
      <p:sp>
        <p:nvSpPr>
          <p:cNvPr id="644" name="TextBox 27"/>
          <p:cNvSpPr txBox="1"/>
          <p:nvPr/>
        </p:nvSpPr>
        <p:spPr>
          <a:xfrm>
            <a:off x="2880359" y="3546716"/>
            <a:ext cx="338328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纯定义问题秒级响应，</a:t>
            </a:r>
            <a:r>
              <a:rPr>
                <a:latin typeface="Arial"/>
                <a:ea typeface="Arial"/>
                <a:cs typeface="Arial"/>
                <a:sym typeface="Arial"/>
              </a:rPr>
              <a:t>100% </a:t>
            </a:r>
            <a:r>
              <a:t>准确</a:t>
            </a:r>
          </a:p>
        </p:txBody>
      </p:sp>
      <p:sp>
        <p:nvSpPr>
          <p:cNvPr id="645" name="TextBox 28"/>
          <p:cNvSpPr txBox="1"/>
          <p:nvPr/>
        </p:nvSpPr>
        <p:spPr>
          <a:xfrm>
            <a:off x="6537959" y="3546716"/>
            <a:ext cx="155448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34D399"/>
                </a:solidFill>
              </a:defRPr>
            </a:lvl1pPr>
          </a:lstStyle>
          <a:p>
            <a:pPr/>
            <a:r>
              <a:t>✅ 已完成</a:t>
            </a:r>
          </a:p>
        </p:txBody>
      </p:sp>
      <p:sp>
        <p:nvSpPr>
          <p:cNvPr id="646" name="TextBox 29"/>
          <p:cNvSpPr txBox="1"/>
          <p:nvPr/>
        </p:nvSpPr>
        <p:spPr>
          <a:xfrm>
            <a:off x="457198" y="3925294"/>
            <a:ext cx="822966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647" name="TextBox 30"/>
          <p:cNvSpPr txBox="1"/>
          <p:nvPr/>
        </p:nvSpPr>
        <p:spPr>
          <a:xfrm>
            <a:off x="1417319" y="3925294"/>
            <a:ext cx="128016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回复术语纠正</a:t>
            </a:r>
          </a:p>
        </p:txBody>
      </p:sp>
      <p:sp>
        <p:nvSpPr>
          <p:cNvPr id="648" name="TextBox 31"/>
          <p:cNvSpPr txBox="1"/>
          <p:nvPr/>
        </p:nvSpPr>
        <p:spPr>
          <a:xfrm>
            <a:off x="2880359" y="3925294"/>
            <a:ext cx="338328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回复统一使用官方术语</a:t>
            </a:r>
          </a:p>
        </p:txBody>
      </p:sp>
      <p:sp>
        <p:nvSpPr>
          <p:cNvPr id="649" name="TextBox 32"/>
          <p:cNvSpPr txBox="1"/>
          <p:nvPr/>
        </p:nvSpPr>
        <p:spPr>
          <a:xfrm>
            <a:off x="6537959" y="3925294"/>
            <a:ext cx="155448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4A3B8"/>
                </a:solidFill>
              </a:defRPr>
            </a:lvl1pPr>
          </a:lstStyle>
          <a:p>
            <a:pPr/>
            <a:r>
              <a:t>🔲 待实施</a:t>
            </a:r>
          </a:p>
        </p:txBody>
      </p:sp>
      <p:sp>
        <p:nvSpPr>
          <p:cNvPr id="650" name="Rectangle 33"/>
          <p:cNvSpPr/>
          <p:nvPr/>
        </p:nvSpPr>
        <p:spPr>
          <a:xfrm>
            <a:off x="274320" y="4271421"/>
            <a:ext cx="8229601" cy="378581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1" name="TextBox 34"/>
          <p:cNvSpPr txBox="1"/>
          <p:nvPr/>
        </p:nvSpPr>
        <p:spPr>
          <a:xfrm>
            <a:off x="457198" y="4303872"/>
            <a:ext cx="822966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5</a:t>
            </a:r>
          </a:p>
        </p:txBody>
      </p:sp>
      <p:sp>
        <p:nvSpPr>
          <p:cNvPr id="652" name="TextBox 35"/>
          <p:cNvSpPr txBox="1"/>
          <p:nvPr/>
        </p:nvSpPr>
        <p:spPr>
          <a:xfrm>
            <a:off x="1417319" y="4303872"/>
            <a:ext cx="128016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术语准确性自检</a:t>
            </a:r>
          </a:p>
        </p:txBody>
      </p:sp>
      <p:sp>
        <p:nvSpPr>
          <p:cNvPr id="653" name="TextBox 36"/>
          <p:cNvSpPr txBox="1"/>
          <p:nvPr/>
        </p:nvSpPr>
        <p:spPr>
          <a:xfrm>
            <a:off x="2880359" y="4303872"/>
            <a:ext cx="3383282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发送前双重检查术语准确性</a:t>
            </a:r>
          </a:p>
        </p:txBody>
      </p:sp>
      <p:sp>
        <p:nvSpPr>
          <p:cNvPr id="654" name="TextBox 37"/>
          <p:cNvSpPr txBox="1"/>
          <p:nvPr/>
        </p:nvSpPr>
        <p:spPr>
          <a:xfrm>
            <a:off x="6537959" y="4303872"/>
            <a:ext cx="1554484" cy="28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900">
                <a:solidFill>
                  <a:srgbClr val="94A3B8"/>
                </a:solidFill>
              </a:defRPr>
            </a:lvl1pPr>
          </a:lstStyle>
          <a:p>
            <a:pPr/>
            <a:r>
              <a:t>🔲 待实施</a:t>
            </a:r>
          </a:p>
        </p:txBody>
      </p:sp>
      <p:sp>
        <p:nvSpPr>
          <p:cNvPr id="655" name="TextBox 38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8" name="TextBox 2"/>
          <p:cNvSpPr txBox="1"/>
          <p:nvPr/>
        </p:nvSpPr>
        <p:spPr>
          <a:xfrm>
            <a:off x="594360" y="182879"/>
            <a:ext cx="7223760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659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效果：</a:t>
            </a:r>
            <a:r>
              <a:rPr>
                <a:latin typeface="Arial"/>
                <a:ea typeface="Arial"/>
                <a:cs typeface="Arial"/>
                <a:sym typeface="Arial"/>
              </a:rPr>
              <a:t>Round 7 </a:t>
            </a:r>
            <a:r>
              <a:t>测试数据全部准确</a:t>
            </a:r>
          </a:p>
        </p:txBody>
      </p:sp>
      <p:sp>
        <p:nvSpPr>
          <p:cNvPr id="660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v1.2.4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测试中，所有 </a:t>
            </a:r>
            <a:r>
              <a:t>KB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回答的价格和功能数据均与知识库一致</a:t>
            </a:r>
          </a:p>
        </p:txBody>
      </p:sp>
      <p:sp>
        <p:nvSpPr>
          <p:cNvPr id="661" name="Rectangle 5"/>
          <p:cNvSpPr/>
          <p:nvPr/>
        </p:nvSpPr>
        <p:spPr>
          <a:xfrm>
            <a:off x="365760" y="1234438"/>
            <a:ext cx="8046719" cy="412222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2" name="TextBox 6"/>
          <p:cNvSpPr txBox="1"/>
          <p:nvPr/>
        </p:nvSpPr>
        <p:spPr>
          <a:xfrm>
            <a:off x="548638" y="1269772"/>
            <a:ext cx="2834646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测试问题</a:t>
            </a:r>
          </a:p>
        </p:txBody>
      </p:sp>
      <p:sp>
        <p:nvSpPr>
          <p:cNvPr id="663" name="TextBox 7"/>
          <p:cNvSpPr txBox="1"/>
          <p:nvPr/>
        </p:nvSpPr>
        <p:spPr>
          <a:xfrm>
            <a:off x="3611879" y="1269772"/>
            <a:ext cx="31089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回答</a:t>
            </a:r>
          </a:p>
        </p:txBody>
      </p:sp>
      <p:sp>
        <p:nvSpPr>
          <p:cNvPr id="664" name="TextBox 8"/>
          <p:cNvSpPr txBox="1"/>
          <p:nvPr/>
        </p:nvSpPr>
        <p:spPr>
          <a:xfrm>
            <a:off x="6903718" y="1269772"/>
            <a:ext cx="12801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准确性</a:t>
            </a:r>
          </a:p>
        </p:txBody>
      </p:sp>
      <p:sp>
        <p:nvSpPr>
          <p:cNvPr id="665" name="Rectangle 9"/>
          <p:cNvSpPr/>
          <p:nvPr/>
        </p:nvSpPr>
        <p:spPr>
          <a:xfrm>
            <a:off x="365760" y="1646662"/>
            <a:ext cx="8046719" cy="647782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66" name="TextBox 10"/>
          <p:cNvSpPr txBox="1"/>
          <p:nvPr/>
        </p:nvSpPr>
        <p:spPr>
          <a:xfrm>
            <a:off x="548638" y="1740885"/>
            <a:ext cx="2834646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CINNOX support WhatsApp?</a:t>
            </a:r>
          </a:p>
        </p:txBody>
      </p:sp>
      <p:sp>
        <p:nvSpPr>
          <p:cNvPr id="667" name="TextBox 11"/>
          <p:cNvSpPr txBox="1"/>
          <p:nvPr/>
        </p:nvSpPr>
        <p:spPr>
          <a:xfrm>
            <a:off x="3611879" y="1740885"/>
            <a:ext cx="3108964" cy="341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WhatsApp add-on $100/month, 360dialog, Campaigns, OTP API</a:t>
            </a:r>
          </a:p>
        </p:txBody>
      </p:sp>
      <p:sp>
        <p:nvSpPr>
          <p:cNvPr id="668" name="TextBox 12"/>
          <p:cNvSpPr txBox="1"/>
          <p:nvPr/>
        </p:nvSpPr>
        <p:spPr>
          <a:xfrm>
            <a:off x="6903718" y="1740885"/>
            <a:ext cx="1280165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34D399"/>
                </a:solidFill>
              </a:defRPr>
            </a:lvl1pPr>
          </a:lstStyle>
          <a:p>
            <a:pPr/>
            <a:r>
              <a:t>✅ 准确</a:t>
            </a:r>
          </a:p>
        </p:txBody>
      </p:sp>
      <p:sp>
        <p:nvSpPr>
          <p:cNvPr id="669" name="TextBox 13"/>
          <p:cNvSpPr txBox="1"/>
          <p:nvPr/>
        </p:nvSpPr>
        <p:spPr>
          <a:xfrm>
            <a:off x="548638" y="2388660"/>
            <a:ext cx="2834646" cy="226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much is a US toll-free number?</a:t>
            </a:r>
          </a:p>
        </p:txBody>
      </p:sp>
      <p:sp>
        <p:nvSpPr>
          <p:cNvPr id="670" name="TextBox 14"/>
          <p:cNvSpPr txBox="1"/>
          <p:nvPr/>
        </p:nvSpPr>
        <p:spPr>
          <a:xfrm>
            <a:off x="3611879" y="2388660"/>
            <a:ext cx="310896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$49/month, $0.024/min, DID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对比 </a:t>
            </a:r>
            <a:r>
              <a:t>$19/month</a:t>
            </a:r>
          </a:p>
        </p:txBody>
      </p:sp>
      <p:sp>
        <p:nvSpPr>
          <p:cNvPr id="671" name="TextBox 15"/>
          <p:cNvSpPr txBox="1"/>
          <p:nvPr/>
        </p:nvSpPr>
        <p:spPr>
          <a:xfrm>
            <a:off x="6903718" y="2388660"/>
            <a:ext cx="1280165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34D399"/>
                </a:solidFill>
              </a:defRPr>
            </a:lvl1pPr>
          </a:lstStyle>
          <a:p>
            <a:pPr/>
            <a:r>
              <a:t>✅ 准确</a:t>
            </a:r>
          </a:p>
        </p:txBody>
      </p:sp>
      <p:sp>
        <p:nvSpPr>
          <p:cNvPr id="672" name="Rectangle 16"/>
          <p:cNvSpPr/>
          <p:nvPr/>
        </p:nvSpPr>
        <p:spPr>
          <a:xfrm>
            <a:off x="365760" y="2942220"/>
            <a:ext cx="8046719" cy="647782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73" name="TextBox 17"/>
          <p:cNvSpPr txBox="1"/>
          <p:nvPr/>
        </p:nvSpPr>
        <p:spPr>
          <a:xfrm>
            <a:off x="548638" y="3036441"/>
            <a:ext cx="2834646" cy="226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about Germany?</a:t>
            </a:r>
          </a:p>
        </p:txBody>
      </p:sp>
      <p:sp>
        <p:nvSpPr>
          <p:cNvPr id="674" name="TextBox 18"/>
          <p:cNvSpPr txBox="1"/>
          <p:nvPr/>
        </p:nvSpPr>
        <p:spPr>
          <a:xfrm>
            <a:off x="3611879" y="3036441"/>
            <a:ext cx="3108964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$39/month, mobile $0.224/min, landline $0.06/min</a:t>
            </a:r>
          </a:p>
        </p:txBody>
      </p:sp>
      <p:sp>
        <p:nvSpPr>
          <p:cNvPr id="675" name="TextBox 19"/>
          <p:cNvSpPr txBox="1"/>
          <p:nvPr/>
        </p:nvSpPr>
        <p:spPr>
          <a:xfrm>
            <a:off x="6903718" y="3036441"/>
            <a:ext cx="1280165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000">
                <a:solidFill>
                  <a:srgbClr val="34D399"/>
                </a:solidFill>
              </a:defRPr>
            </a:lvl1pPr>
          </a:lstStyle>
          <a:p>
            <a:pPr/>
            <a:r>
              <a:t>✅ 准确</a:t>
            </a:r>
          </a:p>
        </p:txBody>
      </p:sp>
      <p:grpSp>
        <p:nvGrpSpPr>
          <p:cNvPr id="678" name="Rounded Rectangle 20"/>
          <p:cNvGrpSpPr/>
          <p:nvPr/>
        </p:nvGrpSpPr>
        <p:grpSpPr>
          <a:xfrm>
            <a:off x="365758" y="3825554"/>
            <a:ext cx="8046727" cy="824453"/>
            <a:chOff x="0" y="0"/>
            <a:chExt cx="8046725" cy="824452"/>
          </a:xfrm>
        </p:grpSpPr>
        <p:sp>
          <p:nvSpPr>
            <p:cNvPr id="676" name="圆角矩形"/>
            <p:cNvSpPr/>
            <p:nvPr/>
          </p:nvSpPr>
          <p:spPr>
            <a:xfrm>
              <a:off x="-1" y="-1"/>
              <a:ext cx="8046727" cy="824453"/>
            </a:xfrm>
            <a:prstGeom prst="roundRect">
              <a:avLst>
                <a:gd name="adj" fmla="val 16667"/>
              </a:avLst>
            </a:prstGeom>
            <a:solidFill>
              <a:srgbClr val="131C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9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7" name="💡 以上为内部测试结果。仍需 CX 专业人员基于真实业务场景进行进一步验证测试，…"/>
            <p:cNvSpPr txBox="1"/>
            <p:nvPr/>
          </p:nvSpPr>
          <p:spPr>
            <a:xfrm>
              <a:off x="85965" y="82947"/>
              <a:ext cx="7874794" cy="658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>
                <a:defRPr sz="1000">
                  <a:solidFill>
                    <a:srgbClr val="F59E0B"/>
                  </a:solidFill>
                </a:defRPr>
              </a:pPr>
              <a:r>
                <a:t>💡 以上为内部测试结果。仍需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CX </a:t>
              </a:r>
              <a:r>
                <a:t>专业人员基于真实业务场景进行进一步验证测试，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>
                <a:defRPr sz="1000">
                  <a:solidFill>
                    <a:srgbClr val="F59E0B"/>
                  </a:solidFill>
                </a:defRPr>
              </a:pPr>
              <a:r>
                <a:t>确保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bot </a:t>
              </a:r>
              <a:r>
                <a:t>回答的准确性和专业度符合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CINNOX </a:t>
              </a:r>
              <a:r>
                <a:t>的客户服务标准。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>
                <a:defRPr sz="900">
                  <a:solidFill>
                    <a:srgbClr val="94A3B8"/>
                  </a:solidFill>
                </a:defRPr>
              </a:pPr>
              <a:r>
                <a:t>建议由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CX </a:t>
              </a:r>
              <a:r>
                <a:t>团队准备测试场景清单，我们配合执行联合测试。</a:t>
              </a:r>
            </a:p>
          </p:txBody>
        </p:sp>
      </p:grpSp>
      <p:sp>
        <p:nvSpPr>
          <p:cNvPr id="679" name="TextBox 21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3" name="Rectangle 2"/>
          <p:cNvSpPr/>
          <p:nvPr/>
        </p:nvSpPr>
        <p:spPr>
          <a:xfrm>
            <a:off x="0" y="54864"/>
            <a:ext cx="5029200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4" name="Oval 3"/>
          <p:cNvSpPr/>
          <p:nvPr/>
        </p:nvSpPr>
        <p:spPr>
          <a:xfrm>
            <a:off x="5943600" y="-914401"/>
            <a:ext cx="4114800" cy="4114803"/>
          </a:xfrm>
          <a:prstGeom prst="ellipse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5" name="Oval 4"/>
          <p:cNvSpPr/>
          <p:nvPr/>
        </p:nvSpPr>
        <p:spPr>
          <a:xfrm>
            <a:off x="6858000" y="457197"/>
            <a:ext cx="2926084" cy="2926088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6" name="TextBox 5"/>
          <p:cNvSpPr txBox="1"/>
          <p:nvPr/>
        </p:nvSpPr>
        <p:spPr>
          <a:xfrm>
            <a:off x="777236" y="1097280"/>
            <a:ext cx="5394966" cy="646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AI Bot v1.2</a:t>
            </a:r>
          </a:p>
        </p:txBody>
      </p:sp>
      <p:sp>
        <p:nvSpPr>
          <p:cNvPr id="687" name="TextBox 6"/>
          <p:cNvSpPr txBox="1"/>
          <p:nvPr/>
        </p:nvSpPr>
        <p:spPr>
          <a:xfrm>
            <a:off x="777236" y="1920238"/>
            <a:ext cx="5394966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在线测试方案</a:t>
            </a:r>
          </a:p>
        </p:txBody>
      </p:sp>
      <p:sp>
        <p:nvSpPr>
          <p:cNvPr id="688" name="Rectangle 7"/>
          <p:cNvSpPr/>
          <p:nvPr/>
        </p:nvSpPr>
        <p:spPr>
          <a:xfrm>
            <a:off x="731519" y="2606038"/>
            <a:ext cx="2286001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9" name="TextBox 8"/>
          <p:cNvSpPr txBox="1"/>
          <p:nvPr/>
        </p:nvSpPr>
        <p:spPr>
          <a:xfrm>
            <a:off x="777236" y="2834638"/>
            <a:ext cx="5394966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94A3B8"/>
                </a:solidFill>
              </a:defRPr>
            </a:lvl1pPr>
          </a:lstStyle>
          <a:p>
            <a:pPr/>
            <a:r>
              <a:t>测试 → 反馈 → 修复 → 验证</a:t>
            </a:r>
          </a:p>
        </p:txBody>
      </p:sp>
      <p:sp>
        <p:nvSpPr>
          <p:cNvPr id="690" name="TextBox 9"/>
          <p:cNvSpPr txBox="1"/>
          <p:nvPr/>
        </p:nvSpPr>
        <p:spPr>
          <a:xfrm>
            <a:off x="777236" y="3474720"/>
            <a:ext cx="3566166" cy="27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2026-03-13</a:t>
            </a:r>
          </a:p>
        </p:txBody>
      </p:sp>
      <p:sp>
        <p:nvSpPr>
          <p:cNvPr id="691" name="TextBox 10"/>
          <p:cNvSpPr txBox="1"/>
          <p:nvPr/>
        </p:nvSpPr>
        <p:spPr>
          <a:xfrm>
            <a:off x="777236" y="3794759"/>
            <a:ext cx="3566166" cy="29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M800 / CINNOX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合作伙伴专属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4" name="TextBox 2"/>
          <p:cNvSpPr txBox="1"/>
          <p:nvPr/>
        </p:nvSpPr>
        <p:spPr>
          <a:xfrm>
            <a:off x="594360" y="182878"/>
            <a:ext cx="7223760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COLLABORATION · 在线测试迭代流程</a:t>
            </a:r>
          </a:p>
        </p:txBody>
      </p:sp>
      <p:sp>
        <p:nvSpPr>
          <p:cNvPr id="695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在线测试实现高效迭代</a:t>
            </a:r>
          </a:p>
        </p:txBody>
      </p:sp>
      <p:sp>
        <p:nvSpPr>
          <p:cNvPr id="696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测试 → 反馈 → 修复 → 验证，快速迭代</a:t>
            </a:r>
          </a:p>
        </p:txBody>
      </p:sp>
      <p:sp>
        <p:nvSpPr>
          <p:cNvPr id="697" name="Rectangle 5"/>
          <p:cNvSpPr/>
          <p:nvPr/>
        </p:nvSpPr>
        <p:spPr>
          <a:xfrm>
            <a:off x="365760" y="1234439"/>
            <a:ext cx="8046719" cy="419455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98" name="TextBox 6"/>
          <p:cNvSpPr txBox="1"/>
          <p:nvPr/>
        </p:nvSpPr>
        <p:spPr>
          <a:xfrm>
            <a:off x="548637" y="1270392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迭代步骤</a:t>
            </a:r>
          </a:p>
        </p:txBody>
      </p:sp>
      <p:sp>
        <p:nvSpPr>
          <p:cNvPr id="699" name="TextBox 7"/>
          <p:cNvSpPr txBox="1"/>
          <p:nvPr/>
        </p:nvSpPr>
        <p:spPr>
          <a:xfrm>
            <a:off x="3886198" y="1270392"/>
            <a:ext cx="24688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700" name="TextBox 8"/>
          <p:cNvSpPr txBox="1"/>
          <p:nvPr/>
        </p:nvSpPr>
        <p:spPr>
          <a:xfrm>
            <a:off x="6629399" y="1270392"/>
            <a:ext cx="1737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负责方</a:t>
            </a:r>
          </a:p>
        </p:txBody>
      </p:sp>
      <p:sp>
        <p:nvSpPr>
          <p:cNvPr id="701" name="Rectangle 9"/>
          <p:cNvSpPr/>
          <p:nvPr/>
        </p:nvSpPr>
        <p:spPr>
          <a:xfrm>
            <a:off x="365760" y="1653893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02" name="TextBox 10"/>
          <p:cNvSpPr txBox="1"/>
          <p:nvPr/>
        </p:nvSpPr>
        <p:spPr>
          <a:xfrm>
            <a:off x="548637" y="1749767"/>
            <a:ext cx="3108965" cy="26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CX 在线测试</a:t>
            </a:r>
          </a:p>
        </p:txBody>
      </p:sp>
      <p:sp>
        <p:nvSpPr>
          <p:cNvPr id="703" name="TextBox 11"/>
          <p:cNvSpPr txBox="1"/>
          <p:nvPr/>
        </p:nvSpPr>
        <p:spPr>
          <a:xfrm>
            <a:off x="3886198" y="1749767"/>
            <a:ext cx="2468884" cy="25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使用测试地址进行真实场景测试</a:t>
            </a:r>
          </a:p>
        </p:txBody>
      </p:sp>
      <p:grpSp>
        <p:nvGrpSpPr>
          <p:cNvPr id="706" name="Rounded Rectangle 12"/>
          <p:cNvGrpSpPr/>
          <p:nvPr/>
        </p:nvGrpSpPr>
        <p:grpSpPr>
          <a:xfrm>
            <a:off x="6583680" y="1749766"/>
            <a:ext cx="1645927" cy="359541"/>
            <a:chOff x="0" y="0"/>
            <a:chExt cx="1645925" cy="359539"/>
          </a:xfrm>
        </p:grpSpPr>
        <p:sp>
          <p:nvSpPr>
            <p:cNvPr id="704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5" name="功能详细说明"/>
            <p:cNvSpPr txBox="1"/>
            <p:nvPr/>
          </p:nvSpPr>
          <p:spPr>
            <a:xfrm>
              <a:off x="63270" y="64197"/>
              <a:ext cx="1519385" cy="231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CINNOX CX</a:t>
              </a:r>
            </a:p>
          </p:txBody>
        </p:sp>
      </p:grpSp>
      <p:sp>
        <p:nvSpPr>
          <p:cNvPr id="707" name="TextBox 13"/>
          <p:cNvSpPr txBox="1"/>
          <p:nvPr/>
        </p:nvSpPr>
        <p:spPr>
          <a:xfrm>
            <a:off x="548637" y="2348988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记录问题</a:t>
            </a:r>
          </a:p>
        </p:txBody>
      </p:sp>
      <p:sp>
        <p:nvSpPr>
          <p:cNvPr id="708" name="TextBox 14"/>
          <p:cNvSpPr txBox="1"/>
          <p:nvPr/>
        </p:nvSpPr>
        <p:spPr>
          <a:xfrm>
            <a:off x="3886198" y="2348988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按标准格式记录测试中发现的问题</a:t>
            </a:r>
          </a:p>
        </p:txBody>
      </p:sp>
      <p:grpSp>
        <p:nvGrpSpPr>
          <p:cNvPr id="711" name="Rounded Rectangle 15"/>
          <p:cNvGrpSpPr/>
          <p:nvPr/>
        </p:nvGrpSpPr>
        <p:grpSpPr>
          <a:xfrm>
            <a:off x="6583680" y="2348986"/>
            <a:ext cx="1645927" cy="359541"/>
            <a:chOff x="0" y="0"/>
            <a:chExt cx="1645925" cy="359539"/>
          </a:xfrm>
        </p:grpSpPr>
        <p:sp>
          <p:nvSpPr>
            <p:cNvPr id="709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0" name="行业场景文档"/>
            <p:cNvSpPr txBox="1"/>
            <p:nvPr/>
          </p:nvSpPr>
          <p:spPr>
            <a:xfrm>
              <a:off x="63270" y="64197"/>
              <a:ext cx="1519385" cy="231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CINNOX CX</a:t>
              </a:r>
            </a:p>
          </p:txBody>
        </p:sp>
      </p:grpSp>
      <p:sp>
        <p:nvSpPr>
          <p:cNvPr id="712" name="Rectangle 16"/>
          <p:cNvSpPr/>
          <p:nvPr/>
        </p:nvSpPr>
        <p:spPr>
          <a:xfrm>
            <a:off x="365760" y="2852334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3" name="TextBox 17"/>
          <p:cNvSpPr txBox="1"/>
          <p:nvPr/>
        </p:nvSpPr>
        <p:spPr>
          <a:xfrm>
            <a:off x="548637" y="2948209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提交反馈文档</a:t>
            </a:r>
          </a:p>
        </p:txBody>
      </p:sp>
      <p:sp>
        <p:nvSpPr>
          <p:cNvPr id="714" name="TextBox 18"/>
          <p:cNvSpPr txBox="1"/>
          <p:nvPr/>
        </p:nvSpPr>
        <p:spPr>
          <a:xfrm>
            <a:off x="3886198" y="2948209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Excel: 编号|场景|输入|回答|期望|严重度</a:t>
            </a:r>
          </a:p>
        </p:txBody>
      </p:sp>
      <p:grpSp>
        <p:nvGrpSpPr>
          <p:cNvPr id="717" name="Rounded Rectangle 19"/>
          <p:cNvGrpSpPr/>
          <p:nvPr/>
        </p:nvGrpSpPr>
        <p:grpSpPr>
          <a:xfrm>
            <a:off x="6583680" y="2948207"/>
            <a:ext cx="1645927" cy="359541"/>
            <a:chOff x="0" y="0"/>
            <a:chExt cx="1645925" cy="359539"/>
          </a:xfrm>
        </p:grpSpPr>
        <p:sp>
          <p:nvSpPr>
            <p:cNvPr id="715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16" name="技术架构概述"/>
            <p:cNvSpPr txBox="1"/>
            <p:nvPr/>
          </p:nvSpPr>
          <p:spPr>
            <a:xfrm>
              <a:off x="63270" y="64197"/>
              <a:ext cx="1519385" cy="231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CINNOX CX</a:t>
              </a:r>
            </a:p>
          </p:txBody>
        </p:sp>
      </p:grpSp>
      <p:sp>
        <p:nvSpPr>
          <p:cNvPr id="718" name="TextBox 20"/>
          <p:cNvSpPr txBox="1"/>
          <p:nvPr/>
        </p:nvSpPr>
        <p:spPr>
          <a:xfrm>
            <a:off x="548637" y="354743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EZAgent 优化修复</a:t>
            </a:r>
          </a:p>
        </p:txBody>
      </p:sp>
      <p:sp>
        <p:nvSpPr>
          <p:cNvPr id="719" name="TextBox 21"/>
          <p:cNvSpPr txBox="1"/>
          <p:nvPr/>
        </p:nvSpPr>
        <p:spPr>
          <a:xfrm>
            <a:off x="3886198" y="354743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分析根因，优化 KB / 逻辑 / 话术</a:t>
            </a:r>
          </a:p>
        </p:txBody>
      </p:sp>
      <p:grpSp>
        <p:nvGrpSpPr>
          <p:cNvPr id="722" name="Rounded Rectangle 22"/>
          <p:cNvGrpSpPr/>
          <p:nvPr/>
        </p:nvGrpSpPr>
        <p:grpSpPr>
          <a:xfrm>
            <a:off x="6583680" y="3547430"/>
            <a:ext cx="1645927" cy="359541"/>
            <a:chOff x="0" y="0"/>
            <a:chExt cx="1645925" cy="359539"/>
          </a:xfrm>
        </p:grpSpPr>
        <p:sp>
          <p:nvSpPr>
            <p:cNvPr id="720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1" name="标准 QA 对"/>
            <p:cNvSpPr txBox="1"/>
            <p:nvPr/>
          </p:nvSpPr>
          <p:spPr>
            <a:xfrm>
              <a:off x="63270" y="64197"/>
              <a:ext cx="1519385" cy="231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EZAgent</a:t>
              </a:r>
            </a:p>
          </p:txBody>
        </p:sp>
      </p:grpSp>
      <p:sp>
        <p:nvSpPr>
          <p:cNvPr id="723" name="Rectangle 23"/>
          <p:cNvSpPr/>
          <p:nvPr/>
        </p:nvSpPr>
        <p:spPr>
          <a:xfrm>
            <a:off x="365760" y="4050777"/>
            <a:ext cx="8046719" cy="599225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24" name="TextBox 24"/>
          <p:cNvSpPr txBox="1"/>
          <p:nvPr/>
        </p:nvSpPr>
        <p:spPr>
          <a:xfrm>
            <a:off x="548637" y="414665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CX 复测验证</a:t>
            </a:r>
          </a:p>
        </p:txBody>
      </p:sp>
      <p:sp>
        <p:nvSpPr>
          <p:cNvPr id="725" name="TextBox 25"/>
          <p:cNvSpPr txBox="1"/>
          <p:nvPr/>
        </p:nvSpPr>
        <p:spPr>
          <a:xfrm>
            <a:off x="3886198" y="414665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验证修复效果，确认问题已解决</a:t>
            </a:r>
          </a:p>
        </p:txBody>
      </p:sp>
      <p:grpSp>
        <p:nvGrpSpPr>
          <p:cNvPr id="728" name="Rounded Rectangle 26"/>
          <p:cNvGrpSpPr/>
          <p:nvPr/>
        </p:nvGrpSpPr>
        <p:grpSpPr>
          <a:xfrm>
            <a:off x="6583680" y="4146650"/>
            <a:ext cx="1645927" cy="359541"/>
            <a:chOff x="0" y="0"/>
            <a:chExt cx="1645925" cy="359539"/>
          </a:xfrm>
        </p:grpSpPr>
        <p:sp>
          <p:nvSpPr>
            <p:cNvPr id="726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27" name="边界/刁钻问题"/>
            <p:cNvSpPr txBox="1"/>
            <p:nvPr/>
          </p:nvSpPr>
          <p:spPr>
            <a:xfrm>
              <a:off x="63270" y="64197"/>
              <a:ext cx="1519385" cy="231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CINNOX CX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C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1" name="TextBox 2"/>
          <p:cNvSpPr txBox="1"/>
          <p:nvPr/>
        </p:nvSpPr>
        <p:spPr>
          <a:xfrm>
            <a:off x="594360" y="182878"/>
            <a:ext cx="7223760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 · 第一轮在线测试</a:t>
            </a:r>
          </a:p>
        </p:txBody>
      </p:sp>
      <p:sp>
        <p:nvSpPr>
          <p:cNvPr id="732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第一轮开放测试信息</a:t>
            </a:r>
          </a:p>
        </p:txBody>
      </p:sp>
      <p:sp>
        <p:nvSpPr>
          <p:cNvPr id="733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请 CX 团队按以下信息开始测试</a:t>
            </a:r>
          </a:p>
        </p:txBody>
      </p:sp>
      <p:sp>
        <p:nvSpPr>
          <p:cNvPr id="734" name="Rectangle 5"/>
          <p:cNvSpPr/>
          <p:nvPr/>
        </p:nvSpPr>
        <p:spPr>
          <a:xfrm>
            <a:off x="365760" y="1234439"/>
            <a:ext cx="8046719" cy="419455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5" name="TextBox 6"/>
          <p:cNvSpPr txBox="1"/>
          <p:nvPr/>
        </p:nvSpPr>
        <p:spPr>
          <a:xfrm>
            <a:off x="548637" y="1270392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项目</a:t>
            </a:r>
          </a:p>
        </p:txBody>
      </p:sp>
      <p:sp>
        <p:nvSpPr>
          <p:cNvPr id="736" name="TextBox 7"/>
          <p:cNvSpPr txBox="1"/>
          <p:nvPr/>
        </p:nvSpPr>
        <p:spPr>
          <a:xfrm>
            <a:off x="3886198" y="1270392"/>
            <a:ext cx="24688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详情</a:t>
            </a:r>
          </a:p>
        </p:txBody>
      </p:sp>
      <p:sp>
        <p:nvSpPr>
          <p:cNvPr id="737" name="TextBox 8"/>
          <p:cNvSpPr txBox="1"/>
          <p:nvPr/>
        </p:nvSpPr>
        <p:spPr>
          <a:xfrm>
            <a:off x="6629399" y="1270392"/>
            <a:ext cx="1737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备注</a:t>
            </a:r>
          </a:p>
        </p:txBody>
      </p:sp>
      <p:sp>
        <p:nvSpPr>
          <p:cNvPr id="738" name="Rectangle 9"/>
          <p:cNvSpPr/>
          <p:nvPr/>
        </p:nvSpPr>
        <p:spPr>
          <a:xfrm>
            <a:off x="365760" y="1653893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39" name="TextBox 10"/>
          <p:cNvSpPr txBox="1"/>
          <p:nvPr/>
        </p:nvSpPr>
        <p:spPr>
          <a:xfrm>
            <a:off x="548637" y="1749767"/>
            <a:ext cx="3108965" cy="26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测试地址</a:t>
            </a:r>
          </a:p>
        </p:txBody>
      </p:sp>
      <p:sp>
        <p:nvSpPr>
          <p:cNvPr id="740" name="TextBox 11"/>
          <p:cNvSpPr txBox="1"/>
          <p:nvPr/>
        </p:nvSpPr>
        <p:spPr>
          <a:xfrm>
            <a:off x="3886198" y="1749767"/>
            <a:ext cx="2468884" cy="231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https://cinnox-demo.h2os.cloud/</a:t>
            </a:r>
          </a:p>
        </p:txBody>
      </p:sp>
      <p:grpSp>
        <p:nvGrpSpPr>
          <p:cNvPr id="743" name="Rounded Rectangle 12"/>
          <p:cNvGrpSpPr/>
          <p:nvPr/>
        </p:nvGrpSpPr>
        <p:grpSpPr>
          <a:xfrm>
            <a:off x="6583680" y="1749766"/>
            <a:ext cx="1645927" cy="359541"/>
            <a:chOff x="0" y="0"/>
            <a:chExt cx="1645925" cy="359539"/>
          </a:xfrm>
        </p:grpSpPr>
        <p:sp>
          <p:nvSpPr>
            <p:cNvPr id="741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42" name="功能详细说明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浏览器直接访问</a:t>
              </a:r>
            </a:p>
          </p:txBody>
        </p:sp>
      </p:grpSp>
      <p:sp>
        <p:nvSpPr>
          <p:cNvPr id="744" name="TextBox 13"/>
          <p:cNvSpPr txBox="1"/>
          <p:nvPr/>
        </p:nvSpPr>
        <p:spPr>
          <a:xfrm>
            <a:off x="548637" y="2348988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登录密码</a:t>
            </a:r>
          </a:p>
        </p:txBody>
      </p:sp>
      <p:grpSp>
        <p:nvGrpSpPr>
          <p:cNvPr id="747" name="Rounded Rectangle 15"/>
          <p:cNvGrpSpPr/>
          <p:nvPr/>
        </p:nvGrpSpPr>
        <p:grpSpPr>
          <a:xfrm>
            <a:off x="6583680" y="2348986"/>
            <a:ext cx="1645927" cy="359541"/>
            <a:chOff x="0" y="0"/>
            <a:chExt cx="1645925" cy="359539"/>
          </a:xfrm>
        </p:grpSpPr>
        <p:sp>
          <p:nvSpPr>
            <p:cNvPr id="745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46" name="行业场景文档"/>
            <p:cNvSpPr txBox="1"/>
            <p:nvPr/>
          </p:nvSpPr>
          <p:spPr>
            <a:xfrm>
              <a:off x="63270" y="51498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单独提供</a:t>
              </a:r>
            </a:p>
          </p:txBody>
        </p:sp>
      </p:grpSp>
      <p:sp>
        <p:nvSpPr>
          <p:cNvPr id="748" name="Rectangle 16"/>
          <p:cNvSpPr/>
          <p:nvPr/>
        </p:nvSpPr>
        <p:spPr>
          <a:xfrm>
            <a:off x="365760" y="2852334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49" name="TextBox 17"/>
          <p:cNvSpPr txBox="1"/>
          <p:nvPr/>
        </p:nvSpPr>
        <p:spPr>
          <a:xfrm>
            <a:off x="548637" y="2948209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建议操作</a:t>
            </a:r>
          </a:p>
        </p:txBody>
      </p:sp>
      <p:sp>
        <p:nvSpPr>
          <p:cNvPr id="750" name="TextBox 18"/>
          <p:cNvSpPr txBox="1"/>
          <p:nvPr/>
        </p:nvSpPr>
        <p:spPr>
          <a:xfrm>
            <a:off x="3886198" y="2948209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每次测试前新建会话</a:t>
            </a:r>
          </a:p>
        </p:txBody>
      </p:sp>
      <p:grpSp>
        <p:nvGrpSpPr>
          <p:cNvPr id="753" name="Rounded Rectangle 19"/>
          <p:cNvGrpSpPr/>
          <p:nvPr/>
        </p:nvGrpSpPr>
        <p:grpSpPr>
          <a:xfrm>
            <a:off x="6583680" y="2948207"/>
            <a:ext cx="1645927" cy="359541"/>
            <a:chOff x="0" y="0"/>
            <a:chExt cx="1645925" cy="359539"/>
          </a:xfrm>
        </p:grpSpPr>
        <p:sp>
          <p:nvSpPr>
            <p:cNvPr id="751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52" name="技术架构概述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避免上下文干扰</a:t>
              </a:r>
            </a:p>
          </p:txBody>
        </p:sp>
      </p:grpSp>
      <p:sp>
        <p:nvSpPr>
          <p:cNvPr id="754" name="TextBox 20"/>
          <p:cNvSpPr txBox="1"/>
          <p:nvPr/>
        </p:nvSpPr>
        <p:spPr>
          <a:xfrm>
            <a:off x="548637" y="354743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记录方式</a:t>
            </a:r>
          </a:p>
        </p:txBody>
      </p:sp>
      <p:sp>
        <p:nvSpPr>
          <p:cNvPr id="755" name="TextBox 21"/>
          <p:cNvSpPr txBox="1"/>
          <p:nvPr/>
        </p:nvSpPr>
        <p:spPr>
          <a:xfrm>
            <a:off x="3886198" y="354743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完整对话截图或复制文字</a:t>
            </a:r>
          </a:p>
        </p:txBody>
      </p:sp>
      <p:grpSp>
        <p:nvGrpSpPr>
          <p:cNvPr id="758" name="Rounded Rectangle 22"/>
          <p:cNvGrpSpPr/>
          <p:nvPr/>
        </p:nvGrpSpPr>
        <p:grpSpPr>
          <a:xfrm>
            <a:off x="6583680" y="3547430"/>
            <a:ext cx="1645927" cy="359541"/>
            <a:chOff x="0" y="0"/>
            <a:chExt cx="1645925" cy="359539"/>
          </a:xfrm>
        </p:grpSpPr>
        <p:sp>
          <p:nvSpPr>
            <p:cNvPr id="756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57" name="标准 QA 对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按反馈格式提交</a:t>
              </a:r>
            </a:p>
          </p:txBody>
        </p:sp>
      </p:grpSp>
      <p:sp>
        <p:nvSpPr>
          <p:cNvPr id="759" name="Rectangle 23"/>
          <p:cNvSpPr/>
          <p:nvPr/>
        </p:nvSpPr>
        <p:spPr>
          <a:xfrm>
            <a:off x="365760" y="4050777"/>
            <a:ext cx="8046719" cy="599225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0" name="TextBox 24"/>
          <p:cNvSpPr txBox="1"/>
          <p:nvPr/>
        </p:nvSpPr>
        <p:spPr>
          <a:xfrm>
            <a:off x="548637" y="414665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反馈格式</a:t>
            </a:r>
          </a:p>
        </p:txBody>
      </p:sp>
      <p:sp>
        <p:nvSpPr>
          <p:cNvPr id="761" name="TextBox 25"/>
          <p:cNvSpPr txBox="1"/>
          <p:nvPr/>
        </p:nvSpPr>
        <p:spPr>
          <a:xfrm>
            <a:off x="3886198" y="414665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编号|场景|输入|回答|期望|严重度|备注</a:t>
            </a:r>
          </a:p>
        </p:txBody>
      </p:sp>
      <p:grpSp>
        <p:nvGrpSpPr>
          <p:cNvPr id="764" name="Rounded Rectangle 26"/>
          <p:cNvGrpSpPr/>
          <p:nvPr/>
        </p:nvGrpSpPr>
        <p:grpSpPr>
          <a:xfrm>
            <a:off x="6583680" y="4146650"/>
            <a:ext cx="1645927" cy="359541"/>
            <a:chOff x="0" y="0"/>
            <a:chExt cx="1645925" cy="359539"/>
          </a:xfrm>
        </p:grpSpPr>
        <p:sp>
          <p:nvSpPr>
            <p:cNvPr id="762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63" name="边界/刁钻问题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每个问题一行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8" name="Rectangle 2"/>
          <p:cNvSpPr/>
          <p:nvPr/>
        </p:nvSpPr>
        <p:spPr>
          <a:xfrm>
            <a:off x="0" y="54864"/>
            <a:ext cx="5029200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69" name="Oval 3"/>
          <p:cNvSpPr/>
          <p:nvPr/>
        </p:nvSpPr>
        <p:spPr>
          <a:xfrm>
            <a:off x="5943600" y="-914401"/>
            <a:ext cx="4114800" cy="4114804"/>
          </a:xfrm>
          <a:prstGeom prst="ellipse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0" name="Oval 4"/>
          <p:cNvSpPr/>
          <p:nvPr/>
        </p:nvSpPr>
        <p:spPr>
          <a:xfrm>
            <a:off x="6857999" y="457197"/>
            <a:ext cx="2926087" cy="2926088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1" name="TextBox 5"/>
          <p:cNvSpPr txBox="1"/>
          <p:nvPr/>
        </p:nvSpPr>
        <p:spPr>
          <a:xfrm>
            <a:off x="777236" y="1097280"/>
            <a:ext cx="5394966" cy="64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CINNOX AI Bot v1.x</a:t>
            </a:r>
          </a:p>
        </p:txBody>
      </p:sp>
      <p:sp>
        <p:nvSpPr>
          <p:cNvPr id="772" name="TextBox 6"/>
          <p:cNvSpPr txBox="1"/>
          <p:nvPr/>
        </p:nvSpPr>
        <p:spPr>
          <a:xfrm>
            <a:off x="777236" y="1920238"/>
            <a:ext cx="5394966" cy="59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未来升级方向</a:t>
            </a:r>
          </a:p>
        </p:txBody>
      </p:sp>
      <p:sp>
        <p:nvSpPr>
          <p:cNvPr id="773" name="Rectangle 7"/>
          <p:cNvSpPr/>
          <p:nvPr/>
        </p:nvSpPr>
        <p:spPr>
          <a:xfrm>
            <a:off x="731519" y="2606038"/>
            <a:ext cx="2286001" cy="2743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4" name="TextBox 8"/>
          <p:cNvSpPr txBox="1"/>
          <p:nvPr/>
        </p:nvSpPr>
        <p:spPr>
          <a:xfrm>
            <a:off x="777236" y="2834638"/>
            <a:ext cx="5394966" cy="34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销售“人员”专业性  </a:t>
            </a:r>
            <a:r>
              <a:rPr>
                <a:latin typeface="Arial"/>
                <a:ea typeface="Arial"/>
                <a:cs typeface="Arial"/>
                <a:sym typeface="Arial"/>
              </a:rPr>
              <a:t>×  </a:t>
            </a:r>
            <a:r>
              <a:t>回答深度  </a:t>
            </a:r>
            <a:r>
              <a:rPr>
                <a:latin typeface="Arial"/>
                <a:ea typeface="Arial"/>
                <a:cs typeface="Arial"/>
                <a:sym typeface="Arial"/>
              </a:rPr>
              <a:t>×  </a:t>
            </a:r>
            <a:r>
              <a:t>支持多语言</a:t>
            </a:r>
          </a:p>
        </p:txBody>
      </p:sp>
      <p:sp>
        <p:nvSpPr>
          <p:cNvPr id="775" name="TextBox 9"/>
          <p:cNvSpPr txBox="1"/>
          <p:nvPr/>
        </p:nvSpPr>
        <p:spPr>
          <a:xfrm>
            <a:off x="777236" y="3474720"/>
            <a:ext cx="3566166" cy="276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2026-03-13</a:t>
            </a:r>
          </a:p>
        </p:txBody>
      </p:sp>
      <p:sp>
        <p:nvSpPr>
          <p:cNvPr id="776" name="TextBox 10"/>
          <p:cNvSpPr txBox="1"/>
          <p:nvPr/>
        </p:nvSpPr>
        <p:spPr>
          <a:xfrm>
            <a:off x="777236" y="3794759"/>
            <a:ext cx="3566166" cy="29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M800 / CINNOX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合作伙伴专属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9" name="TextBox 2"/>
          <p:cNvSpPr txBox="1"/>
          <p:nvPr/>
        </p:nvSpPr>
        <p:spPr>
          <a:xfrm>
            <a:off x="594360" y="182878"/>
            <a:ext cx="7223760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ROADMAP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专业销售能力</a:t>
            </a:r>
          </a:p>
        </p:txBody>
      </p:sp>
      <p:sp>
        <p:nvSpPr>
          <p:cNvPr id="780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升级方向 </a:t>
            </a:r>
            <a:r>
              <a:rPr>
                <a:latin typeface="Arial"/>
                <a:ea typeface="Arial"/>
                <a:cs typeface="Arial"/>
                <a:sym typeface="Arial"/>
              </a:rPr>
              <a:t>①</a:t>
            </a:r>
            <a:r>
              <a:t>：让 </a:t>
            </a:r>
            <a:r>
              <a:rPr>
                <a:latin typeface="Arial"/>
                <a:ea typeface="Arial"/>
                <a:cs typeface="Arial"/>
                <a:sym typeface="Arial"/>
              </a:rPr>
              <a:t>bot </a:t>
            </a:r>
            <a:r>
              <a:t>更像专业销售</a:t>
            </a:r>
          </a:p>
        </p:txBody>
      </p:sp>
      <p:sp>
        <p:nvSpPr>
          <p:cNvPr id="781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处理异议、推荐套餐、引导升级</a:t>
            </a:r>
          </a:p>
        </p:txBody>
      </p:sp>
      <p:sp>
        <p:nvSpPr>
          <p:cNvPr id="782" name="Rectangle 5"/>
          <p:cNvSpPr/>
          <p:nvPr/>
        </p:nvSpPr>
        <p:spPr>
          <a:xfrm>
            <a:off x="365760" y="1234439"/>
            <a:ext cx="8046719" cy="419455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3" name="TextBox 6"/>
          <p:cNvSpPr txBox="1"/>
          <p:nvPr/>
        </p:nvSpPr>
        <p:spPr>
          <a:xfrm>
            <a:off x="548637" y="1270392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能做什么</a:t>
            </a:r>
          </a:p>
        </p:txBody>
      </p:sp>
      <p:sp>
        <p:nvSpPr>
          <p:cNvPr id="784" name="TextBox 7"/>
          <p:cNvSpPr txBox="1"/>
          <p:nvPr/>
        </p:nvSpPr>
        <p:spPr>
          <a:xfrm>
            <a:off x="3886198" y="1270392"/>
            <a:ext cx="24688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785" name="TextBox 8"/>
          <p:cNvSpPr txBox="1"/>
          <p:nvPr/>
        </p:nvSpPr>
        <p:spPr>
          <a:xfrm>
            <a:off x="6629399" y="1270392"/>
            <a:ext cx="1737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需要的资料</a:t>
            </a:r>
          </a:p>
        </p:txBody>
      </p:sp>
      <p:sp>
        <p:nvSpPr>
          <p:cNvPr id="786" name="Rectangle 9"/>
          <p:cNvSpPr/>
          <p:nvPr/>
        </p:nvSpPr>
        <p:spPr>
          <a:xfrm>
            <a:off x="365760" y="1653893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87" name="TextBox 10"/>
          <p:cNvSpPr txBox="1"/>
          <p:nvPr/>
        </p:nvSpPr>
        <p:spPr>
          <a:xfrm>
            <a:off x="548637" y="1749767"/>
            <a:ext cx="3108965" cy="26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回答与销售团队口径一致</a:t>
            </a:r>
          </a:p>
        </p:txBody>
      </p:sp>
      <p:sp>
        <p:nvSpPr>
          <p:cNvPr id="788" name="TextBox 11"/>
          <p:cNvSpPr txBox="1"/>
          <p:nvPr/>
        </p:nvSpPr>
        <p:spPr>
          <a:xfrm>
            <a:off x="3886198" y="1749767"/>
            <a:ext cx="2468884" cy="25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针对常见问题的官方推荐回答</a:t>
            </a:r>
          </a:p>
        </p:txBody>
      </p:sp>
      <p:grpSp>
        <p:nvGrpSpPr>
          <p:cNvPr id="791" name="Rounded Rectangle 12"/>
          <p:cNvGrpSpPr/>
          <p:nvPr/>
        </p:nvGrpSpPr>
        <p:grpSpPr>
          <a:xfrm>
            <a:off x="6583680" y="1749766"/>
            <a:ext cx="1645927" cy="359541"/>
            <a:chOff x="0" y="0"/>
            <a:chExt cx="1645925" cy="359539"/>
          </a:xfrm>
        </p:grpSpPr>
        <p:sp>
          <p:nvSpPr>
            <p:cNvPr id="789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90" name="标准回复话术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标准回复话术</a:t>
              </a:r>
            </a:p>
          </p:txBody>
        </p:sp>
      </p:grpSp>
      <p:sp>
        <p:nvSpPr>
          <p:cNvPr id="792" name="TextBox 13"/>
          <p:cNvSpPr txBox="1"/>
          <p:nvPr/>
        </p:nvSpPr>
        <p:spPr>
          <a:xfrm>
            <a:off x="548637" y="2348988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专业应对价格异议和竞品比较</a:t>
            </a:r>
          </a:p>
        </p:txBody>
      </p:sp>
      <p:sp>
        <p:nvSpPr>
          <p:cNvPr id="793" name="TextBox 14"/>
          <p:cNvSpPr txBox="1"/>
          <p:nvPr/>
        </p:nvSpPr>
        <p:spPr>
          <a:xfrm>
            <a:off x="3886198" y="2348988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太贵了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、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已用 </a:t>
            </a:r>
            <a:r>
              <a:t>Zendesk"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等场景</a:t>
            </a:r>
          </a:p>
        </p:txBody>
      </p:sp>
      <p:grpSp>
        <p:nvGrpSpPr>
          <p:cNvPr id="796" name="Rounded Rectangle 15"/>
          <p:cNvGrpSpPr/>
          <p:nvPr/>
        </p:nvGrpSpPr>
        <p:grpSpPr>
          <a:xfrm>
            <a:off x="6583680" y="2348986"/>
            <a:ext cx="1645927" cy="359541"/>
            <a:chOff x="0" y="0"/>
            <a:chExt cx="1645925" cy="359539"/>
          </a:xfrm>
        </p:grpSpPr>
        <p:sp>
          <p:nvSpPr>
            <p:cNvPr id="794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95" name="异议处理话术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异议处理话术</a:t>
              </a:r>
            </a:p>
          </p:txBody>
        </p:sp>
      </p:grpSp>
      <p:sp>
        <p:nvSpPr>
          <p:cNvPr id="797" name="Rectangle 16"/>
          <p:cNvSpPr/>
          <p:nvPr/>
        </p:nvSpPr>
        <p:spPr>
          <a:xfrm>
            <a:off x="365760" y="2852334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98" name="TextBox 17"/>
          <p:cNvSpPr txBox="1"/>
          <p:nvPr/>
        </p:nvSpPr>
        <p:spPr>
          <a:xfrm>
            <a:off x="548637" y="2948209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快速定位客户需求对应套餐</a:t>
            </a:r>
          </a:p>
        </p:txBody>
      </p:sp>
      <p:sp>
        <p:nvSpPr>
          <p:cNvPr id="799" name="TextBox 18"/>
          <p:cNvSpPr txBox="1"/>
          <p:nvPr/>
        </p:nvSpPr>
        <p:spPr>
          <a:xfrm>
            <a:off x="3886198" y="2948209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BCC/DC/OCC/CXHub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亮点介绍</a:t>
            </a:r>
          </a:p>
        </p:txBody>
      </p:sp>
      <p:grpSp>
        <p:nvGrpSpPr>
          <p:cNvPr id="802" name="Rounded Rectangle 19"/>
          <p:cNvGrpSpPr/>
          <p:nvPr/>
        </p:nvGrpSpPr>
        <p:grpSpPr>
          <a:xfrm>
            <a:off x="6583680" y="2948207"/>
            <a:ext cx="1645927" cy="359541"/>
            <a:chOff x="0" y="0"/>
            <a:chExt cx="1645925" cy="359539"/>
          </a:xfrm>
        </p:grpSpPr>
        <p:sp>
          <p:nvSpPr>
            <p:cNvPr id="800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01" name="产品亮点话术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产品亮点话术</a:t>
              </a:r>
            </a:p>
          </p:txBody>
        </p:sp>
      </p:grpSp>
      <p:sp>
        <p:nvSpPr>
          <p:cNvPr id="803" name="TextBox 20"/>
          <p:cNvSpPr txBox="1"/>
          <p:nvPr/>
        </p:nvSpPr>
        <p:spPr>
          <a:xfrm>
            <a:off x="548637" y="354743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自然引导从低套餐升级</a:t>
            </a:r>
          </a:p>
        </p:txBody>
      </p:sp>
      <p:sp>
        <p:nvSpPr>
          <p:cNvPr id="804" name="TextBox 21"/>
          <p:cNvSpPr txBox="1"/>
          <p:nvPr/>
        </p:nvSpPr>
        <p:spPr>
          <a:xfrm>
            <a:off x="3886198" y="354743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从低套餐引导至高套餐的话术</a:t>
            </a:r>
          </a:p>
        </p:txBody>
      </p:sp>
      <p:grpSp>
        <p:nvGrpSpPr>
          <p:cNvPr id="807" name="Rounded Rectangle 22"/>
          <p:cNvGrpSpPr/>
          <p:nvPr/>
        </p:nvGrpSpPr>
        <p:grpSpPr>
          <a:xfrm>
            <a:off x="6583680" y="3547430"/>
            <a:ext cx="1645927" cy="359541"/>
            <a:chOff x="0" y="0"/>
            <a:chExt cx="1645925" cy="359539"/>
          </a:xfrm>
        </p:grpSpPr>
        <p:sp>
          <p:nvSpPr>
            <p:cNvPr id="805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06" name="追加销售话术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追加销售话术</a:t>
              </a:r>
            </a:p>
          </p:txBody>
        </p:sp>
      </p:grpSp>
      <p:sp>
        <p:nvSpPr>
          <p:cNvPr id="808" name="Rectangle 23"/>
          <p:cNvSpPr/>
          <p:nvPr/>
        </p:nvSpPr>
        <p:spPr>
          <a:xfrm>
            <a:off x="365760" y="4050777"/>
            <a:ext cx="8046719" cy="599225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09" name="TextBox 24"/>
          <p:cNvSpPr txBox="1"/>
          <p:nvPr/>
        </p:nvSpPr>
        <p:spPr>
          <a:xfrm>
            <a:off x="548637" y="414665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专业应对竞品对比问题</a:t>
            </a:r>
          </a:p>
        </p:txBody>
      </p:sp>
      <p:sp>
        <p:nvSpPr>
          <p:cNvPr id="810" name="TextBox 25"/>
          <p:cNvSpPr txBox="1"/>
          <p:nvPr/>
        </p:nvSpPr>
        <p:spPr>
          <a:xfrm>
            <a:off x="3886198" y="414665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差异化优势、功能</a:t>
            </a:r>
            <a:r>
              <a:rPr>
                <a:latin typeface="Arial"/>
                <a:ea typeface="Arial"/>
                <a:cs typeface="Arial"/>
                <a:sym typeface="Arial"/>
              </a:rPr>
              <a:t>/</a:t>
            </a:r>
            <a:r>
              <a:t>价格对比</a:t>
            </a:r>
          </a:p>
        </p:txBody>
      </p:sp>
      <p:grpSp>
        <p:nvGrpSpPr>
          <p:cNvPr id="813" name="Rounded Rectangle 26"/>
          <p:cNvGrpSpPr/>
          <p:nvPr/>
        </p:nvGrpSpPr>
        <p:grpSpPr>
          <a:xfrm>
            <a:off x="6583680" y="4146650"/>
            <a:ext cx="1645927" cy="359541"/>
            <a:chOff x="0" y="0"/>
            <a:chExt cx="1645925" cy="359539"/>
          </a:xfrm>
        </p:grpSpPr>
        <p:sp>
          <p:nvSpPr>
            <p:cNvPr id="811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12" name="竞品对比资料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竞品对比资料</a:t>
              </a:r>
            </a:p>
          </p:txBody>
        </p:sp>
      </p:grpSp>
      <p:sp>
        <p:nvSpPr>
          <p:cNvPr id="814" name="TextBox 27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17" name="TextBox 2"/>
          <p:cNvSpPr txBox="1"/>
          <p:nvPr/>
        </p:nvSpPr>
        <p:spPr>
          <a:xfrm>
            <a:off x="594360" y="182878"/>
            <a:ext cx="7223760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ROADMAP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深度回答能力</a:t>
            </a:r>
          </a:p>
        </p:txBody>
      </p:sp>
      <p:sp>
        <p:nvSpPr>
          <p:cNvPr id="818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升级方向 </a:t>
            </a:r>
            <a:r>
              <a:rPr>
                <a:latin typeface="Arial"/>
                <a:ea typeface="Arial"/>
                <a:cs typeface="Arial"/>
                <a:sym typeface="Arial"/>
              </a:rPr>
              <a:t>②</a:t>
            </a:r>
            <a:r>
              <a:t>：让 </a:t>
            </a:r>
            <a:r>
              <a:rPr>
                <a:latin typeface="Arial"/>
                <a:ea typeface="Arial"/>
                <a:cs typeface="Arial"/>
                <a:sym typeface="Arial"/>
              </a:rPr>
              <a:t>bot </a:t>
            </a:r>
            <a:r>
              <a:t>回答更深入</a:t>
            </a:r>
          </a:p>
        </p:txBody>
      </p:sp>
      <p:sp>
        <p:nvSpPr>
          <p:cNvPr id="819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回答怎么用、适合哪个行业、安不安全</a:t>
            </a:r>
          </a:p>
        </p:txBody>
      </p:sp>
      <p:sp>
        <p:nvSpPr>
          <p:cNvPr id="820" name="Rectangle 5"/>
          <p:cNvSpPr/>
          <p:nvPr/>
        </p:nvSpPr>
        <p:spPr>
          <a:xfrm>
            <a:off x="365760" y="1234439"/>
            <a:ext cx="8046719" cy="419455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1" name="TextBox 6"/>
          <p:cNvSpPr txBox="1"/>
          <p:nvPr/>
        </p:nvSpPr>
        <p:spPr>
          <a:xfrm>
            <a:off x="548637" y="1270392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能做什么</a:t>
            </a:r>
          </a:p>
        </p:txBody>
      </p:sp>
      <p:sp>
        <p:nvSpPr>
          <p:cNvPr id="822" name="TextBox 7"/>
          <p:cNvSpPr txBox="1"/>
          <p:nvPr/>
        </p:nvSpPr>
        <p:spPr>
          <a:xfrm>
            <a:off x="3886198" y="1270392"/>
            <a:ext cx="24688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823" name="TextBox 8"/>
          <p:cNvSpPr txBox="1"/>
          <p:nvPr/>
        </p:nvSpPr>
        <p:spPr>
          <a:xfrm>
            <a:off x="6629399" y="1270392"/>
            <a:ext cx="1737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需要的资料</a:t>
            </a:r>
          </a:p>
        </p:txBody>
      </p:sp>
      <p:sp>
        <p:nvSpPr>
          <p:cNvPr id="824" name="Rectangle 9"/>
          <p:cNvSpPr/>
          <p:nvPr/>
        </p:nvSpPr>
        <p:spPr>
          <a:xfrm>
            <a:off x="365760" y="1653893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25" name="TextBox 10"/>
          <p:cNvSpPr txBox="1"/>
          <p:nvPr/>
        </p:nvSpPr>
        <p:spPr>
          <a:xfrm>
            <a:off x="548637" y="1749767"/>
            <a:ext cx="3108965" cy="26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</a:defRPr>
            </a:pPr>
            <a:r>
              <a:t>回答</a:t>
            </a:r>
            <a:r>
              <a:rPr>
                <a:latin typeface="Arial"/>
                <a:ea typeface="Arial"/>
                <a:cs typeface="Arial"/>
                <a:sym typeface="Arial"/>
              </a:rPr>
              <a:t>"</a:t>
            </a:r>
            <a:r>
              <a:t>功能具体怎么用？</a:t>
            </a:r>
            <a:r>
              <a:rPr>
                <a:latin typeface="Arial"/>
                <a:ea typeface="Arial"/>
                <a:cs typeface="Arial"/>
                <a:sym typeface="Arial"/>
              </a:rPr>
              <a:t>"</a:t>
            </a:r>
          </a:p>
        </p:txBody>
      </p:sp>
      <p:sp>
        <p:nvSpPr>
          <p:cNvPr id="826" name="TextBox 11"/>
          <p:cNvSpPr txBox="1"/>
          <p:nvPr/>
        </p:nvSpPr>
        <p:spPr>
          <a:xfrm>
            <a:off x="3886198" y="1749767"/>
            <a:ext cx="2468884" cy="25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使用场景、限制条件、配置方式</a:t>
            </a:r>
          </a:p>
        </p:txBody>
      </p:sp>
      <p:grpSp>
        <p:nvGrpSpPr>
          <p:cNvPr id="829" name="Rounded Rectangle 12"/>
          <p:cNvGrpSpPr/>
          <p:nvPr/>
        </p:nvGrpSpPr>
        <p:grpSpPr>
          <a:xfrm>
            <a:off x="6583680" y="1749766"/>
            <a:ext cx="1645927" cy="359541"/>
            <a:chOff x="0" y="0"/>
            <a:chExt cx="1645925" cy="359539"/>
          </a:xfrm>
        </p:grpSpPr>
        <p:sp>
          <p:nvSpPr>
            <p:cNvPr id="827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28" name="功能详细说明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功能详细说明</a:t>
              </a:r>
            </a:p>
          </p:txBody>
        </p:sp>
      </p:grpSp>
      <p:sp>
        <p:nvSpPr>
          <p:cNvPr id="830" name="TextBox 13"/>
          <p:cNvSpPr txBox="1"/>
          <p:nvPr/>
        </p:nvSpPr>
        <p:spPr>
          <a:xfrm>
            <a:off x="548637" y="2348988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</a:defRPr>
            </a:pPr>
            <a:r>
              <a:t>场景化推荐（</a:t>
            </a:r>
            <a:r>
              <a:rPr>
                <a:latin typeface="Arial"/>
                <a:ea typeface="Arial"/>
                <a:cs typeface="Arial"/>
                <a:sym typeface="Arial"/>
              </a:rPr>
              <a:t>"</a:t>
            </a:r>
            <a:r>
              <a:t>做电商的</a:t>
            </a:r>
            <a:r>
              <a:rPr>
                <a:latin typeface="Arial"/>
                <a:ea typeface="Arial"/>
                <a:cs typeface="Arial"/>
                <a:sym typeface="Arial"/>
              </a:rPr>
              <a:t>"</a:t>
            </a:r>
            <a:r>
              <a:t>）</a:t>
            </a:r>
          </a:p>
        </p:txBody>
      </p:sp>
      <p:sp>
        <p:nvSpPr>
          <p:cNvPr id="831" name="TextBox 14"/>
          <p:cNvSpPr txBox="1"/>
          <p:nvPr/>
        </p:nvSpPr>
        <p:spPr>
          <a:xfrm>
            <a:off x="3886198" y="2348988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按行业说明 </a:t>
            </a:r>
            <a:r>
              <a:rPr>
                <a:latin typeface="Arial"/>
                <a:ea typeface="Arial"/>
                <a:cs typeface="Arial"/>
                <a:sym typeface="Arial"/>
              </a:rPr>
              <a:t>CINNOX </a:t>
            </a:r>
            <a:r>
              <a:t>如何解决问题</a:t>
            </a:r>
          </a:p>
        </p:txBody>
      </p:sp>
      <p:grpSp>
        <p:nvGrpSpPr>
          <p:cNvPr id="834" name="Rounded Rectangle 15"/>
          <p:cNvGrpSpPr/>
          <p:nvPr/>
        </p:nvGrpSpPr>
        <p:grpSpPr>
          <a:xfrm>
            <a:off x="6583680" y="2348986"/>
            <a:ext cx="1645927" cy="359541"/>
            <a:chOff x="0" y="0"/>
            <a:chExt cx="1645925" cy="359539"/>
          </a:xfrm>
        </p:grpSpPr>
        <p:sp>
          <p:nvSpPr>
            <p:cNvPr id="832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33" name="行业场景文档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行业场景文档</a:t>
              </a:r>
            </a:p>
          </p:txBody>
        </p:sp>
      </p:grpSp>
      <p:sp>
        <p:nvSpPr>
          <p:cNvPr id="835" name="Rectangle 16"/>
          <p:cNvSpPr/>
          <p:nvPr/>
        </p:nvSpPr>
        <p:spPr>
          <a:xfrm>
            <a:off x="365760" y="2852334"/>
            <a:ext cx="8046719" cy="599226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36" name="TextBox 17"/>
          <p:cNvSpPr txBox="1"/>
          <p:nvPr/>
        </p:nvSpPr>
        <p:spPr>
          <a:xfrm>
            <a:off x="548637" y="2948209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权威回答安全合规问题</a:t>
            </a:r>
          </a:p>
        </p:txBody>
      </p:sp>
      <p:sp>
        <p:nvSpPr>
          <p:cNvPr id="837" name="TextBox 18"/>
          <p:cNvSpPr txBox="1"/>
          <p:nvPr/>
        </p:nvSpPr>
        <p:spPr>
          <a:xfrm>
            <a:off x="3886198" y="2948209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数据中心分布、</a:t>
            </a:r>
            <a:r>
              <a:rPr>
                <a:latin typeface="Arial"/>
                <a:ea typeface="Arial"/>
                <a:cs typeface="Arial"/>
                <a:sym typeface="Arial"/>
              </a:rPr>
              <a:t>SLA </a:t>
            </a:r>
            <a:r>
              <a:t>等</a:t>
            </a:r>
          </a:p>
        </p:txBody>
      </p:sp>
      <p:grpSp>
        <p:nvGrpSpPr>
          <p:cNvPr id="840" name="Rounded Rectangle 19"/>
          <p:cNvGrpSpPr/>
          <p:nvPr/>
        </p:nvGrpSpPr>
        <p:grpSpPr>
          <a:xfrm>
            <a:off x="6583680" y="2948207"/>
            <a:ext cx="1645927" cy="359541"/>
            <a:chOff x="0" y="0"/>
            <a:chExt cx="1645925" cy="359539"/>
          </a:xfrm>
        </p:grpSpPr>
        <p:sp>
          <p:nvSpPr>
            <p:cNvPr id="838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39" name="技术架构概述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技术架构概述</a:t>
              </a:r>
            </a:p>
          </p:txBody>
        </p:sp>
      </p:grpSp>
      <p:sp>
        <p:nvSpPr>
          <p:cNvPr id="841" name="TextBox 20"/>
          <p:cNvSpPr txBox="1"/>
          <p:nvPr/>
        </p:nvSpPr>
        <p:spPr>
          <a:xfrm>
            <a:off x="548637" y="354743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自动化测试基准</a:t>
            </a:r>
          </a:p>
        </p:txBody>
      </p:sp>
      <p:sp>
        <p:nvSpPr>
          <p:cNvPr id="842" name="TextBox 21"/>
          <p:cNvSpPr txBox="1"/>
          <p:nvPr/>
        </p:nvSpPr>
        <p:spPr>
          <a:xfrm>
            <a:off x="3886198" y="354743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每次升级后可自动验证回答质量</a:t>
            </a:r>
          </a:p>
        </p:txBody>
      </p:sp>
      <p:grpSp>
        <p:nvGrpSpPr>
          <p:cNvPr id="845" name="Rounded Rectangle 22"/>
          <p:cNvGrpSpPr/>
          <p:nvPr/>
        </p:nvGrpSpPr>
        <p:grpSpPr>
          <a:xfrm>
            <a:off x="6583680" y="3547430"/>
            <a:ext cx="1645927" cy="359541"/>
            <a:chOff x="0" y="0"/>
            <a:chExt cx="1645925" cy="359539"/>
          </a:xfrm>
        </p:grpSpPr>
        <p:sp>
          <p:nvSpPr>
            <p:cNvPr id="843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44" name="标准 QA 对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</a:defRPr>
              </a:pPr>
              <a:r>
                <a:t>标准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QA </a:t>
              </a:r>
              <a:r>
                <a:t>对</a:t>
              </a:r>
            </a:p>
          </p:txBody>
        </p:sp>
      </p:grpSp>
      <p:sp>
        <p:nvSpPr>
          <p:cNvPr id="846" name="Rectangle 23"/>
          <p:cNvSpPr/>
          <p:nvPr/>
        </p:nvSpPr>
        <p:spPr>
          <a:xfrm>
            <a:off x="365760" y="4050777"/>
            <a:ext cx="8046719" cy="599225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47" name="TextBox 24"/>
          <p:cNvSpPr txBox="1"/>
          <p:nvPr/>
        </p:nvSpPr>
        <p:spPr>
          <a:xfrm>
            <a:off x="548637" y="4146653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CBD5E1"/>
                </a:solidFill>
              </a:defRPr>
            </a:pPr>
            <a:r>
              <a:t>定义 </a:t>
            </a:r>
            <a:r>
              <a:rPr>
                <a:latin typeface="Arial"/>
                <a:ea typeface="Arial"/>
                <a:cs typeface="Arial"/>
                <a:sym typeface="Arial"/>
              </a:rPr>
              <a:t>bot </a:t>
            </a:r>
            <a:r>
              <a:t>能力边界</a:t>
            </a:r>
          </a:p>
        </p:txBody>
      </p:sp>
      <p:sp>
        <p:nvSpPr>
          <p:cNvPr id="848" name="TextBox 25"/>
          <p:cNvSpPr txBox="1"/>
          <p:nvPr/>
        </p:nvSpPr>
        <p:spPr>
          <a:xfrm>
            <a:off x="3886198" y="4146653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哪些该回答、哪些该转人工</a:t>
            </a:r>
          </a:p>
        </p:txBody>
      </p:sp>
      <p:grpSp>
        <p:nvGrpSpPr>
          <p:cNvPr id="851" name="Rounded Rectangle 26"/>
          <p:cNvGrpSpPr/>
          <p:nvPr/>
        </p:nvGrpSpPr>
        <p:grpSpPr>
          <a:xfrm>
            <a:off x="6583680" y="4146650"/>
            <a:ext cx="1645927" cy="359541"/>
            <a:chOff x="0" y="0"/>
            <a:chExt cx="1645925" cy="359539"/>
          </a:xfrm>
        </p:grpSpPr>
        <p:sp>
          <p:nvSpPr>
            <p:cNvPr id="849" name="圆角矩形"/>
            <p:cNvSpPr/>
            <p:nvPr/>
          </p:nvSpPr>
          <p:spPr>
            <a:xfrm>
              <a:off x="0" y="-1"/>
              <a:ext cx="1645926" cy="359541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0" name="边界/刁钻问题"/>
            <p:cNvSpPr txBox="1"/>
            <p:nvPr/>
          </p:nvSpPr>
          <p:spPr>
            <a:xfrm>
              <a:off x="63270" y="51496"/>
              <a:ext cx="1519385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</a:defRPr>
              </a:pPr>
              <a:r>
                <a:t>边界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t>刁钻问题</a:t>
              </a:r>
            </a:p>
          </p:txBody>
        </p:sp>
      </p:grpSp>
      <p:sp>
        <p:nvSpPr>
          <p:cNvPr id="852" name="TextBox 27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Rectangle 1"/>
          <p:cNvSpPr/>
          <p:nvPr/>
        </p:nvSpPr>
        <p:spPr>
          <a:xfrm>
            <a:off x="0" y="-4"/>
            <a:ext cx="9144000" cy="4572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5" name="TextBox 2"/>
          <p:cNvSpPr txBox="1"/>
          <p:nvPr/>
        </p:nvSpPr>
        <p:spPr>
          <a:xfrm>
            <a:off x="594360" y="182878"/>
            <a:ext cx="7223760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ROADMAP ·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多语言支持</a:t>
            </a:r>
          </a:p>
        </p:txBody>
      </p:sp>
      <p:sp>
        <p:nvSpPr>
          <p:cNvPr id="856" name="TextBox 3"/>
          <p:cNvSpPr txBox="1"/>
          <p:nvPr/>
        </p:nvSpPr>
        <p:spPr>
          <a:xfrm>
            <a:off x="594360" y="411480"/>
            <a:ext cx="7223760" cy="56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升级方向 </a:t>
            </a:r>
            <a:r>
              <a:rPr>
                <a:latin typeface="Arial"/>
                <a:ea typeface="Arial"/>
                <a:cs typeface="Arial"/>
                <a:sym typeface="Arial"/>
              </a:rPr>
              <a:t>③</a:t>
            </a:r>
            <a:r>
              <a:t>：支持多语言客户</a:t>
            </a:r>
          </a:p>
        </p:txBody>
      </p:sp>
      <p:sp>
        <p:nvSpPr>
          <p:cNvPr id="857" name="TextBox 4"/>
          <p:cNvSpPr txBox="1"/>
          <p:nvPr/>
        </p:nvSpPr>
        <p:spPr>
          <a:xfrm>
            <a:off x="594360" y="868680"/>
            <a:ext cx="7223760" cy="30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用客户的母语准确沟通，术语翻译一致</a:t>
            </a:r>
          </a:p>
        </p:txBody>
      </p:sp>
      <p:sp>
        <p:nvSpPr>
          <p:cNvPr id="858" name="Rectangle 5"/>
          <p:cNvSpPr/>
          <p:nvPr/>
        </p:nvSpPr>
        <p:spPr>
          <a:xfrm>
            <a:off x="365760" y="1234438"/>
            <a:ext cx="8046719" cy="398487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59" name="TextBox 6"/>
          <p:cNvSpPr txBox="1"/>
          <p:nvPr/>
        </p:nvSpPr>
        <p:spPr>
          <a:xfrm>
            <a:off x="548637" y="1268596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Bot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能做什么</a:t>
            </a:r>
          </a:p>
        </p:txBody>
      </p:sp>
      <p:sp>
        <p:nvSpPr>
          <p:cNvPr id="860" name="TextBox 7"/>
          <p:cNvSpPr txBox="1"/>
          <p:nvPr/>
        </p:nvSpPr>
        <p:spPr>
          <a:xfrm>
            <a:off x="3886198" y="1268596"/>
            <a:ext cx="246888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说明</a:t>
            </a:r>
          </a:p>
        </p:txBody>
      </p:sp>
      <p:sp>
        <p:nvSpPr>
          <p:cNvPr id="861" name="TextBox 8"/>
          <p:cNvSpPr txBox="1"/>
          <p:nvPr/>
        </p:nvSpPr>
        <p:spPr>
          <a:xfrm>
            <a:off x="6629399" y="1268596"/>
            <a:ext cx="1737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需要的资料</a:t>
            </a:r>
          </a:p>
        </p:txBody>
      </p:sp>
      <p:sp>
        <p:nvSpPr>
          <p:cNvPr id="862" name="Rectangle 9"/>
          <p:cNvSpPr/>
          <p:nvPr/>
        </p:nvSpPr>
        <p:spPr>
          <a:xfrm>
            <a:off x="365760" y="1632922"/>
            <a:ext cx="8046719" cy="626190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63" name="TextBox 10"/>
          <p:cNvSpPr txBox="1"/>
          <p:nvPr/>
        </p:nvSpPr>
        <p:spPr>
          <a:xfrm>
            <a:off x="548637" y="1724000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各语言术语标准翻译</a:t>
            </a:r>
          </a:p>
        </p:txBody>
      </p:sp>
      <p:sp>
        <p:nvSpPr>
          <p:cNvPr id="864" name="TextBox 11"/>
          <p:cNvSpPr txBox="1"/>
          <p:nvPr/>
        </p:nvSpPr>
        <p:spPr>
          <a:xfrm>
            <a:off x="3886198" y="1724000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基于 </a:t>
            </a:r>
            <a:r>
              <a:rPr>
                <a:latin typeface="Arial"/>
                <a:ea typeface="Arial"/>
                <a:cs typeface="Arial"/>
                <a:sym typeface="Arial"/>
              </a:rPr>
              <a:t>355 </a:t>
            </a:r>
            <a:r>
              <a:t>条 </a:t>
            </a:r>
            <a:r>
              <a:rPr>
                <a:latin typeface="Arial"/>
                <a:ea typeface="Arial"/>
                <a:cs typeface="Arial"/>
                <a:sym typeface="Arial"/>
              </a:rPr>
              <a:t>Glossary </a:t>
            </a:r>
            <a:r>
              <a:t>提供对应术语</a:t>
            </a:r>
          </a:p>
        </p:txBody>
      </p:sp>
      <p:grpSp>
        <p:nvGrpSpPr>
          <p:cNvPr id="867" name="Rounded Rectangle 12"/>
          <p:cNvGrpSpPr/>
          <p:nvPr/>
        </p:nvGrpSpPr>
        <p:grpSpPr>
          <a:xfrm>
            <a:off x="6583680" y="1723998"/>
            <a:ext cx="1645927" cy="341564"/>
            <a:chOff x="0" y="0"/>
            <a:chExt cx="1645925" cy="341562"/>
          </a:xfrm>
        </p:grpSpPr>
        <p:sp>
          <p:nvSpPr>
            <p:cNvPr id="865" name="圆角矩形"/>
            <p:cNvSpPr/>
            <p:nvPr/>
          </p:nvSpPr>
          <p:spPr>
            <a:xfrm>
              <a:off x="0" y="-1"/>
              <a:ext cx="1645926" cy="341563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6" name="多语言术语表"/>
            <p:cNvSpPr txBox="1"/>
            <p:nvPr/>
          </p:nvSpPr>
          <p:spPr>
            <a:xfrm>
              <a:off x="62392" y="42507"/>
              <a:ext cx="1521141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多语言术语表</a:t>
              </a:r>
            </a:p>
          </p:txBody>
        </p:sp>
      </p:grpSp>
      <p:sp>
        <p:nvSpPr>
          <p:cNvPr id="868" name="TextBox 13"/>
          <p:cNvSpPr txBox="1"/>
          <p:nvPr/>
        </p:nvSpPr>
        <p:spPr>
          <a:xfrm>
            <a:off x="548637" y="2350186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语气符合当地客户习惯</a:t>
            </a:r>
          </a:p>
        </p:txBody>
      </p:sp>
      <p:sp>
        <p:nvSpPr>
          <p:cNvPr id="869" name="TextBox 14"/>
          <p:cNvSpPr txBox="1"/>
          <p:nvPr/>
        </p:nvSpPr>
        <p:spPr>
          <a:xfrm>
            <a:off x="3886198" y="2350186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各目标语言的常见问答模板</a:t>
            </a:r>
          </a:p>
        </p:txBody>
      </p:sp>
      <p:grpSp>
        <p:nvGrpSpPr>
          <p:cNvPr id="872" name="Rounded Rectangle 15"/>
          <p:cNvGrpSpPr/>
          <p:nvPr/>
        </p:nvGrpSpPr>
        <p:grpSpPr>
          <a:xfrm>
            <a:off x="6583680" y="2350184"/>
            <a:ext cx="1645927" cy="341564"/>
            <a:chOff x="0" y="0"/>
            <a:chExt cx="1645925" cy="341562"/>
          </a:xfrm>
        </p:grpSpPr>
        <p:sp>
          <p:nvSpPr>
            <p:cNvPr id="870" name="圆角矩形"/>
            <p:cNvSpPr/>
            <p:nvPr/>
          </p:nvSpPr>
          <p:spPr>
            <a:xfrm>
              <a:off x="0" y="-1"/>
              <a:ext cx="1645926" cy="341563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71" name="多语言问答模板"/>
            <p:cNvSpPr txBox="1"/>
            <p:nvPr/>
          </p:nvSpPr>
          <p:spPr>
            <a:xfrm>
              <a:off x="62392" y="42507"/>
              <a:ext cx="1521141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多语言问答模板</a:t>
              </a:r>
            </a:p>
          </p:txBody>
        </p:sp>
      </p:grpSp>
      <p:sp>
        <p:nvSpPr>
          <p:cNvPr id="873" name="Rectangle 16"/>
          <p:cNvSpPr/>
          <p:nvPr/>
        </p:nvSpPr>
        <p:spPr>
          <a:xfrm>
            <a:off x="365760" y="2885294"/>
            <a:ext cx="8046719" cy="626190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4" name="TextBox 17"/>
          <p:cNvSpPr txBox="1"/>
          <p:nvPr/>
        </p:nvSpPr>
        <p:spPr>
          <a:xfrm>
            <a:off x="548637" y="2976372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针对当地市场异议点</a:t>
            </a:r>
          </a:p>
        </p:txBody>
      </p:sp>
      <p:sp>
        <p:nvSpPr>
          <p:cNvPr id="875" name="TextBox 18"/>
          <p:cNvSpPr txBox="1"/>
          <p:nvPr/>
        </p:nvSpPr>
        <p:spPr>
          <a:xfrm>
            <a:off x="3886198" y="2976372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不同市场客户关注点不同</a:t>
            </a:r>
          </a:p>
        </p:txBody>
      </p:sp>
      <p:grpSp>
        <p:nvGrpSpPr>
          <p:cNvPr id="878" name="Rounded Rectangle 19"/>
          <p:cNvGrpSpPr/>
          <p:nvPr/>
        </p:nvGrpSpPr>
        <p:grpSpPr>
          <a:xfrm>
            <a:off x="6583680" y="2976370"/>
            <a:ext cx="1645927" cy="341564"/>
            <a:chOff x="0" y="0"/>
            <a:chExt cx="1645925" cy="341562"/>
          </a:xfrm>
        </p:grpSpPr>
        <p:sp>
          <p:nvSpPr>
            <p:cNvPr id="876" name="圆角矩形"/>
            <p:cNvSpPr/>
            <p:nvPr/>
          </p:nvSpPr>
          <p:spPr>
            <a:xfrm>
              <a:off x="0" y="-1"/>
              <a:ext cx="1645926" cy="341563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77" name="多语言话术"/>
            <p:cNvSpPr txBox="1"/>
            <p:nvPr/>
          </p:nvSpPr>
          <p:spPr>
            <a:xfrm>
              <a:off x="62392" y="42507"/>
              <a:ext cx="1521141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多语言话术</a:t>
              </a:r>
            </a:p>
          </p:txBody>
        </p:sp>
      </p:grpSp>
      <p:sp>
        <p:nvSpPr>
          <p:cNvPr id="879" name="TextBox 20"/>
          <p:cNvSpPr txBox="1"/>
          <p:nvPr/>
        </p:nvSpPr>
        <p:spPr>
          <a:xfrm>
            <a:off x="548637" y="3602561"/>
            <a:ext cx="3108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000">
                <a:solidFill>
                  <a:srgbClr val="CBD5E1"/>
                </a:solidFill>
              </a:defRPr>
            </a:lvl1pPr>
          </a:lstStyle>
          <a:p>
            <a:pPr/>
            <a:r>
              <a:t>确定开发优先级</a:t>
            </a:r>
          </a:p>
        </p:txBody>
      </p:sp>
      <p:sp>
        <p:nvSpPr>
          <p:cNvPr id="880" name="TextBox 21"/>
          <p:cNvSpPr txBox="1"/>
          <p:nvPr/>
        </p:nvSpPr>
        <p:spPr>
          <a:xfrm>
            <a:off x="3886198" y="3602561"/>
            <a:ext cx="2468884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需要支持哪些语言、优先级排序</a:t>
            </a:r>
          </a:p>
        </p:txBody>
      </p:sp>
      <p:grpSp>
        <p:nvGrpSpPr>
          <p:cNvPr id="883" name="Rounded Rectangle 22"/>
          <p:cNvGrpSpPr/>
          <p:nvPr/>
        </p:nvGrpSpPr>
        <p:grpSpPr>
          <a:xfrm>
            <a:off x="6583680" y="3602558"/>
            <a:ext cx="1645927" cy="341564"/>
            <a:chOff x="0" y="0"/>
            <a:chExt cx="1645925" cy="341562"/>
          </a:xfrm>
        </p:grpSpPr>
        <p:sp>
          <p:nvSpPr>
            <p:cNvPr id="881" name="圆角矩形"/>
            <p:cNvSpPr/>
            <p:nvPr/>
          </p:nvSpPr>
          <p:spPr>
            <a:xfrm>
              <a:off x="0" y="-1"/>
              <a:ext cx="1645926" cy="341563"/>
            </a:xfrm>
            <a:prstGeom prst="roundRect">
              <a:avLst>
                <a:gd name="adj" fmla="val 16667"/>
              </a:avLst>
            </a:prstGeom>
            <a:solidFill>
              <a:srgbClr val="78350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82" name="目标语言排序"/>
            <p:cNvSpPr txBox="1"/>
            <p:nvPr/>
          </p:nvSpPr>
          <p:spPr>
            <a:xfrm>
              <a:off x="62392" y="42507"/>
              <a:ext cx="1521141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900">
                  <a:solidFill>
                    <a:srgbClr val="F59E0B"/>
                  </a:solidFill>
                </a:defRPr>
              </a:lvl1pPr>
            </a:lstStyle>
            <a:p>
              <a:pPr/>
              <a:r>
                <a:t>目标语言排序</a:t>
              </a:r>
            </a:p>
          </p:txBody>
        </p:sp>
      </p:grpSp>
      <p:grpSp>
        <p:nvGrpSpPr>
          <p:cNvPr id="886" name="Rounded Rectangle 23"/>
          <p:cNvGrpSpPr/>
          <p:nvPr/>
        </p:nvGrpSpPr>
        <p:grpSpPr>
          <a:xfrm>
            <a:off x="365756" y="4251518"/>
            <a:ext cx="3657608" cy="398490"/>
            <a:chOff x="0" y="0"/>
            <a:chExt cx="3657607" cy="398489"/>
          </a:xfrm>
        </p:grpSpPr>
        <p:sp>
          <p:nvSpPr>
            <p:cNvPr id="884" name="圆角矩形"/>
            <p:cNvSpPr/>
            <p:nvPr/>
          </p:nvSpPr>
          <p:spPr>
            <a:xfrm>
              <a:off x="-1" y="-1"/>
              <a:ext cx="3657608" cy="398490"/>
            </a:xfrm>
            <a:prstGeom prst="roundRect">
              <a:avLst>
                <a:gd name="adj" fmla="val 16667"/>
              </a:avLst>
            </a:prstGeom>
            <a:solidFill>
              <a:srgbClr val="131C3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100">
                  <a:solidFill>
                    <a:srgbClr val="0891B2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85" name="目标语言：泰语 / 中文 / 其他"/>
            <p:cNvSpPr txBox="1"/>
            <p:nvPr/>
          </p:nvSpPr>
          <p:spPr>
            <a:xfrm>
              <a:off x="65170" y="51921"/>
              <a:ext cx="3527266" cy="294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100">
                  <a:solidFill>
                    <a:srgbClr val="0891B2"/>
                  </a:solidFill>
                </a:defRPr>
              </a:pPr>
              <a:r>
                <a:t>目标语言：泰语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t>中文 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t>其他</a:t>
              </a:r>
            </a:p>
          </p:txBody>
        </p:sp>
      </p:grpSp>
      <p:sp>
        <p:nvSpPr>
          <p:cNvPr id="887" name="TextBox 24"/>
          <p:cNvSpPr txBox="1"/>
          <p:nvPr/>
        </p:nvSpPr>
        <p:spPr>
          <a:xfrm>
            <a:off x="7818118" y="4754879"/>
            <a:ext cx="1005843" cy="214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HeaderBar"/>
          <p:cNvSpPr/>
          <p:nvPr/>
        </p:nvSpPr>
        <p:spPr>
          <a:xfrm>
            <a:off x="0" y="-2"/>
            <a:ext cx="9144000" cy="796830"/>
          </a:xfrm>
          <a:prstGeom prst="rect">
            <a:avLst/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0" name="BadgeBg"/>
          <p:cNvSpPr/>
          <p:nvPr/>
        </p:nvSpPr>
        <p:spPr>
          <a:xfrm>
            <a:off x="381000" y="276225"/>
            <a:ext cx="1157139" cy="244376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1" name="AppendixLabel"/>
          <p:cNvSpPr txBox="1"/>
          <p:nvPr/>
        </p:nvSpPr>
        <p:spPr>
          <a:xfrm>
            <a:off x="533398" y="326975"/>
            <a:ext cx="86938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APPENDIX</a:t>
            </a:r>
          </a:p>
        </p:txBody>
      </p:sp>
      <p:sp>
        <p:nvSpPr>
          <p:cNvPr id="892" name="SlideTitle"/>
          <p:cNvSpPr txBox="1"/>
          <p:nvPr/>
        </p:nvSpPr>
        <p:spPr>
          <a:xfrm>
            <a:off x="1741287" y="203142"/>
            <a:ext cx="580000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希望 CINNOX 进一步提供的补充资料</a:t>
            </a:r>
          </a:p>
        </p:txBody>
      </p:sp>
      <p:sp>
        <p:nvSpPr>
          <p:cNvPr id="893" name="AccentStripe"/>
          <p:cNvSpPr/>
          <p:nvPr/>
        </p:nvSpPr>
        <p:spPr>
          <a:xfrm>
            <a:off x="0" y="796828"/>
            <a:ext cx="9144000" cy="76205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4" name="LeftCard"/>
          <p:cNvSpPr/>
          <p:nvPr/>
        </p:nvSpPr>
        <p:spPr>
          <a:xfrm>
            <a:off x="381000" y="920000"/>
            <a:ext cx="4140002" cy="4050001"/>
          </a:xfrm>
          <a:prstGeom prst="roundRect">
            <a:avLst>
              <a:gd name="adj" fmla="val 3000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95" name="LeftAccentLine"/>
          <p:cNvSpPr/>
          <p:nvPr/>
        </p:nvSpPr>
        <p:spPr>
          <a:xfrm flipH="1">
            <a:off x="404813" y="920000"/>
            <a:ext cx="9" cy="4050001"/>
          </a:xfrm>
          <a:prstGeom prst="line">
            <a:avLst/>
          </a:prstGeom>
          <a:ln w="47625">
            <a:solidFill>
              <a:srgbClr val="065A8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LeftCardTitle"/>
          <p:cNvSpPr txBox="1"/>
          <p:nvPr/>
        </p:nvSpPr>
        <p:spPr>
          <a:xfrm>
            <a:off x="581021" y="1000000"/>
            <a:ext cx="39000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补充资料清单</a:t>
            </a:r>
          </a:p>
        </p:txBody>
      </p:sp>
      <p:sp>
        <p:nvSpPr>
          <p:cNvPr id="897" name="Sec1Hdr"/>
          <p:cNvSpPr txBox="1"/>
          <p:nvPr/>
        </p:nvSpPr>
        <p:spPr>
          <a:xfrm>
            <a:off x="581021" y="1190000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一、话术清单</a:t>
            </a:r>
          </a:p>
        </p:txBody>
      </p:sp>
      <p:sp>
        <p:nvSpPr>
          <p:cNvPr id="898" name="Sec1Items"/>
          <p:cNvSpPr txBox="1"/>
          <p:nvPr/>
        </p:nvSpPr>
        <p:spPr>
          <a:xfrm>
            <a:off x="581021" y="1344998"/>
            <a:ext cx="3900000" cy="561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标准回复话术</a:t>
            </a:r>
            <a:r>
              <a:rPr b="0">
                <a:solidFill>
                  <a:srgbClr val="065A82"/>
                </a:solidFill>
              </a:rPr>
              <a:t> — 常见问题官方推荐回答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异议处理话术</a:t>
            </a:r>
            <a:r>
              <a:rPr b="0">
                <a:solidFill>
                  <a:srgbClr val="065A82"/>
                </a:solidFill>
              </a:rPr>
              <a:t> — “太贵了”/“用 Zendesk”等场景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产品亮点话术</a:t>
            </a:r>
            <a:r>
              <a:rPr b="0">
                <a:solidFill>
                  <a:srgbClr val="065A82"/>
                </a:solidFill>
              </a:rPr>
              <a:t> — 各套餐（BCC/DC/OCC/CXHub）1-2句亮点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追加销售话术</a:t>
            </a:r>
            <a:r>
              <a:rPr b="0">
                <a:solidFill>
                  <a:srgbClr val="065A82"/>
                </a:solidFill>
              </a:rPr>
              <a:t> — 低套餐引导至高套餐话术模板</a:t>
            </a:r>
          </a:p>
        </p:txBody>
      </p:sp>
      <p:sp>
        <p:nvSpPr>
          <p:cNvPr id="899" name="Sec2Hdr"/>
          <p:cNvSpPr txBox="1"/>
          <p:nvPr/>
        </p:nvSpPr>
        <p:spPr>
          <a:xfrm>
            <a:off x="581021" y="2174999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二、测试问题集</a:t>
            </a:r>
          </a:p>
        </p:txBody>
      </p:sp>
      <p:sp>
        <p:nvSpPr>
          <p:cNvPr id="900" name="Sec2Items"/>
          <p:cNvSpPr txBox="1"/>
          <p:nvPr/>
        </p:nvSpPr>
        <p:spPr>
          <a:xfrm>
            <a:off x="581021" y="2330000"/>
            <a:ext cx="3900000" cy="421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高频客户问题 Top 30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带标准答案的 QA 对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边界 / 刀钓问题</a:t>
            </a:r>
          </a:p>
        </p:txBody>
      </p:sp>
      <p:sp>
        <p:nvSpPr>
          <p:cNvPr id="901" name="Sec3Hdr"/>
          <p:cNvSpPr txBox="1"/>
          <p:nvPr/>
        </p:nvSpPr>
        <p:spPr>
          <a:xfrm>
            <a:off x="581021" y="2924998"/>
            <a:ext cx="39000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三、术语科普 / 业务文档</a:t>
            </a:r>
          </a:p>
        </p:txBody>
      </p:sp>
      <p:sp>
        <p:nvSpPr>
          <p:cNvPr id="902" name="Sec3Items"/>
          <p:cNvSpPr txBox="1"/>
          <p:nvPr/>
        </p:nvSpPr>
        <p:spPr>
          <a:xfrm>
            <a:off x="581021" y="3079999"/>
            <a:ext cx="3900000" cy="561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术语表 ✅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功能详细说明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行业场景文档（如有）</a:t>
            </a:r>
            <a:r>
              <a:rPr b="0">
                <a:solidFill>
                  <a:srgbClr val="065A82"/>
                </a:solidFill>
              </a:rPr>
              <a:t> — 金融/电商/物流等</a:t>
            </a:r>
            <a:endParaRPr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b="1"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技术架构概述</a:t>
            </a:r>
            <a:r>
              <a:rPr b="0">
                <a:solidFill>
                  <a:srgbClr val="065A82"/>
                </a:solidFill>
              </a:rPr>
              <a:t> — 安全合规、数据中心、SLA 等</a:t>
            </a:r>
          </a:p>
        </p:txBody>
      </p:sp>
      <p:sp>
        <p:nvSpPr>
          <p:cNvPr id="903" name="RightCard"/>
          <p:cNvSpPr/>
          <p:nvPr/>
        </p:nvSpPr>
        <p:spPr>
          <a:xfrm>
            <a:off x="4622998" y="920000"/>
            <a:ext cx="4140002" cy="4050001"/>
          </a:xfrm>
          <a:prstGeom prst="roundRect">
            <a:avLst>
              <a:gd name="adj" fmla="val 3000"/>
            </a:avLst>
          </a:prstGeom>
          <a:solidFill>
            <a:srgbClr val="131C3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04" name="RightAccentLine"/>
          <p:cNvSpPr/>
          <p:nvPr/>
        </p:nvSpPr>
        <p:spPr>
          <a:xfrm flipH="1">
            <a:off x="4646812" y="920000"/>
            <a:ext cx="9" cy="4050001"/>
          </a:xfrm>
          <a:prstGeom prst="line">
            <a:avLst/>
          </a:prstGeom>
          <a:ln w="47625">
            <a:solidFill>
              <a:srgbClr val="0891B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RightCardTitle"/>
          <p:cNvSpPr txBox="1"/>
          <p:nvPr/>
        </p:nvSpPr>
        <p:spPr>
          <a:xfrm>
            <a:off x="4823021" y="1000000"/>
            <a:ext cx="390000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资料格式建议</a:t>
            </a:r>
          </a:p>
        </p:txBody>
      </p:sp>
      <p:sp>
        <p:nvSpPr>
          <p:cNvPr id="906" name="RightSubtitle"/>
          <p:cNvSpPr txBox="1"/>
          <p:nvPr/>
        </p:nvSpPr>
        <p:spPr>
          <a:xfrm>
            <a:off x="4823021" y="1165000"/>
            <a:ext cx="390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为最优化知识库切分与使用效果，建议按以下格式提供：</a:t>
            </a:r>
          </a:p>
        </p:txBody>
      </p:sp>
      <p:sp>
        <p:nvSpPr>
          <p:cNvPr id="907" name="FmtBg1"/>
          <p:cNvSpPr/>
          <p:nvPr/>
        </p:nvSpPr>
        <p:spPr>
          <a:xfrm>
            <a:off x="4823021" y="1414998"/>
            <a:ext cx="3880004" cy="640006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910" name="FmtNum1"/>
          <p:cNvGrpSpPr/>
          <p:nvPr/>
        </p:nvGrpSpPr>
        <p:grpSpPr>
          <a:xfrm>
            <a:off x="4867996" y="1444994"/>
            <a:ext cx="260013" cy="260013"/>
            <a:chOff x="-1" y="-1"/>
            <a:chExt cx="260012" cy="260012"/>
          </a:xfrm>
        </p:grpSpPr>
        <p:sp>
          <p:nvSpPr>
            <p:cNvPr id="908" name="圆形"/>
            <p:cNvSpPr/>
            <p:nvPr/>
          </p:nvSpPr>
          <p:spPr>
            <a:xfrm>
              <a:off x="-2" y="-2"/>
              <a:ext cx="260014" cy="260014"/>
            </a:xfrm>
            <a:prstGeom prst="ellipse">
              <a:avLst/>
            </a:prstGeom>
            <a:solidFill>
              <a:srgbClr val="0891B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131C3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09" name="1"/>
            <p:cNvSpPr txBox="1"/>
            <p:nvPr/>
          </p:nvSpPr>
          <p:spPr>
            <a:xfrm>
              <a:off x="38076" y="66500"/>
              <a:ext cx="18385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911" name="FmtTxt1"/>
          <p:cNvSpPr txBox="1"/>
          <p:nvPr/>
        </p:nvSpPr>
        <p:spPr>
          <a:xfrm>
            <a:off x="5149998" y="1435000"/>
            <a:ext cx="3520002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结构化优先</a:t>
            </a:r>
            <a:endParaRPr sz="700"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格式优先级：Excel/CSV &gt; PDF &gt; PPT。结构化数据更易于精确切分和检索。</a:t>
            </a:r>
          </a:p>
        </p:txBody>
      </p:sp>
      <p:sp>
        <p:nvSpPr>
          <p:cNvPr id="912" name="FmtBg2"/>
          <p:cNvSpPr/>
          <p:nvPr/>
        </p:nvSpPr>
        <p:spPr>
          <a:xfrm>
            <a:off x="4823021" y="2099997"/>
            <a:ext cx="3880004" cy="640006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915" name="FmtNum2"/>
          <p:cNvGrpSpPr/>
          <p:nvPr/>
        </p:nvGrpSpPr>
        <p:grpSpPr>
          <a:xfrm>
            <a:off x="4867996" y="2129997"/>
            <a:ext cx="260013" cy="260013"/>
            <a:chOff x="-1" y="-1"/>
            <a:chExt cx="260012" cy="260012"/>
          </a:xfrm>
        </p:grpSpPr>
        <p:sp>
          <p:nvSpPr>
            <p:cNvPr id="913" name="圆形"/>
            <p:cNvSpPr/>
            <p:nvPr/>
          </p:nvSpPr>
          <p:spPr>
            <a:xfrm>
              <a:off x="-2" y="-2"/>
              <a:ext cx="260014" cy="260014"/>
            </a:xfrm>
            <a:prstGeom prst="ellipse">
              <a:avLst/>
            </a:prstGeom>
            <a:solidFill>
              <a:srgbClr val="0891B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131C3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14" name="2"/>
            <p:cNvSpPr txBox="1"/>
            <p:nvPr/>
          </p:nvSpPr>
          <p:spPr>
            <a:xfrm>
              <a:off x="38076" y="66500"/>
              <a:ext cx="18385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16" name="FmtTxt2"/>
          <p:cNvSpPr txBox="1"/>
          <p:nvPr/>
        </p:nvSpPr>
        <p:spPr>
          <a:xfrm>
            <a:off x="5149998" y="2120000"/>
            <a:ext cx="3520002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主题独立</a:t>
            </a:r>
            <a:endParaRPr sz="700"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每个功能/问题/话术独立成段，避免长段落混合多个主题，提升知识块纯度。</a:t>
            </a:r>
          </a:p>
        </p:txBody>
      </p:sp>
      <p:sp>
        <p:nvSpPr>
          <p:cNvPr id="917" name="FmtBg3"/>
          <p:cNvSpPr/>
          <p:nvPr/>
        </p:nvSpPr>
        <p:spPr>
          <a:xfrm>
            <a:off x="4823021" y="2784998"/>
            <a:ext cx="3880004" cy="640006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920" name="FmtNum3"/>
          <p:cNvGrpSpPr/>
          <p:nvPr/>
        </p:nvGrpSpPr>
        <p:grpSpPr>
          <a:xfrm>
            <a:off x="4867996" y="2814995"/>
            <a:ext cx="260013" cy="260013"/>
            <a:chOff x="-1" y="-1"/>
            <a:chExt cx="260012" cy="260012"/>
          </a:xfrm>
        </p:grpSpPr>
        <p:sp>
          <p:nvSpPr>
            <p:cNvPr id="918" name="圆形"/>
            <p:cNvSpPr/>
            <p:nvPr/>
          </p:nvSpPr>
          <p:spPr>
            <a:xfrm>
              <a:off x="-2" y="-2"/>
              <a:ext cx="260014" cy="260014"/>
            </a:xfrm>
            <a:prstGeom prst="ellipse">
              <a:avLst/>
            </a:prstGeom>
            <a:solidFill>
              <a:srgbClr val="0891B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131C3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19" name="3"/>
            <p:cNvSpPr txBox="1"/>
            <p:nvPr/>
          </p:nvSpPr>
          <p:spPr>
            <a:xfrm>
              <a:off x="38076" y="66500"/>
              <a:ext cx="18385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921" name="FmtTxt3"/>
          <p:cNvSpPr txBox="1"/>
          <p:nvPr/>
        </p:nvSpPr>
        <p:spPr>
          <a:xfrm>
            <a:off x="5149998" y="2804997"/>
            <a:ext cx="3520002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采用 QA 对格式</a:t>
            </a:r>
            <a:endParaRPr sz="700"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"Q: 问题 / A: 答案"，天然形成完整知识单元</a:t>
            </a:r>
          </a:p>
        </p:txBody>
      </p:sp>
      <p:sp>
        <p:nvSpPr>
          <p:cNvPr id="922" name="FmtBg4"/>
          <p:cNvSpPr/>
          <p:nvPr/>
        </p:nvSpPr>
        <p:spPr>
          <a:xfrm>
            <a:off x="4823021" y="3469999"/>
            <a:ext cx="3880004" cy="640005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925" name="FmtNum4"/>
          <p:cNvGrpSpPr/>
          <p:nvPr/>
        </p:nvGrpSpPr>
        <p:grpSpPr>
          <a:xfrm>
            <a:off x="4867996" y="3499995"/>
            <a:ext cx="260013" cy="260013"/>
            <a:chOff x="-1" y="-1"/>
            <a:chExt cx="260012" cy="260012"/>
          </a:xfrm>
        </p:grpSpPr>
        <p:sp>
          <p:nvSpPr>
            <p:cNvPr id="923" name="圆形"/>
            <p:cNvSpPr/>
            <p:nvPr/>
          </p:nvSpPr>
          <p:spPr>
            <a:xfrm>
              <a:off x="-2" y="-2"/>
              <a:ext cx="260014" cy="260014"/>
            </a:xfrm>
            <a:prstGeom prst="ellipse">
              <a:avLst/>
            </a:prstGeom>
            <a:solidFill>
              <a:srgbClr val="0891B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900">
                  <a:solidFill>
                    <a:srgbClr val="131C3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4" name="4"/>
            <p:cNvSpPr txBox="1"/>
            <p:nvPr/>
          </p:nvSpPr>
          <p:spPr>
            <a:xfrm>
              <a:off x="38076" y="66500"/>
              <a:ext cx="183856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926" name="FmtTxt4"/>
          <p:cNvSpPr txBox="1"/>
          <p:nvPr/>
        </p:nvSpPr>
        <p:spPr>
          <a:xfrm>
            <a:off x="5149998" y="3490000"/>
            <a:ext cx="3520002" cy="281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标注版本和日期</a:t>
            </a:r>
            <a:endParaRPr sz="700">
              <a:solidFill>
                <a:srgbClr val="065A82"/>
              </a:solidFill>
            </a:endParaRPr>
          </a:p>
          <a:p>
            <a:pPr>
              <a:lnSpc>
                <a:spcPts val="1100"/>
              </a:lnSpc>
              <a:defRPr sz="7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便于后续知识库的更新与版本管理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Text 0"/>
          <p:cNvSpPr/>
          <p:nvPr/>
        </p:nvSpPr>
        <p:spPr>
          <a:xfrm>
            <a:off x="380998" y="276225"/>
            <a:ext cx="1231854" cy="244376"/>
          </a:xfrm>
          <a:prstGeom prst="rect">
            <a:avLst/>
          </a:prstGeom>
          <a:solidFill>
            <a:srgbClr val="22C55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9" name="Text 1"/>
          <p:cNvSpPr txBox="1"/>
          <p:nvPr/>
        </p:nvSpPr>
        <p:spPr>
          <a:xfrm>
            <a:off x="533398" y="326975"/>
            <a:ext cx="94559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930" name="Text 2"/>
          <p:cNvSpPr txBox="1"/>
          <p:nvPr/>
        </p:nvSpPr>
        <p:spPr>
          <a:xfrm>
            <a:off x="1815999" y="203142"/>
            <a:ext cx="113991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现场演示</a:t>
            </a:r>
          </a:p>
        </p:txBody>
      </p:sp>
      <p:sp>
        <p:nvSpPr>
          <p:cNvPr id="931" name="Text 3"/>
          <p:cNvSpPr txBox="1"/>
          <p:nvPr/>
        </p:nvSpPr>
        <p:spPr>
          <a:xfrm>
            <a:off x="380999" y="669875"/>
            <a:ext cx="85496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Demo 界面进行实际演示</a:t>
            </a:r>
          </a:p>
        </p:txBody>
      </p:sp>
      <p:sp>
        <p:nvSpPr>
          <p:cNvPr id="932" name="Text 4"/>
          <p:cNvSpPr/>
          <p:nvPr/>
        </p:nvSpPr>
        <p:spPr>
          <a:xfrm>
            <a:off x="381000" y="971400"/>
            <a:ext cx="2709267" cy="1098950"/>
          </a:xfrm>
          <a:prstGeom prst="roundRect">
            <a:avLst>
              <a:gd name="adj" fmla="val 6934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3" name="Shape 5"/>
          <p:cNvSpPr/>
          <p:nvPr/>
        </p:nvSpPr>
        <p:spPr>
          <a:xfrm flipH="1">
            <a:off x="400049" y="971399"/>
            <a:ext cx="10" cy="1098957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Text 6"/>
          <p:cNvSpPr txBox="1"/>
          <p:nvPr/>
        </p:nvSpPr>
        <p:spPr>
          <a:xfrm>
            <a:off x="571500" y="1098352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35" name="Text 7"/>
          <p:cNvSpPr txBox="1"/>
          <p:nvPr/>
        </p:nvSpPr>
        <p:spPr>
          <a:xfrm>
            <a:off x="571500" y="138767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新客户咨询产品</a:t>
            </a:r>
          </a:p>
        </p:txBody>
      </p:sp>
      <p:sp>
        <p:nvSpPr>
          <p:cNvPr id="936" name="Text 8"/>
          <p:cNvSpPr txBox="1"/>
          <p:nvPr/>
        </p:nvSpPr>
        <p:spPr>
          <a:xfrm>
            <a:off x="571500" y="1603325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模拟新访客询问 WhatsApp 集成</a:t>
            </a:r>
          </a:p>
        </p:txBody>
      </p:sp>
      <p:sp>
        <p:nvSpPr>
          <p:cNvPr id="937" name="Text 9"/>
          <p:cNvSpPr txBox="1"/>
          <p:nvPr/>
        </p:nvSpPr>
        <p:spPr>
          <a:xfrm>
            <a:off x="571500" y="1786084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线索收集 + RAG 产品问答</a:t>
            </a:r>
          </a:p>
        </p:txBody>
      </p:sp>
      <p:sp>
        <p:nvSpPr>
          <p:cNvPr id="938" name="Text 10"/>
          <p:cNvSpPr/>
          <p:nvPr/>
        </p:nvSpPr>
        <p:spPr>
          <a:xfrm>
            <a:off x="3217216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39" name="Shape 11"/>
          <p:cNvSpPr/>
          <p:nvPr/>
        </p:nvSpPr>
        <p:spPr>
          <a:xfrm flipH="1">
            <a:off x="3236266" y="971399"/>
            <a:ext cx="9" cy="1098957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Text 12"/>
          <p:cNvSpPr txBox="1"/>
          <p:nvPr/>
        </p:nvSpPr>
        <p:spPr>
          <a:xfrm>
            <a:off x="3407717" y="1098352"/>
            <a:ext cx="2413856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41" name="Text 13"/>
          <p:cNvSpPr txBox="1"/>
          <p:nvPr/>
        </p:nvSpPr>
        <p:spPr>
          <a:xfrm>
            <a:off x="3407717" y="1387671"/>
            <a:ext cx="2413856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精准定价查询</a:t>
            </a:r>
          </a:p>
        </p:txBody>
      </p:sp>
      <p:sp>
        <p:nvSpPr>
          <p:cNvPr id="942" name="Text 14"/>
          <p:cNvSpPr txBox="1"/>
          <p:nvPr/>
        </p:nvSpPr>
        <p:spPr>
          <a:xfrm>
            <a:off x="3407717" y="1603325"/>
            <a:ext cx="2413856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客户询问多国 DID 价格</a:t>
            </a:r>
          </a:p>
        </p:txBody>
      </p:sp>
      <p:sp>
        <p:nvSpPr>
          <p:cNvPr id="943" name="Text 15"/>
          <p:cNvSpPr txBox="1"/>
          <p:nvPr/>
        </p:nvSpPr>
        <p:spPr>
          <a:xfrm>
            <a:off x="3407717" y="1786084"/>
            <a:ext cx="2413856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多轮上下文 + 不编造价格</a:t>
            </a:r>
          </a:p>
        </p:txBody>
      </p:sp>
      <p:sp>
        <p:nvSpPr>
          <p:cNvPr id="944" name="Text 16"/>
          <p:cNvSpPr/>
          <p:nvPr/>
        </p:nvSpPr>
        <p:spPr>
          <a:xfrm>
            <a:off x="6053582" y="971400"/>
            <a:ext cx="2709418" cy="1098950"/>
          </a:xfrm>
          <a:prstGeom prst="roundRect">
            <a:avLst>
              <a:gd name="adj" fmla="val 6934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45" name="Shape 17"/>
          <p:cNvSpPr/>
          <p:nvPr/>
        </p:nvSpPr>
        <p:spPr>
          <a:xfrm>
            <a:off x="6072632" y="971399"/>
            <a:ext cx="9" cy="1098957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Text 18"/>
          <p:cNvSpPr txBox="1"/>
          <p:nvPr/>
        </p:nvSpPr>
        <p:spPr>
          <a:xfrm>
            <a:off x="6244082" y="1098352"/>
            <a:ext cx="2413851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47" name="Text 19"/>
          <p:cNvSpPr txBox="1"/>
          <p:nvPr/>
        </p:nvSpPr>
        <p:spPr>
          <a:xfrm>
            <a:off x="6244082" y="1387671"/>
            <a:ext cx="2413851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反幻觉测试</a:t>
            </a:r>
          </a:p>
        </p:txBody>
      </p:sp>
      <p:sp>
        <p:nvSpPr>
          <p:cNvPr id="948" name="Text 20"/>
          <p:cNvSpPr txBox="1"/>
          <p:nvPr/>
        </p:nvSpPr>
        <p:spPr>
          <a:xfrm>
            <a:off x="6244082" y="1603325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询问不存在的功能（全息投影）</a:t>
            </a:r>
          </a:p>
        </p:txBody>
      </p:sp>
      <p:sp>
        <p:nvSpPr>
          <p:cNvPr id="949" name="Text 21"/>
          <p:cNvSpPr txBox="1"/>
          <p:nvPr/>
        </p:nvSpPr>
        <p:spPr>
          <a:xfrm>
            <a:off x="6244082" y="1786084"/>
            <a:ext cx="2413851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坚定否认，零编造</a:t>
            </a:r>
          </a:p>
        </p:txBody>
      </p:sp>
      <p:sp>
        <p:nvSpPr>
          <p:cNvPr id="950" name="Text 22"/>
          <p:cNvSpPr/>
          <p:nvPr/>
        </p:nvSpPr>
        <p:spPr>
          <a:xfrm>
            <a:off x="381000" y="2171849"/>
            <a:ext cx="2709267" cy="1098947"/>
          </a:xfrm>
          <a:prstGeom prst="roundRect">
            <a:avLst>
              <a:gd name="adj" fmla="val 6934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1" name="Shape 23"/>
          <p:cNvSpPr/>
          <p:nvPr/>
        </p:nvSpPr>
        <p:spPr>
          <a:xfrm flipH="1">
            <a:off x="400049" y="2171848"/>
            <a:ext cx="10" cy="1098957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Text 24"/>
          <p:cNvSpPr txBox="1"/>
          <p:nvPr/>
        </p:nvSpPr>
        <p:spPr>
          <a:xfrm>
            <a:off x="571500" y="2298799"/>
            <a:ext cx="2413695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53" name="Text 25"/>
          <p:cNvSpPr txBox="1"/>
          <p:nvPr/>
        </p:nvSpPr>
        <p:spPr>
          <a:xfrm>
            <a:off x="571500" y="2588121"/>
            <a:ext cx="2413695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智能转人工</a:t>
            </a:r>
          </a:p>
        </p:txBody>
      </p:sp>
      <p:sp>
        <p:nvSpPr>
          <p:cNvPr id="954" name="Text 26"/>
          <p:cNvSpPr txBox="1"/>
          <p:nvPr/>
        </p:nvSpPr>
        <p:spPr>
          <a:xfrm>
            <a:off x="571500" y="280377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客户明确要求"我要和人说话"</a:t>
            </a:r>
          </a:p>
        </p:txBody>
      </p:sp>
      <p:sp>
        <p:nvSpPr>
          <p:cNvPr id="955" name="Text 27"/>
          <p:cNvSpPr txBox="1"/>
          <p:nvPr/>
        </p:nvSpPr>
        <p:spPr>
          <a:xfrm>
            <a:off x="571500" y="2986533"/>
            <a:ext cx="2413695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零追问，即时转接</a:t>
            </a:r>
          </a:p>
        </p:txBody>
      </p:sp>
      <p:sp>
        <p:nvSpPr>
          <p:cNvPr id="956" name="Text 28"/>
          <p:cNvSpPr/>
          <p:nvPr/>
        </p:nvSpPr>
        <p:spPr>
          <a:xfrm>
            <a:off x="3217216" y="2171849"/>
            <a:ext cx="2709418" cy="1098947"/>
          </a:xfrm>
          <a:prstGeom prst="roundRect">
            <a:avLst>
              <a:gd name="adj" fmla="val 6934"/>
            </a:avLst>
          </a:prstGeom>
          <a:solidFill>
            <a:srgbClr val="0891B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7" name="Shape 29"/>
          <p:cNvSpPr/>
          <p:nvPr/>
        </p:nvSpPr>
        <p:spPr>
          <a:xfrm flipH="1">
            <a:off x="3236266" y="2171848"/>
            <a:ext cx="9" cy="1098957"/>
          </a:xfrm>
          <a:prstGeom prst="line">
            <a:avLst/>
          </a:prstGeom>
          <a:ln w="38100">
            <a:solidFill>
              <a:srgbClr val="22C55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Text 30"/>
          <p:cNvSpPr txBox="1"/>
          <p:nvPr/>
        </p:nvSpPr>
        <p:spPr>
          <a:xfrm>
            <a:off x="3407717" y="2298799"/>
            <a:ext cx="2413856" cy="246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spcBef>
                <a:spcPts val="2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59" name="Text 31"/>
          <p:cNvSpPr txBox="1"/>
          <p:nvPr/>
        </p:nvSpPr>
        <p:spPr>
          <a:xfrm>
            <a:off x="3407717" y="2588121"/>
            <a:ext cx="2413856" cy="1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容错能力</a:t>
            </a:r>
          </a:p>
        </p:txBody>
      </p:sp>
      <p:sp>
        <p:nvSpPr>
          <p:cNvPr id="960" name="Text 32"/>
          <p:cNvSpPr txBox="1"/>
          <p:nvPr/>
        </p:nvSpPr>
        <p:spPr>
          <a:xfrm>
            <a:off x="3407717" y="2803773"/>
            <a:ext cx="2413856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2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拼写错误 "whtsapp intergration"</a:t>
            </a:r>
          </a:p>
        </p:txBody>
      </p:sp>
      <p:sp>
        <p:nvSpPr>
          <p:cNvPr id="961" name="Text 33"/>
          <p:cNvSpPr txBox="1"/>
          <p:nvPr/>
        </p:nvSpPr>
        <p:spPr>
          <a:xfrm>
            <a:off x="3407717" y="2986533"/>
            <a:ext cx="2413856" cy="136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400"/>
              </a:spcBef>
              <a:defRPr sz="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自动纠错理解</a:t>
            </a:r>
          </a:p>
        </p:txBody>
      </p:sp>
      <p:sp>
        <p:nvSpPr>
          <p:cNvPr id="962" name="Text 36"/>
          <p:cNvSpPr txBox="1"/>
          <p:nvPr/>
        </p:nvSpPr>
        <p:spPr>
          <a:xfrm>
            <a:off x="297179" y="3423046"/>
            <a:ext cx="85496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演示工具：EZAgent /cinnox-demo 或 Web Demo 界面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914400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5" name="Text 1"/>
          <p:cNvSpPr txBox="1"/>
          <p:nvPr/>
        </p:nvSpPr>
        <p:spPr>
          <a:xfrm>
            <a:off x="3531834" y="1678034"/>
            <a:ext cx="2080332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spcBef>
                <a:spcPts val="1600"/>
              </a:spcBef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966" name="Text 2"/>
          <p:cNvSpPr/>
          <p:nvPr/>
        </p:nvSpPr>
        <p:spPr>
          <a:xfrm>
            <a:off x="4064048" y="2347913"/>
            <a:ext cx="1015903" cy="25308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914400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7" name="Text 3"/>
          <p:cNvSpPr txBox="1"/>
          <p:nvPr/>
        </p:nvSpPr>
        <p:spPr>
          <a:xfrm>
            <a:off x="2862224" y="2627114"/>
            <a:ext cx="341955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spcBef>
                <a:spcPts val="3000"/>
              </a:spcBef>
              <a:defRPr sz="1600">
                <a:solidFill>
                  <a:srgbClr val="00A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让 AI 成为您最可靠的第一道客户触点</a:t>
            </a:r>
          </a:p>
        </p:txBody>
      </p:sp>
      <p:sp>
        <p:nvSpPr>
          <p:cNvPr id="968" name="Text 4"/>
          <p:cNvSpPr txBox="1"/>
          <p:nvPr/>
        </p:nvSpPr>
        <p:spPr>
          <a:xfrm>
            <a:off x="3134560" y="3293864"/>
            <a:ext cx="28748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defRPr sz="1200">
                <a:solidFill>
                  <a:srgbClr val="5A7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EZAGENT  |  CINNOX / M800</a:t>
            </a:r>
          </a:p>
        </p:txBody>
      </p:sp>
      <p:sp>
        <p:nvSpPr>
          <p:cNvPr id="969" name="Text 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0A8C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914400"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